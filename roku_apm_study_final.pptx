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Ad Revenue ($B)</c:v>
                </c:pt>
              </c:strCache>
            </c:strRef>
          </c:tx>
          <c:spPr>
            <a:solidFill>
              <a:srgbClr val="6F1AB1"/>
            </a:solidFill>
            <a:effectLst/>
          </c:spPr>
          <c:invertIfNegative val="0"/>
          <c:dLbls>
            <c:numFmt formatCode="&quot;$&quot;0.00&quot;B&quot;" sourceLinked="0"/>
            <c:spPr>
              <a:noFill/>
              <a:ln>
                <a:noFill/>
              </a:ln>
              <a:effectLst/>
            </c:spPr>
            <c:txPr>
              <a:bodyPr/>
              <a:lstStyle/>
              <a:p>
                <a:pPr>
                  <a:defRPr sz="1100" b="1" i="0" u="none" strike="noStrike">
                    <a:solidFill>
                      <a:srgbClr val="3D006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 2023
$1.78B</c:v>
                </c:pt>
                <c:pt idx="1">
                  <c:v>FY 2024
$2.07B</c:v>
                </c:pt>
                <c:pt idx="2">
                  <c:v>FY 2025
$2.33B</c:v>
                </c:pt>
              </c:strCache>
            </c:strRef>
          </c:cat>
          <c:val>
            <c:numRef>
              <c:f>Sheet1!$B$2:$B$4</c:f>
              <c:numCache>
                <c:formatCode>General</c:formatCode>
                <c:ptCount val="3"/>
                <c:pt idx="0">
                  <c:v>1.78</c:v>
                </c:pt>
                <c:pt idx="1">
                  <c:v>2.0699999999999998</c:v>
                </c:pt>
                <c:pt idx="2">
                  <c:v>2.33</c:v>
                </c:pt>
              </c:numCache>
            </c:numRef>
          </c:val>
          <c:extLst>
            <c:ext xmlns:c16="http://schemas.microsoft.com/office/drawing/2014/chart" uri="{C3380CC4-5D6E-409C-BE32-E72D297353CC}">
              <c16:uniqueId val="{00000000-73D0-4BA2-A51B-2EF518118D3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555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8F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55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51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006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457200" y="201168"/>
            <a:ext cx="2286000" cy="438912"/>
          </a:xfrm>
          <a:prstGeom prst="rect">
            <a:avLst/>
          </a:prstGeom>
          <a:noFill/>
          <a:ln/>
        </p:spPr>
        <p:txBody>
          <a:bodyPr wrap="square" lIns="0" tIns="0" rIns="0" bIns="0" rtlCol="0" anchor="ctr"/>
          <a:lstStyle/>
          <a:p>
            <a:pPr marL="0" indent="0">
              <a:buNone/>
            </a:pPr>
            <a:r>
              <a:rPr lang="en-US" sz="3000" b="1" kern="0" spc="800" dirty="0">
                <a:solidFill>
                  <a:srgbClr val="FFFFFF"/>
                </a:solidFill>
                <a:latin typeface="Trebuchet MS" pitchFamily="34" charset="0"/>
                <a:ea typeface="Trebuchet MS" pitchFamily="34" charset="-122"/>
                <a:cs typeface="Trebuchet MS" pitchFamily="34" charset="-120"/>
              </a:rPr>
              <a:t>ROKU</a:t>
            </a:r>
            <a:endParaRPr lang="en-US" sz="3000" dirty="0"/>
          </a:p>
        </p:txBody>
      </p:sp>
      <p:sp>
        <p:nvSpPr>
          <p:cNvPr id="4" name="Shape 2"/>
          <p:cNvSpPr/>
          <p:nvPr/>
        </p:nvSpPr>
        <p:spPr>
          <a:xfrm>
            <a:off x="457200" y="621792"/>
            <a:ext cx="502920" cy="45720"/>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457200" y="1234440"/>
            <a:ext cx="8229600" cy="713232"/>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Ad Experiences</a:t>
            </a:r>
            <a:endParaRPr lang="en-US" sz="4600" dirty="0"/>
          </a:p>
        </p:txBody>
      </p:sp>
      <p:sp>
        <p:nvSpPr>
          <p:cNvPr id="6" name="Text 4"/>
          <p:cNvSpPr/>
          <p:nvPr/>
        </p:nvSpPr>
        <p:spPr>
          <a:xfrm>
            <a:off x="457200" y="1938528"/>
            <a:ext cx="8229600" cy="384048"/>
          </a:xfrm>
          <a:prstGeom prst="rect">
            <a:avLst/>
          </a:prstGeom>
          <a:noFill/>
          <a:ln/>
        </p:spPr>
        <p:txBody>
          <a:bodyPr wrap="square" lIns="0" tIns="0" rIns="0" bIns="0" rtlCol="0" anchor="ctr"/>
          <a:lstStyle/>
          <a:p>
            <a:pPr marL="0" indent="0">
              <a:buNone/>
            </a:pPr>
            <a:r>
              <a:rPr lang="en-US" sz="2200" dirty="0">
                <a:solidFill>
                  <a:srgbClr val="C896F0"/>
                </a:solidFill>
                <a:latin typeface="Trebuchet MS" pitchFamily="34" charset="0"/>
                <a:ea typeface="Trebuchet MS" pitchFamily="34" charset="-122"/>
                <a:cs typeface="Trebuchet MS" pitchFamily="34" charset="-120"/>
              </a:rPr>
              <a:t>Gap Analysis &amp; Opportunity Study</a:t>
            </a:r>
            <a:endParaRPr lang="en-US" sz="2200" dirty="0"/>
          </a:p>
        </p:txBody>
      </p:sp>
      <p:sp>
        <p:nvSpPr>
          <p:cNvPr id="7" name="Shape 5"/>
          <p:cNvSpPr/>
          <p:nvPr/>
        </p:nvSpPr>
        <p:spPr>
          <a:xfrm>
            <a:off x="457200" y="2450592"/>
            <a:ext cx="3657600" cy="36576"/>
          </a:xfrm>
          <a:prstGeom prst="rect">
            <a:avLst/>
          </a:prstGeom>
          <a:solidFill>
            <a:srgbClr val="6F1AB1"/>
          </a:solidFill>
          <a:ln w="12700">
            <a:solidFill>
              <a:srgbClr val="6F1AB1"/>
            </a:solidFill>
            <a:prstDash val="solid"/>
          </a:ln>
        </p:spPr>
        <p:txBody>
          <a:bodyPr/>
          <a:lstStyle/>
          <a:p>
            <a:endParaRPr lang="en-US"/>
          </a:p>
        </p:txBody>
      </p:sp>
      <p:sp>
        <p:nvSpPr>
          <p:cNvPr id="8" name="Text 6"/>
          <p:cNvSpPr/>
          <p:nvPr/>
        </p:nvSpPr>
        <p:spPr>
          <a:xfrm>
            <a:off x="457200" y="2578608"/>
            <a:ext cx="8229600" cy="237744"/>
          </a:xfrm>
          <a:prstGeom prst="rect">
            <a:avLst/>
          </a:prstGeom>
          <a:noFill/>
          <a:ln/>
        </p:spPr>
        <p:txBody>
          <a:bodyPr wrap="square" lIns="0" tIns="0" rIns="0" bIns="0" rtlCol="0" anchor="ctr"/>
          <a:lstStyle/>
          <a:p>
            <a:r>
              <a:rPr lang="en-US" sz="1050" dirty="0">
                <a:solidFill>
                  <a:srgbClr val="BBAACC"/>
                </a:solidFill>
                <a:latin typeface="Calibri" pitchFamily="34" charset="0"/>
                <a:ea typeface="Calibri" pitchFamily="34" charset="-122"/>
                <a:cs typeface="Calibri" pitchFamily="34" charset="-120"/>
              </a:rPr>
              <a:t>Manasa Ramaka    · Candidate Study  ·  MS Business Analytics &amp; Project Management, UConn  ·  April 2026</a:t>
            </a:r>
            <a:endParaRPr lang="en-US" sz="1050" dirty="0"/>
          </a:p>
        </p:txBody>
      </p:sp>
      <p:sp>
        <p:nvSpPr>
          <p:cNvPr id="9" name="Shape 7"/>
          <p:cNvSpPr/>
          <p:nvPr/>
        </p:nvSpPr>
        <p:spPr>
          <a:xfrm>
            <a:off x="0" y="4133088"/>
            <a:ext cx="9144000" cy="1005840"/>
          </a:xfrm>
          <a:prstGeom prst="rect">
            <a:avLst/>
          </a:prstGeom>
          <a:solidFill>
            <a:srgbClr val="2A0050"/>
          </a:solidFill>
          <a:ln w="12700">
            <a:solidFill>
              <a:srgbClr val="2A0050"/>
            </a:solidFill>
            <a:prstDash val="solid"/>
          </a:ln>
        </p:spPr>
        <p:txBody>
          <a:bodyPr/>
          <a:lstStyle/>
          <a:p>
            <a:endParaRPr lang="en-US"/>
          </a:p>
        </p:txBody>
      </p:sp>
      <p:sp>
        <p:nvSpPr>
          <p:cNvPr id="10" name="Text 8"/>
          <p:cNvSpPr/>
          <p:nvPr/>
        </p:nvSpPr>
        <p:spPr>
          <a:xfrm>
            <a:off x="457200" y="4261104"/>
            <a:ext cx="1920240" cy="402336"/>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100M+</a:t>
            </a:r>
            <a:endParaRPr lang="en-US" sz="2400" dirty="0"/>
          </a:p>
        </p:txBody>
      </p:sp>
      <p:sp>
        <p:nvSpPr>
          <p:cNvPr id="11" name="Text 9"/>
          <p:cNvSpPr/>
          <p:nvPr/>
        </p:nvSpPr>
        <p:spPr>
          <a:xfrm>
            <a:off x="457200" y="4645152"/>
            <a:ext cx="1920240" cy="237744"/>
          </a:xfrm>
          <a:prstGeom prst="rect">
            <a:avLst/>
          </a:prstGeom>
          <a:noFill/>
          <a:ln/>
        </p:spPr>
        <p:txBody>
          <a:bodyPr wrap="square" lIns="0" tIns="0" rIns="0" bIns="0" rtlCol="0" anchor="ctr"/>
          <a:lstStyle/>
          <a:p>
            <a:pPr marL="0" indent="0" algn="ctr">
              <a:buNone/>
            </a:pPr>
            <a:r>
              <a:rPr lang="en-US" sz="850" dirty="0">
                <a:solidFill>
                  <a:srgbClr val="C896F0"/>
                </a:solidFill>
                <a:latin typeface="Calibri" pitchFamily="34" charset="0"/>
                <a:ea typeface="Calibri" pitchFamily="34" charset="-122"/>
                <a:cs typeface="Calibri" pitchFamily="34" charset="-120"/>
              </a:rPr>
              <a:t>Active Streaming Households</a:t>
            </a:r>
            <a:endParaRPr lang="en-US" sz="850" dirty="0"/>
          </a:p>
        </p:txBody>
      </p:sp>
      <p:sp>
        <p:nvSpPr>
          <p:cNvPr id="12" name="Text 10"/>
          <p:cNvSpPr/>
          <p:nvPr/>
        </p:nvSpPr>
        <p:spPr>
          <a:xfrm>
            <a:off x="2606040" y="4261104"/>
            <a:ext cx="1920240" cy="402336"/>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145B</a:t>
            </a:r>
            <a:endParaRPr lang="en-US" sz="2400" dirty="0"/>
          </a:p>
        </p:txBody>
      </p:sp>
      <p:sp>
        <p:nvSpPr>
          <p:cNvPr id="13" name="Text 11"/>
          <p:cNvSpPr/>
          <p:nvPr/>
        </p:nvSpPr>
        <p:spPr>
          <a:xfrm>
            <a:off x="2606040" y="4645152"/>
            <a:ext cx="1920240" cy="237744"/>
          </a:xfrm>
          <a:prstGeom prst="rect">
            <a:avLst/>
          </a:prstGeom>
          <a:noFill/>
          <a:ln/>
        </p:spPr>
        <p:txBody>
          <a:bodyPr wrap="square" lIns="0" tIns="0" rIns="0" bIns="0" rtlCol="0" anchor="ctr"/>
          <a:lstStyle/>
          <a:p>
            <a:pPr marL="0" indent="0" algn="ctr">
              <a:buNone/>
            </a:pPr>
            <a:r>
              <a:rPr lang="en-US" sz="850" dirty="0">
                <a:solidFill>
                  <a:srgbClr val="C896F0"/>
                </a:solidFill>
                <a:latin typeface="Calibri" pitchFamily="34" charset="0"/>
                <a:ea typeface="Calibri" pitchFamily="34" charset="-122"/>
                <a:cs typeface="Calibri" pitchFamily="34" charset="-120"/>
              </a:rPr>
              <a:t>Streaming Hours (FY 2025)</a:t>
            </a:r>
            <a:endParaRPr lang="en-US" sz="850" dirty="0"/>
          </a:p>
        </p:txBody>
      </p:sp>
      <p:sp>
        <p:nvSpPr>
          <p:cNvPr id="14" name="Text 12"/>
          <p:cNvSpPr/>
          <p:nvPr/>
        </p:nvSpPr>
        <p:spPr>
          <a:xfrm>
            <a:off x="4754880" y="4261104"/>
            <a:ext cx="1920240" cy="402336"/>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#1</a:t>
            </a:r>
            <a:endParaRPr lang="en-US" sz="2400" dirty="0"/>
          </a:p>
        </p:txBody>
      </p:sp>
      <p:sp>
        <p:nvSpPr>
          <p:cNvPr id="15" name="Text 13"/>
          <p:cNvSpPr/>
          <p:nvPr/>
        </p:nvSpPr>
        <p:spPr>
          <a:xfrm>
            <a:off x="4754880" y="4645152"/>
            <a:ext cx="1920240" cy="237744"/>
          </a:xfrm>
          <a:prstGeom prst="rect">
            <a:avLst/>
          </a:prstGeom>
          <a:noFill/>
          <a:ln/>
        </p:spPr>
        <p:txBody>
          <a:bodyPr wrap="square" lIns="0" tIns="0" rIns="0" bIns="0" rtlCol="0" anchor="ctr"/>
          <a:lstStyle/>
          <a:p>
            <a:pPr marL="0" indent="0" algn="ctr">
              <a:buNone/>
            </a:pPr>
            <a:r>
              <a:rPr lang="en-US" sz="850" dirty="0">
                <a:solidFill>
                  <a:srgbClr val="C896F0"/>
                </a:solidFill>
                <a:latin typeface="Calibri" pitchFamily="34" charset="0"/>
                <a:ea typeface="Calibri" pitchFamily="34" charset="-122"/>
                <a:cs typeface="Calibri" pitchFamily="34" charset="-120"/>
              </a:rPr>
              <a:t>TV OS: US, Canada &amp; Mexico</a:t>
            </a:r>
            <a:endParaRPr lang="en-US" sz="850" dirty="0"/>
          </a:p>
        </p:txBody>
      </p:sp>
      <p:sp>
        <p:nvSpPr>
          <p:cNvPr id="16" name="Text 14"/>
          <p:cNvSpPr/>
          <p:nvPr/>
        </p:nvSpPr>
        <p:spPr>
          <a:xfrm>
            <a:off x="6903720" y="4261104"/>
            <a:ext cx="1920240" cy="402336"/>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$4.7B</a:t>
            </a:r>
            <a:endParaRPr lang="en-US" sz="2400" dirty="0"/>
          </a:p>
        </p:txBody>
      </p:sp>
      <p:sp>
        <p:nvSpPr>
          <p:cNvPr id="17" name="Text 15"/>
          <p:cNvSpPr/>
          <p:nvPr/>
        </p:nvSpPr>
        <p:spPr>
          <a:xfrm>
            <a:off x="6903720" y="4645152"/>
            <a:ext cx="1920240" cy="237744"/>
          </a:xfrm>
          <a:prstGeom prst="rect">
            <a:avLst/>
          </a:prstGeom>
          <a:noFill/>
          <a:ln/>
        </p:spPr>
        <p:txBody>
          <a:bodyPr wrap="square" lIns="0" tIns="0" rIns="0" bIns="0" rtlCol="0" anchor="ctr"/>
          <a:lstStyle/>
          <a:p>
            <a:pPr marL="0" indent="0" algn="ctr">
              <a:buNone/>
            </a:pPr>
            <a:r>
              <a:rPr lang="en-US" sz="850" dirty="0">
                <a:solidFill>
                  <a:srgbClr val="C896F0"/>
                </a:solidFill>
                <a:latin typeface="Calibri" pitchFamily="34" charset="0"/>
                <a:ea typeface="Calibri" pitchFamily="34" charset="-122"/>
                <a:cs typeface="Calibri" pitchFamily="34" charset="-120"/>
              </a:rPr>
              <a:t>Total Revenue (FY 2025)</a:t>
            </a:r>
            <a:endParaRPr lang="en-US" sz="850" dirty="0"/>
          </a:p>
        </p:txBody>
      </p:sp>
      <p:sp>
        <p:nvSpPr>
          <p:cNvPr id="18" name="Text 16"/>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9966CC"/>
                </a:solidFill>
                <a:latin typeface="Calibri" pitchFamily="34" charset="0"/>
                <a:ea typeface="Calibri" pitchFamily="34" charset="-122"/>
                <a:cs typeface="Calibri" pitchFamily="34" charset="-120"/>
              </a:rPr>
              <a:t>1 / 16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D006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02336"/>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 Moment</a:t>
            </a:r>
            <a:endParaRPr lang="en-US" sz="2600" dirty="0"/>
          </a:p>
        </p:txBody>
      </p:sp>
      <p:sp>
        <p:nvSpPr>
          <p:cNvPr id="3" name="Text 1"/>
          <p:cNvSpPr/>
          <p:nvPr/>
        </p:nvSpPr>
        <p:spPr>
          <a:xfrm>
            <a:off x="457200" y="658368"/>
            <a:ext cx="8046720" cy="237744"/>
          </a:xfrm>
          <a:prstGeom prst="rect">
            <a:avLst/>
          </a:prstGeom>
          <a:noFill/>
          <a:ln/>
        </p:spPr>
        <p:txBody>
          <a:bodyPr wrap="square" lIns="0" tIns="0" rIns="0" bIns="0" rtlCol="0" anchor="ctr"/>
          <a:lstStyle/>
          <a:p>
            <a:pPr marL="0" indent="0">
              <a:buNone/>
            </a:pPr>
            <a:r>
              <a:rPr lang="en-US" sz="1100" i="1" dirty="0">
                <a:solidFill>
                  <a:srgbClr val="C896F0"/>
                </a:solidFill>
                <a:latin typeface="Calibri" pitchFamily="34" charset="0"/>
                <a:ea typeface="Calibri" pitchFamily="34" charset="-122"/>
                <a:cs typeface="Calibri" pitchFamily="34" charset="-120"/>
              </a:rPr>
              <a:t>Roku just crossed a threshold that changes everything about the ad business.</a:t>
            </a:r>
            <a:endParaRPr lang="en-US" sz="1100" dirty="0"/>
          </a:p>
        </p:txBody>
      </p:sp>
      <p:sp>
        <p:nvSpPr>
          <p:cNvPr id="4" name="Shape 2"/>
          <p:cNvSpPr/>
          <p:nvPr/>
        </p:nvSpPr>
        <p:spPr>
          <a:xfrm>
            <a:off x="411480" y="1042416"/>
            <a:ext cx="2697480" cy="3547872"/>
          </a:xfrm>
          <a:prstGeom prst="rect">
            <a:avLst/>
          </a:prstGeom>
          <a:solidFill>
            <a:srgbClr val="2A0050"/>
          </a:solidFill>
          <a:ln w="12700">
            <a:solidFill>
              <a:srgbClr val="5A2090"/>
            </a:solidFill>
            <a:prstDash val="solid"/>
          </a:ln>
        </p:spPr>
        <p:txBody>
          <a:bodyPr/>
          <a:lstStyle/>
          <a:p>
            <a:endParaRPr lang="en-US"/>
          </a:p>
        </p:txBody>
      </p:sp>
      <p:sp>
        <p:nvSpPr>
          <p:cNvPr id="5" name="Shape 3"/>
          <p:cNvSpPr/>
          <p:nvPr/>
        </p:nvSpPr>
        <p:spPr>
          <a:xfrm>
            <a:off x="411480" y="1042416"/>
            <a:ext cx="2697480" cy="64008"/>
          </a:xfrm>
          <a:prstGeom prst="rect">
            <a:avLst/>
          </a:prstGeom>
          <a:solidFill>
            <a:srgbClr val="6F1AB1"/>
          </a:solidFill>
          <a:ln w="12700">
            <a:solidFill>
              <a:srgbClr val="6F1AB1"/>
            </a:solidFill>
            <a:prstDash val="solid"/>
          </a:ln>
        </p:spPr>
        <p:txBody>
          <a:bodyPr/>
          <a:lstStyle/>
          <a:p>
            <a:endParaRPr lang="en-US"/>
          </a:p>
        </p:txBody>
      </p:sp>
      <p:sp>
        <p:nvSpPr>
          <p:cNvPr id="6" name="Text 4"/>
          <p:cNvSpPr/>
          <p:nvPr/>
        </p:nvSpPr>
        <p:spPr>
          <a:xfrm>
            <a:off x="411480" y="1152144"/>
            <a:ext cx="2697480" cy="329184"/>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521208" y="1499616"/>
            <a:ext cx="247802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100M Households</a:t>
            </a:r>
            <a:endParaRPr lang="en-US" sz="1300" dirty="0"/>
          </a:p>
        </p:txBody>
      </p:sp>
      <p:sp>
        <p:nvSpPr>
          <p:cNvPr id="8" name="Text 6"/>
          <p:cNvSpPr/>
          <p:nvPr/>
        </p:nvSpPr>
        <p:spPr>
          <a:xfrm>
            <a:off x="521208" y="1792224"/>
            <a:ext cx="2478024" cy="201168"/>
          </a:xfrm>
          <a:prstGeom prst="rect">
            <a:avLst/>
          </a:prstGeom>
          <a:noFill/>
          <a:ln/>
        </p:spPr>
        <p:txBody>
          <a:bodyPr wrap="square" lIns="0" tIns="0" rIns="0" bIns="0" rtlCol="0" anchor="ctr"/>
          <a:lstStyle/>
          <a:p>
            <a:pPr marL="0" indent="0" algn="ctr">
              <a:buNone/>
            </a:pPr>
            <a:r>
              <a:rPr lang="en-US" sz="850" i="1" dirty="0">
                <a:solidFill>
                  <a:srgbClr val="C896F0"/>
                </a:solidFill>
                <a:latin typeface="Calibri" pitchFamily="34" charset="0"/>
                <a:ea typeface="Calibri" pitchFamily="34" charset="-122"/>
                <a:cs typeface="Calibri" pitchFamily="34" charset="-120"/>
              </a:rPr>
              <a:t>April 16, 2026</a:t>
            </a:r>
            <a:endParaRPr lang="en-US" sz="850" dirty="0"/>
          </a:p>
        </p:txBody>
      </p:sp>
      <p:sp>
        <p:nvSpPr>
          <p:cNvPr id="9" name="Shape 7"/>
          <p:cNvSpPr/>
          <p:nvPr/>
        </p:nvSpPr>
        <p:spPr>
          <a:xfrm>
            <a:off x="731520" y="2029968"/>
            <a:ext cx="2057400" cy="27432"/>
          </a:xfrm>
          <a:prstGeom prst="rect">
            <a:avLst/>
          </a:prstGeom>
          <a:solidFill>
            <a:srgbClr val="5A2090"/>
          </a:solidFill>
          <a:ln w="12700">
            <a:solidFill>
              <a:srgbClr val="5A2090"/>
            </a:solidFill>
            <a:prstDash val="solid"/>
          </a:ln>
        </p:spPr>
        <p:txBody>
          <a:bodyPr/>
          <a:lstStyle/>
          <a:p>
            <a:endParaRPr lang="en-US"/>
          </a:p>
        </p:txBody>
      </p:sp>
      <p:sp>
        <p:nvSpPr>
          <p:cNvPr id="10" name="Text 8"/>
          <p:cNvSpPr/>
          <p:nvPr/>
        </p:nvSpPr>
        <p:spPr>
          <a:xfrm>
            <a:off x="539496" y="2121408"/>
            <a:ext cx="2441448" cy="234086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Roku crossed 100M active streaming households — used in more than half of all US broadband homes. A scale advantage no CTV competitor can match today.</a:t>
            </a:r>
            <a:endParaRPr lang="en-US" sz="950" dirty="0"/>
          </a:p>
        </p:txBody>
      </p:sp>
      <p:sp>
        <p:nvSpPr>
          <p:cNvPr id="11" name="Shape 9"/>
          <p:cNvSpPr/>
          <p:nvPr/>
        </p:nvSpPr>
        <p:spPr>
          <a:xfrm>
            <a:off x="3264408" y="1042416"/>
            <a:ext cx="2697480" cy="3547872"/>
          </a:xfrm>
          <a:prstGeom prst="rect">
            <a:avLst/>
          </a:prstGeom>
          <a:solidFill>
            <a:srgbClr val="2A0050"/>
          </a:solidFill>
          <a:ln w="12700">
            <a:solidFill>
              <a:srgbClr val="5A2090"/>
            </a:solidFill>
            <a:prstDash val="solid"/>
          </a:ln>
        </p:spPr>
        <p:txBody>
          <a:bodyPr/>
          <a:lstStyle/>
          <a:p>
            <a:endParaRPr lang="en-US"/>
          </a:p>
        </p:txBody>
      </p:sp>
      <p:sp>
        <p:nvSpPr>
          <p:cNvPr id="12" name="Shape 10"/>
          <p:cNvSpPr/>
          <p:nvPr/>
        </p:nvSpPr>
        <p:spPr>
          <a:xfrm>
            <a:off x="3264408" y="1042416"/>
            <a:ext cx="2697480" cy="64008"/>
          </a:xfrm>
          <a:prstGeom prst="rect">
            <a:avLst/>
          </a:prstGeom>
          <a:solidFill>
            <a:srgbClr val="6F1AB1"/>
          </a:solidFill>
          <a:ln w="12700">
            <a:solidFill>
              <a:srgbClr val="6F1AB1"/>
            </a:solidFill>
            <a:prstDash val="solid"/>
          </a:ln>
        </p:spPr>
        <p:txBody>
          <a:bodyPr/>
          <a:lstStyle/>
          <a:p>
            <a:endParaRPr lang="en-US"/>
          </a:p>
        </p:txBody>
      </p:sp>
      <p:sp>
        <p:nvSpPr>
          <p:cNvPr id="13" name="Text 11"/>
          <p:cNvSpPr/>
          <p:nvPr/>
        </p:nvSpPr>
        <p:spPr>
          <a:xfrm>
            <a:off x="3264408" y="1152144"/>
            <a:ext cx="2697480" cy="329184"/>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3374136" y="1499616"/>
            <a:ext cx="247802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Advertising as Its Own P&amp;L</a:t>
            </a:r>
            <a:endParaRPr lang="en-US" sz="1300" dirty="0"/>
          </a:p>
        </p:txBody>
      </p:sp>
      <p:sp>
        <p:nvSpPr>
          <p:cNvPr id="15" name="Text 13"/>
          <p:cNvSpPr/>
          <p:nvPr/>
        </p:nvSpPr>
        <p:spPr>
          <a:xfrm>
            <a:off x="3374136" y="1792224"/>
            <a:ext cx="2478024" cy="201168"/>
          </a:xfrm>
          <a:prstGeom prst="rect">
            <a:avLst/>
          </a:prstGeom>
          <a:noFill/>
          <a:ln/>
        </p:spPr>
        <p:txBody>
          <a:bodyPr wrap="square" lIns="0" tIns="0" rIns="0" bIns="0" rtlCol="0" anchor="ctr"/>
          <a:lstStyle/>
          <a:p>
            <a:pPr marL="0" indent="0" algn="ctr">
              <a:buNone/>
            </a:pPr>
            <a:r>
              <a:rPr lang="en-US" sz="850" i="1" dirty="0">
                <a:solidFill>
                  <a:srgbClr val="C896F0"/>
                </a:solidFill>
                <a:latin typeface="Calibri" pitchFamily="34" charset="0"/>
                <a:ea typeface="Calibri" pitchFamily="34" charset="-122"/>
                <a:cs typeface="Calibri" pitchFamily="34" charset="-120"/>
              </a:rPr>
              <a:t>Reporting April 30, 2026</a:t>
            </a:r>
            <a:endParaRPr lang="en-US" sz="850" dirty="0"/>
          </a:p>
        </p:txBody>
      </p:sp>
      <p:sp>
        <p:nvSpPr>
          <p:cNvPr id="16" name="Shape 14"/>
          <p:cNvSpPr/>
          <p:nvPr/>
        </p:nvSpPr>
        <p:spPr>
          <a:xfrm>
            <a:off x="3584448" y="2029968"/>
            <a:ext cx="2057400" cy="27432"/>
          </a:xfrm>
          <a:prstGeom prst="rect">
            <a:avLst/>
          </a:prstGeom>
          <a:solidFill>
            <a:srgbClr val="5A2090"/>
          </a:solidFill>
          <a:ln w="12700">
            <a:solidFill>
              <a:srgbClr val="5A2090"/>
            </a:solidFill>
            <a:prstDash val="solid"/>
          </a:ln>
        </p:spPr>
        <p:txBody>
          <a:bodyPr/>
          <a:lstStyle/>
          <a:p>
            <a:endParaRPr lang="en-US"/>
          </a:p>
        </p:txBody>
      </p:sp>
      <p:sp>
        <p:nvSpPr>
          <p:cNvPr id="17" name="Text 15"/>
          <p:cNvSpPr/>
          <p:nvPr/>
        </p:nvSpPr>
        <p:spPr>
          <a:xfrm>
            <a:off x="3392424" y="2121408"/>
            <a:ext cx="2441448" cy="234086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Roku splits Platform into Advertising ($2.33B) and Subscriptions ($1.82B) segments. Every ad experience decision now has a direct line to quarterly results.</a:t>
            </a:r>
            <a:endParaRPr lang="en-US" sz="950" dirty="0"/>
          </a:p>
        </p:txBody>
      </p:sp>
      <p:sp>
        <p:nvSpPr>
          <p:cNvPr id="18" name="Shape 16"/>
          <p:cNvSpPr/>
          <p:nvPr/>
        </p:nvSpPr>
        <p:spPr>
          <a:xfrm>
            <a:off x="6117336" y="1042416"/>
            <a:ext cx="2697480" cy="3547872"/>
          </a:xfrm>
          <a:prstGeom prst="rect">
            <a:avLst/>
          </a:prstGeom>
          <a:solidFill>
            <a:srgbClr val="2A0050"/>
          </a:solidFill>
          <a:ln w="12700">
            <a:solidFill>
              <a:srgbClr val="5A2090"/>
            </a:solidFill>
            <a:prstDash val="solid"/>
          </a:ln>
        </p:spPr>
        <p:txBody>
          <a:bodyPr/>
          <a:lstStyle/>
          <a:p>
            <a:endParaRPr lang="en-US"/>
          </a:p>
        </p:txBody>
      </p:sp>
      <p:sp>
        <p:nvSpPr>
          <p:cNvPr id="19" name="Shape 17"/>
          <p:cNvSpPr/>
          <p:nvPr/>
        </p:nvSpPr>
        <p:spPr>
          <a:xfrm>
            <a:off x="6117336" y="1042416"/>
            <a:ext cx="2697480" cy="64008"/>
          </a:xfrm>
          <a:prstGeom prst="rect">
            <a:avLst/>
          </a:prstGeom>
          <a:solidFill>
            <a:srgbClr val="6F1AB1"/>
          </a:solidFill>
          <a:ln w="12700">
            <a:solidFill>
              <a:srgbClr val="6F1AB1"/>
            </a:solidFill>
            <a:prstDash val="solid"/>
          </a:ln>
        </p:spPr>
        <p:txBody>
          <a:bodyPr/>
          <a:lstStyle/>
          <a:p>
            <a:endParaRPr lang="en-US"/>
          </a:p>
        </p:txBody>
      </p:sp>
      <p:sp>
        <p:nvSpPr>
          <p:cNvPr id="20" name="Text 18"/>
          <p:cNvSpPr/>
          <p:nvPr/>
        </p:nvSpPr>
        <p:spPr>
          <a:xfrm>
            <a:off x="6117336" y="1152144"/>
            <a:ext cx="2697480" cy="329184"/>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6227064" y="1499616"/>
            <a:ext cx="2478024"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Competitors Moving Fast</a:t>
            </a:r>
            <a:endParaRPr lang="en-US" sz="1300" dirty="0"/>
          </a:p>
        </p:txBody>
      </p:sp>
      <p:sp>
        <p:nvSpPr>
          <p:cNvPr id="22" name="Text 20"/>
          <p:cNvSpPr/>
          <p:nvPr/>
        </p:nvSpPr>
        <p:spPr>
          <a:xfrm>
            <a:off x="6227064" y="1792224"/>
            <a:ext cx="2478024" cy="201168"/>
          </a:xfrm>
          <a:prstGeom prst="rect">
            <a:avLst/>
          </a:prstGeom>
          <a:noFill/>
          <a:ln/>
        </p:spPr>
        <p:txBody>
          <a:bodyPr wrap="square" lIns="0" tIns="0" rIns="0" bIns="0" rtlCol="0" anchor="ctr"/>
          <a:lstStyle/>
          <a:p>
            <a:pPr marL="0" indent="0" algn="ctr">
              <a:buNone/>
            </a:pPr>
            <a:r>
              <a:rPr lang="en-US" sz="850" i="1" dirty="0">
                <a:solidFill>
                  <a:srgbClr val="C896F0"/>
                </a:solidFill>
                <a:latin typeface="Calibri" pitchFamily="34" charset="0"/>
                <a:ea typeface="Calibri" pitchFamily="34" charset="-122"/>
                <a:cs typeface="Calibri" pitchFamily="34" charset="-120"/>
              </a:rPr>
              <a:t>NewFronts, April 2026</a:t>
            </a:r>
            <a:endParaRPr lang="en-US" sz="850" dirty="0"/>
          </a:p>
        </p:txBody>
      </p:sp>
      <p:sp>
        <p:nvSpPr>
          <p:cNvPr id="23" name="Shape 21"/>
          <p:cNvSpPr/>
          <p:nvPr/>
        </p:nvSpPr>
        <p:spPr>
          <a:xfrm>
            <a:off x="6437376" y="2029968"/>
            <a:ext cx="2057400" cy="27432"/>
          </a:xfrm>
          <a:prstGeom prst="rect">
            <a:avLst/>
          </a:prstGeom>
          <a:solidFill>
            <a:srgbClr val="5A2090"/>
          </a:solidFill>
          <a:ln w="12700">
            <a:solidFill>
              <a:srgbClr val="5A2090"/>
            </a:solidFill>
            <a:prstDash val="solid"/>
          </a:ln>
        </p:spPr>
        <p:txBody>
          <a:bodyPr/>
          <a:lstStyle/>
          <a:p>
            <a:endParaRPr lang="en-US"/>
          </a:p>
        </p:txBody>
      </p:sp>
      <p:sp>
        <p:nvSpPr>
          <p:cNvPr id="24" name="Text 22"/>
          <p:cNvSpPr/>
          <p:nvPr/>
        </p:nvSpPr>
        <p:spPr>
          <a:xfrm>
            <a:off x="6245352" y="2121408"/>
            <a:ext cx="2441448" cy="2340864"/>
          </a:xfrm>
          <a:prstGeom prst="rect">
            <a:avLst/>
          </a:prstGeom>
          <a:noFill/>
          <a:ln/>
        </p:spPr>
        <p:txBody>
          <a:bodyPr wrap="square" lIns="0" tIns="0" rIns="0" bIns="0" rtlCol="0" anchor="ctr"/>
          <a:lstStyle/>
          <a:p>
            <a:pPr marL="0" indent="0">
              <a:buNone/>
            </a:pPr>
            <a:r>
              <a:rPr lang="en-US" sz="950" dirty="0">
                <a:solidFill>
                  <a:srgbClr val="CCCCCC"/>
                </a:solidFill>
                <a:latin typeface="Calibri" pitchFamily="34" charset="0"/>
                <a:ea typeface="Calibri" pitchFamily="34" charset="-122"/>
                <a:cs typeface="Calibri" pitchFamily="34" charset="-120"/>
              </a:rPr>
              <a:t>Samsung + Amazon launched shoppable interactive ads at NewFronts 2026. Roku's first-mover moat in interactive formats is no longer exclusive.</a:t>
            </a:r>
            <a:endParaRPr lang="en-US" sz="950" dirty="0"/>
          </a:p>
        </p:txBody>
      </p:sp>
      <p:sp>
        <p:nvSpPr>
          <p:cNvPr id="25" name="Shape 23"/>
          <p:cNvSpPr/>
          <p:nvPr/>
        </p:nvSpPr>
        <p:spPr>
          <a:xfrm>
            <a:off x="0" y="4773168"/>
            <a:ext cx="9144000" cy="27432"/>
          </a:xfrm>
          <a:prstGeom prst="rect">
            <a:avLst/>
          </a:prstGeom>
          <a:solidFill>
            <a:srgbClr val="5A2090"/>
          </a:solidFill>
          <a:ln w="12700">
            <a:solidFill>
              <a:srgbClr val="5A2090"/>
            </a:solidFill>
            <a:prstDash val="solid"/>
          </a:ln>
        </p:spPr>
        <p:txBody>
          <a:bodyPr/>
          <a:lstStyle/>
          <a:p>
            <a:endParaRPr lang="en-US"/>
          </a:p>
        </p:txBody>
      </p:sp>
      <p:sp>
        <p:nvSpPr>
          <p:cNvPr id="26" name="Text 24"/>
          <p:cNvSpPr/>
          <p:nvPr/>
        </p:nvSpPr>
        <p:spPr>
          <a:xfrm>
            <a:off x="411480" y="4809744"/>
            <a:ext cx="7772400" cy="182880"/>
          </a:xfrm>
          <a:prstGeom prst="rect">
            <a:avLst/>
          </a:prstGeom>
          <a:noFill/>
          <a:ln/>
        </p:spPr>
        <p:txBody>
          <a:bodyPr wrap="square" lIns="0" tIns="0" rIns="0" bIns="0" rtlCol="0" anchor="ctr"/>
          <a:lstStyle/>
          <a:p>
            <a:pPr marL="0" indent="0" algn="l">
              <a:buNone/>
            </a:pPr>
            <a:r>
              <a:rPr lang="en-US" sz="700" dirty="0">
                <a:solidFill>
                  <a:srgbClr val="BB99DD"/>
                </a:solidFill>
                <a:latin typeface="Calibri" pitchFamily="34" charset="0"/>
                <a:ea typeface="Calibri" pitchFamily="34" charset="-122"/>
                <a:cs typeface="Calibri" pitchFamily="34" charset="-120"/>
              </a:rPr>
              <a:t>Bloomberg, Apr 16 2026  ·  Roku 8-K, Apr 13 2026  ·  ppc.land, Apr 20 2026  ·  IAB NewFronts 2026</a:t>
            </a:r>
            <a:endParaRPr lang="en-US" sz="700" dirty="0"/>
          </a:p>
        </p:txBody>
      </p:sp>
      <p:sp>
        <p:nvSpPr>
          <p:cNvPr id="27" name="Text 25"/>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9966CC"/>
                </a:solidFill>
                <a:latin typeface="Calibri" pitchFamily="34" charset="0"/>
                <a:ea typeface="Calibri" pitchFamily="34" charset="-122"/>
                <a:cs typeface="Calibri" pitchFamily="34" charset="-120"/>
              </a:rPr>
              <a:t>2 / 16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F1AB1"/>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marL="0" indent="0">
              <a:buNone/>
            </a:pPr>
            <a:r>
              <a:rPr lang="en-US" sz="1050" b="1" kern="0" spc="400" dirty="0">
                <a:solidFill>
                  <a:srgbClr val="E0C8F8"/>
                </a:solidFill>
                <a:latin typeface="Calibri" pitchFamily="34" charset="0"/>
                <a:ea typeface="Calibri" pitchFamily="34" charset="-122"/>
                <a:cs typeface="Calibri" pitchFamily="34" charset="-120"/>
              </a:rPr>
              <a:t>THE THESIS</a:t>
            </a:r>
            <a:endParaRPr lang="en-US" sz="1050" dirty="0"/>
          </a:p>
        </p:txBody>
      </p:sp>
      <p:sp>
        <p:nvSpPr>
          <p:cNvPr id="3" name="Text 1"/>
          <p:cNvSpPr/>
          <p:nvPr/>
        </p:nvSpPr>
        <p:spPr>
          <a:xfrm>
            <a:off x="502920" y="348868"/>
            <a:ext cx="8229600" cy="22860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"Roku has everything it needs to lead</a:t>
            </a:r>
            <a:endParaRPr lang="en-US" sz="2800" dirty="0"/>
          </a:p>
          <a:p>
            <a:pPr marL="0" indent="0">
              <a:buNone/>
            </a:pPr>
            <a:r>
              <a:rPr lang="en-US" sz="2800" b="1" dirty="0">
                <a:solidFill>
                  <a:srgbClr val="FFFFFF"/>
                </a:solidFill>
                <a:latin typeface="Trebuchet MS" pitchFamily="34" charset="0"/>
                <a:ea typeface="Trebuchet MS" pitchFamily="34" charset="-122"/>
                <a:cs typeface="Trebuchet MS" pitchFamily="34" charset="-120"/>
              </a:rPr>
              <a:t>the experience layer of CTV advertising —</a:t>
            </a:r>
            <a:endParaRPr lang="en-US" sz="2800" dirty="0"/>
          </a:p>
          <a:p>
            <a:pPr marL="0" indent="0">
              <a:buNone/>
            </a:pPr>
            <a:r>
              <a:rPr lang="en-US" sz="2800" b="1" dirty="0">
                <a:solidFill>
                  <a:srgbClr val="FFFFFF"/>
                </a:solidFill>
                <a:latin typeface="Trebuchet MS" pitchFamily="34" charset="0"/>
                <a:ea typeface="Trebuchet MS" pitchFamily="34" charset="-122"/>
                <a:cs typeface="Trebuchet MS" pitchFamily="34" charset="-120"/>
              </a:rPr>
              <a:t>the question is whether it moves</a:t>
            </a:r>
            <a:endParaRPr lang="en-US" sz="2800" dirty="0"/>
          </a:p>
          <a:p>
            <a:pPr marL="0" indent="0">
              <a:buNone/>
            </a:pPr>
            <a:r>
              <a:rPr lang="en-US" sz="2800" b="1" dirty="0">
                <a:solidFill>
                  <a:srgbClr val="FFFFFF"/>
                </a:solidFill>
                <a:latin typeface="Trebuchet MS" pitchFamily="34" charset="0"/>
                <a:ea typeface="Trebuchet MS" pitchFamily="34" charset="-122"/>
                <a:cs typeface="Trebuchet MS" pitchFamily="34" charset="-120"/>
              </a:rPr>
              <a:t>before competitors do."</a:t>
            </a:r>
            <a:endParaRPr lang="en-US" sz="2800" dirty="0"/>
          </a:p>
        </p:txBody>
      </p:sp>
      <p:sp>
        <p:nvSpPr>
          <p:cNvPr id="4" name="Shape 2"/>
          <p:cNvSpPr/>
          <p:nvPr/>
        </p:nvSpPr>
        <p:spPr>
          <a:xfrm>
            <a:off x="502920" y="2593011"/>
            <a:ext cx="8138160" cy="713232"/>
          </a:xfrm>
          <a:prstGeom prst="rect">
            <a:avLst/>
          </a:prstGeom>
          <a:solidFill>
            <a:srgbClr val="5A1098"/>
          </a:solidFill>
          <a:ln w="12700">
            <a:solidFill>
              <a:srgbClr val="7A30B8"/>
            </a:solidFill>
            <a:prstDash val="solid"/>
          </a:ln>
        </p:spPr>
        <p:txBody>
          <a:bodyPr/>
          <a:lstStyle/>
          <a:p>
            <a:endParaRPr lang="en-US"/>
          </a:p>
        </p:txBody>
      </p:sp>
      <p:sp>
        <p:nvSpPr>
          <p:cNvPr id="5" name="Shape 3"/>
          <p:cNvSpPr/>
          <p:nvPr/>
        </p:nvSpPr>
        <p:spPr>
          <a:xfrm>
            <a:off x="502920" y="2593011"/>
            <a:ext cx="64008" cy="713232"/>
          </a:xfrm>
          <a:prstGeom prst="rect">
            <a:avLst/>
          </a:prstGeom>
          <a:solidFill>
            <a:srgbClr val="E0C8F8"/>
          </a:solidFill>
          <a:ln w="12700">
            <a:solidFill>
              <a:srgbClr val="E0C8F8"/>
            </a:solidFill>
            <a:prstDash val="solid"/>
          </a:ln>
        </p:spPr>
        <p:txBody>
          <a:bodyPr/>
          <a:lstStyle/>
          <a:p>
            <a:endParaRPr lang="en-US"/>
          </a:p>
        </p:txBody>
      </p:sp>
      <p:sp>
        <p:nvSpPr>
          <p:cNvPr id="6" name="Text 4"/>
          <p:cNvSpPr/>
          <p:nvPr/>
        </p:nvSpPr>
        <p:spPr>
          <a:xfrm>
            <a:off x="658368" y="2647875"/>
            <a:ext cx="2743200" cy="201168"/>
          </a:xfrm>
          <a:prstGeom prst="rect">
            <a:avLst/>
          </a:prstGeom>
          <a:noFill/>
          <a:ln/>
        </p:spPr>
        <p:txBody>
          <a:bodyPr wrap="square" lIns="0" tIns="0" rIns="0" bIns="0" rtlCol="0" anchor="ctr"/>
          <a:lstStyle/>
          <a:p>
            <a:pPr marL="0" indent="0">
              <a:buNone/>
            </a:pPr>
            <a:r>
              <a:rPr lang="en-US" sz="900" b="1" dirty="0">
                <a:solidFill>
                  <a:srgbClr val="E0C8F8"/>
                </a:solidFill>
                <a:latin typeface="Trebuchet MS" pitchFamily="34" charset="0"/>
                <a:ea typeface="Trebuchet MS" pitchFamily="34" charset="-122"/>
                <a:cs typeface="Trebuchet MS" pitchFamily="34" charset="-120"/>
              </a:rPr>
              <a:t>Why this study?</a:t>
            </a:r>
            <a:endParaRPr lang="en-US" sz="900" dirty="0"/>
          </a:p>
        </p:txBody>
      </p:sp>
      <p:sp>
        <p:nvSpPr>
          <p:cNvPr id="7" name="Text 5"/>
          <p:cNvSpPr/>
          <p:nvPr/>
        </p:nvSpPr>
        <p:spPr>
          <a:xfrm>
            <a:off x="658368" y="2849043"/>
            <a:ext cx="7845552" cy="402336"/>
          </a:xfrm>
          <a:prstGeom prst="rect">
            <a:avLst/>
          </a:prstGeom>
          <a:noFill/>
          <a:ln/>
        </p:spPr>
        <p:txBody>
          <a:bodyPr wrap="square" lIns="0" tIns="0" rIns="0" bIns="0" rtlCol="0" anchor="ctr"/>
          <a:lstStyle/>
          <a:p>
            <a:pPr marL="0" indent="0">
              <a:buNone/>
            </a:pPr>
            <a:r>
              <a:rPr lang="en-US" sz="900" i="1" dirty="0">
                <a:solidFill>
                  <a:srgbClr val="E0C8F8"/>
                </a:solidFill>
                <a:latin typeface="Calibri" pitchFamily="34" charset="0"/>
                <a:ea typeface="Calibri" pitchFamily="34" charset="-122"/>
                <a:cs typeface="Calibri" pitchFamily="34" charset="-120"/>
              </a:rPr>
              <a:t>At EPAM, I spent two years reducing friction in Mastercard payment workflows. The friction here is different — it's between Roku's data advantage and the ad experience viewers actually see — but the PM instinct is the same: find where the platform has what it needs to solve the problem and build the bridge.</a:t>
            </a:r>
            <a:endParaRPr lang="en-US" sz="900" dirty="0"/>
          </a:p>
        </p:txBody>
      </p:sp>
      <p:sp>
        <p:nvSpPr>
          <p:cNvPr id="8" name="Shape 6"/>
          <p:cNvSpPr/>
          <p:nvPr/>
        </p:nvSpPr>
        <p:spPr>
          <a:xfrm>
            <a:off x="1252728" y="3403001"/>
            <a:ext cx="475488" cy="475488"/>
          </a:xfrm>
          <a:prstGeom prst="ellipse">
            <a:avLst/>
          </a:prstGeom>
          <a:solidFill>
            <a:srgbClr val="E0C8F8"/>
          </a:solidFill>
          <a:ln w="12700">
            <a:solidFill>
              <a:srgbClr val="E0C8F8"/>
            </a:solidFill>
            <a:prstDash val="solid"/>
          </a:ln>
        </p:spPr>
        <p:txBody>
          <a:bodyPr/>
          <a:lstStyle/>
          <a:p>
            <a:endParaRPr lang="en-US"/>
          </a:p>
        </p:txBody>
      </p:sp>
      <p:sp>
        <p:nvSpPr>
          <p:cNvPr id="9" name="Text 7"/>
          <p:cNvSpPr/>
          <p:nvPr/>
        </p:nvSpPr>
        <p:spPr>
          <a:xfrm>
            <a:off x="1252728" y="3403001"/>
            <a:ext cx="475488" cy="475488"/>
          </a:xfrm>
          <a:prstGeom prst="rect">
            <a:avLst/>
          </a:prstGeom>
          <a:noFill/>
          <a:ln/>
        </p:spPr>
        <p:txBody>
          <a:bodyPr wrap="square" lIns="0" tIns="0" rIns="0" bIns="0" rtlCol="0" anchor="ctr"/>
          <a:lstStyle/>
          <a:p>
            <a:pPr marL="0" indent="0" algn="ctr">
              <a:buNone/>
            </a:pPr>
            <a:r>
              <a:rPr lang="en-US" sz="1600" b="1" dirty="0">
                <a:solidFill>
                  <a:srgbClr val="6F1AB1"/>
                </a:solidFill>
                <a:latin typeface="Trebuchet MS" pitchFamily="34" charset="0"/>
                <a:ea typeface="Trebuchet MS" pitchFamily="34" charset="-122"/>
                <a:cs typeface="Trebuchet MS" pitchFamily="34" charset="-120"/>
              </a:rPr>
              <a:t>1</a:t>
            </a:r>
            <a:endParaRPr lang="en-US" sz="1600" dirty="0"/>
          </a:p>
        </p:txBody>
      </p:sp>
      <p:sp>
        <p:nvSpPr>
          <p:cNvPr id="10" name="Text 8"/>
          <p:cNvSpPr/>
          <p:nvPr/>
        </p:nvSpPr>
        <p:spPr>
          <a:xfrm>
            <a:off x="164592" y="3911495"/>
            <a:ext cx="2651760" cy="457200"/>
          </a:xfrm>
          <a:prstGeom prst="rect">
            <a:avLst/>
          </a:prstGeom>
          <a:noFill/>
          <a:ln/>
        </p:spPr>
        <p:txBody>
          <a:bodyPr wrap="square" lIns="0" tIns="0" rIns="0" bIns="0" rtlCol="0" anchor="ctr"/>
          <a:lstStyle/>
          <a:p>
            <a:pPr marL="0" indent="0" algn="ctr">
              <a:buNone/>
            </a:pPr>
            <a:r>
              <a:rPr lang="en-US" sz="950" b="1" dirty="0">
                <a:solidFill>
                  <a:srgbClr val="E0C8F8"/>
                </a:solidFill>
                <a:latin typeface="Calibri" pitchFamily="34" charset="0"/>
                <a:ea typeface="Calibri" pitchFamily="34" charset="-122"/>
                <a:cs typeface="Calibri" pitchFamily="34" charset="-120"/>
              </a:rPr>
              <a:t>Gap 1</a:t>
            </a:r>
            <a:endParaRPr lang="en-US" sz="950" dirty="0"/>
          </a:p>
          <a:p>
            <a:pPr marL="0" indent="0" algn="ctr">
              <a:buNone/>
            </a:pPr>
            <a:r>
              <a:rPr lang="en-US" sz="950" b="1" dirty="0">
                <a:solidFill>
                  <a:srgbClr val="E0C8F8"/>
                </a:solidFill>
                <a:latin typeface="Calibri" pitchFamily="34" charset="0"/>
                <a:ea typeface="Calibri" pitchFamily="34" charset="-122"/>
                <a:cs typeface="Calibri" pitchFamily="34" charset="-120"/>
              </a:rPr>
              <a:t>Relevance &amp; Frequency</a:t>
            </a:r>
            <a:endParaRPr lang="en-US" sz="950" dirty="0"/>
          </a:p>
        </p:txBody>
      </p:sp>
      <p:sp>
        <p:nvSpPr>
          <p:cNvPr id="11" name="Shape 9"/>
          <p:cNvSpPr/>
          <p:nvPr/>
        </p:nvSpPr>
        <p:spPr>
          <a:xfrm>
            <a:off x="4105656" y="3403001"/>
            <a:ext cx="475488" cy="475488"/>
          </a:xfrm>
          <a:prstGeom prst="ellipse">
            <a:avLst/>
          </a:prstGeom>
          <a:solidFill>
            <a:srgbClr val="E0C8F8"/>
          </a:solidFill>
          <a:ln w="12700">
            <a:solidFill>
              <a:srgbClr val="E0C8F8"/>
            </a:solidFill>
            <a:prstDash val="solid"/>
          </a:ln>
        </p:spPr>
        <p:txBody>
          <a:bodyPr/>
          <a:lstStyle/>
          <a:p>
            <a:endParaRPr lang="en-US"/>
          </a:p>
        </p:txBody>
      </p:sp>
      <p:sp>
        <p:nvSpPr>
          <p:cNvPr id="12" name="Text 10"/>
          <p:cNvSpPr/>
          <p:nvPr/>
        </p:nvSpPr>
        <p:spPr>
          <a:xfrm>
            <a:off x="4105656" y="3403001"/>
            <a:ext cx="475488" cy="475488"/>
          </a:xfrm>
          <a:prstGeom prst="rect">
            <a:avLst/>
          </a:prstGeom>
          <a:noFill/>
          <a:ln/>
        </p:spPr>
        <p:txBody>
          <a:bodyPr wrap="square" lIns="0" tIns="0" rIns="0" bIns="0" rtlCol="0" anchor="ctr"/>
          <a:lstStyle/>
          <a:p>
            <a:pPr marL="0" indent="0" algn="ctr">
              <a:buNone/>
            </a:pPr>
            <a:r>
              <a:rPr lang="en-US" sz="1600" b="1" dirty="0">
                <a:solidFill>
                  <a:srgbClr val="6F1AB1"/>
                </a:solidFill>
                <a:latin typeface="Trebuchet MS" pitchFamily="34" charset="0"/>
                <a:ea typeface="Trebuchet MS" pitchFamily="34" charset="-122"/>
                <a:cs typeface="Trebuchet MS" pitchFamily="34" charset="-120"/>
              </a:rPr>
              <a:t>2</a:t>
            </a:r>
            <a:endParaRPr lang="en-US" sz="1600" dirty="0"/>
          </a:p>
        </p:txBody>
      </p:sp>
      <p:sp>
        <p:nvSpPr>
          <p:cNvPr id="13" name="Text 11"/>
          <p:cNvSpPr/>
          <p:nvPr/>
        </p:nvSpPr>
        <p:spPr>
          <a:xfrm>
            <a:off x="3017520" y="3906955"/>
            <a:ext cx="2651760" cy="457200"/>
          </a:xfrm>
          <a:prstGeom prst="rect">
            <a:avLst/>
          </a:prstGeom>
          <a:noFill/>
          <a:ln/>
        </p:spPr>
        <p:txBody>
          <a:bodyPr wrap="square" lIns="0" tIns="0" rIns="0" bIns="0" rtlCol="0" anchor="ctr"/>
          <a:lstStyle/>
          <a:p>
            <a:pPr marL="0" indent="0" algn="ctr">
              <a:buNone/>
            </a:pPr>
            <a:r>
              <a:rPr lang="en-US" sz="950" b="1" dirty="0">
                <a:solidFill>
                  <a:srgbClr val="E0C8F8"/>
                </a:solidFill>
                <a:latin typeface="Calibri" pitchFamily="34" charset="0"/>
                <a:ea typeface="Calibri" pitchFamily="34" charset="-122"/>
                <a:cs typeface="Calibri" pitchFamily="34" charset="-120"/>
              </a:rPr>
              <a:t>Gap 2</a:t>
            </a:r>
            <a:endParaRPr lang="en-US" sz="950" dirty="0"/>
          </a:p>
          <a:p>
            <a:pPr marL="0" indent="0" algn="ctr">
              <a:buNone/>
            </a:pPr>
            <a:r>
              <a:rPr lang="en-US" sz="950" b="1" dirty="0">
                <a:solidFill>
                  <a:srgbClr val="E0C8F8"/>
                </a:solidFill>
                <a:latin typeface="Calibri" pitchFamily="34" charset="0"/>
                <a:ea typeface="Calibri" pitchFamily="34" charset="-122"/>
                <a:cs typeface="Calibri" pitchFamily="34" charset="-120"/>
              </a:rPr>
              <a:t>Interactive Format Access</a:t>
            </a:r>
            <a:endParaRPr lang="en-US" sz="950" dirty="0"/>
          </a:p>
        </p:txBody>
      </p:sp>
      <p:sp>
        <p:nvSpPr>
          <p:cNvPr id="14" name="Shape 12"/>
          <p:cNvSpPr/>
          <p:nvPr/>
        </p:nvSpPr>
        <p:spPr>
          <a:xfrm>
            <a:off x="6958584" y="3415971"/>
            <a:ext cx="475488" cy="475488"/>
          </a:xfrm>
          <a:prstGeom prst="ellipse">
            <a:avLst/>
          </a:prstGeom>
          <a:solidFill>
            <a:srgbClr val="E0C8F8"/>
          </a:solidFill>
          <a:ln w="12700">
            <a:solidFill>
              <a:srgbClr val="E0C8F8"/>
            </a:solidFill>
            <a:prstDash val="solid"/>
          </a:ln>
        </p:spPr>
        <p:txBody>
          <a:bodyPr/>
          <a:lstStyle/>
          <a:p>
            <a:endParaRPr lang="en-US"/>
          </a:p>
        </p:txBody>
      </p:sp>
      <p:sp>
        <p:nvSpPr>
          <p:cNvPr id="15" name="Text 13"/>
          <p:cNvSpPr/>
          <p:nvPr/>
        </p:nvSpPr>
        <p:spPr>
          <a:xfrm>
            <a:off x="6958584" y="3415971"/>
            <a:ext cx="475488" cy="475488"/>
          </a:xfrm>
          <a:prstGeom prst="rect">
            <a:avLst/>
          </a:prstGeom>
          <a:noFill/>
          <a:ln/>
        </p:spPr>
        <p:txBody>
          <a:bodyPr wrap="square" lIns="0" tIns="0" rIns="0" bIns="0" rtlCol="0" anchor="ctr"/>
          <a:lstStyle/>
          <a:p>
            <a:pPr marL="0" indent="0" algn="ctr">
              <a:buNone/>
            </a:pPr>
            <a:r>
              <a:rPr lang="en-US" sz="1600" b="1" dirty="0">
                <a:solidFill>
                  <a:srgbClr val="6F1AB1"/>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5870448" y="3906955"/>
            <a:ext cx="2651760" cy="457200"/>
          </a:xfrm>
          <a:prstGeom prst="rect">
            <a:avLst/>
          </a:prstGeom>
          <a:noFill/>
          <a:ln/>
        </p:spPr>
        <p:txBody>
          <a:bodyPr wrap="square" lIns="0" tIns="0" rIns="0" bIns="0" rtlCol="0" anchor="ctr"/>
          <a:lstStyle/>
          <a:p>
            <a:pPr marL="0" indent="0" algn="ctr">
              <a:buNone/>
            </a:pPr>
            <a:r>
              <a:rPr lang="en-US" sz="950" b="1" dirty="0">
                <a:solidFill>
                  <a:srgbClr val="E0C8F8"/>
                </a:solidFill>
                <a:latin typeface="Calibri" pitchFamily="34" charset="0"/>
                <a:ea typeface="Calibri" pitchFamily="34" charset="-122"/>
                <a:cs typeface="Calibri" pitchFamily="34" charset="-120"/>
              </a:rPr>
              <a:t>Gap 3</a:t>
            </a:r>
            <a:endParaRPr lang="en-US" sz="950" dirty="0"/>
          </a:p>
          <a:p>
            <a:pPr marL="0" indent="0" algn="ctr">
              <a:buNone/>
            </a:pPr>
            <a:r>
              <a:rPr lang="en-US" sz="950" b="1" dirty="0">
                <a:solidFill>
                  <a:srgbClr val="E0C8F8"/>
                </a:solidFill>
                <a:latin typeface="Calibri" pitchFamily="34" charset="0"/>
                <a:ea typeface="Calibri" pitchFamily="34" charset="-122"/>
                <a:cs typeface="Calibri" pitchFamily="34" charset="-120"/>
              </a:rPr>
              <a:t>Attribution &amp; Feedback Loop</a:t>
            </a:r>
            <a:endParaRPr lang="en-US" sz="950" dirty="0"/>
          </a:p>
        </p:txBody>
      </p:sp>
      <p:sp>
        <p:nvSpPr>
          <p:cNvPr id="17" name="Text 15"/>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9966CC"/>
                </a:solidFill>
                <a:latin typeface="Calibri" pitchFamily="34" charset="0"/>
                <a:ea typeface="Calibri" pitchFamily="34" charset="-122"/>
                <a:cs typeface="Calibri" pitchFamily="34" charset="-120"/>
              </a:rPr>
              <a:t>3 / 16</a:t>
            </a:r>
            <a:endParaRPr lang="en-US" sz="750" dirty="0"/>
          </a:p>
        </p:txBody>
      </p:sp>
      <p:sp>
        <p:nvSpPr>
          <p:cNvPr id="29" name="TextBox 28">
            <a:extLst>
              <a:ext uri="{FF2B5EF4-FFF2-40B4-BE49-F238E27FC236}">
                <a16:creationId xmlns:a16="http://schemas.microsoft.com/office/drawing/2014/main" id="{453C485F-F0A3-38A2-6171-65CABF5EC099}"/>
              </a:ext>
            </a:extLst>
          </p:cNvPr>
          <p:cNvSpPr txBox="1"/>
          <p:nvPr/>
        </p:nvSpPr>
        <p:spPr>
          <a:xfrm>
            <a:off x="52205" y="4479201"/>
            <a:ext cx="9131030" cy="461665"/>
          </a:xfrm>
          <a:prstGeom prst="rect">
            <a:avLst/>
          </a:prstGeom>
          <a:noFill/>
        </p:spPr>
        <p:txBody>
          <a:bodyPr wrap="square" rtlCol="0">
            <a:spAutoFit/>
          </a:bodyPr>
          <a:lstStyle/>
          <a:p>
            <a:pPr algn="ctr"/>
            <a:r>
              <a:rPr lang="en-US" sz="1200" i="1" dirty="0">
                <a:solidFill>
                  <a:schemeClr val="bg1"/>
                </a:solidFill>
              </a:rPr>
              <a:t>Fix relevance so ads feel worth watching → make interactive formats accessible so engagement scales → prove it with measurement so budgets follow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594360" y="25603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Competitive Landscape</a:t>
            </a:r>
            <a:endParaRPr lang="en-US" sz="2200" dirty="0"/>
          </a:p>
        </p:txBody>
      </p:sp>
      <p:sp>
        <p:nvSpPr>
          <p:cNvPr id="4" name="Text 2"/>
          <p:cNvSpPr/>
          <p:nvPr/>
        </p:nvSpPr>
        <p:spPr>
          <a:xfrm>
            <a:off x="594360" y="62179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How Roku stacks up across the three gap dimensions — Q1/Q2 2026</a:t>
            </a:r>
            <a:endParaRPr lang="en-US" sz="1000" dirty="0"/>
          </a:p>
        </p:txBody>
      </p:sp>
      <p:sp>
        <p:nvSpPr>
          <p:cNvPr id="5" name="Shape 3"/>
          <p:cNvSpPr/>
          <p:nvPr/>
        </p:nvSpPr>
        <p:spPr>
          <a:xfrm>
            <a:off x="411480" y="1005840"/>
            <a:ext cx="1828800" cy="402336"/>
          </a:xfrm>
          <a:prstGeom prst="rect">
            <a:avLst/>
          </a:prstGeom>
          <a:solidFill>
            <a:srgbClr val="3D0066"/>
          </a:solidFill>
          <a:ln w="12700">
            <a:solidFill>
              <a:srgbClr val="3D0066"/>
            </a:solidFill>
            <a:prstDash val="solid"/>
          </a:ln>
        </p:spPr>
        <p:txBody>
          <a:bodyPr/>
          <a:lstStyle/>
          <a:p>
            <a:endParaRPr lang="en-US"/>
          </a:p>
        </p:txBody>
      </p:sp>
      <p:sp>
        <p:nvSpPr>
          <p:cNvPr id="6" name="Text 4"/>
          <p:cNvSpPr/>
          <p:nvPr/>
        </p:nvSpPr>
        <p:spPr>
          <a:xfrm>
            <a:off x="411480" y="1005840"/>
            <a:ext cx="182880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Dimension</a:t>
            </a:r>
            <a:endParaRPr lang="en-US" sz="1000" dirty="0"/>
          </a:p>
        </p:txBody>
      </p:sp>
      <p:sp>
        <p:nvSpPr>
          <p:cNvPr id="7" name="Shape 5"/>
          <p:cNvSpPr/>
          <p:nvPr/>
        </p:nvSpPr>
        <p:spPr>
          <a:xfrm>
            <a:off x="2304288" y="1005840"/>
            <a:ext cx="1636776" cy="402336"/>
          </a:xfrm>
          <a:prstGeom prst="rect">
            <a:avLst/>
          </a:prstGeom>
          <a:solidFill>
            <a:srgbClr val="6F1AB1"/>
          </a:solidFill>
          <a:ln w="12700">
            <a:solidFill>
              <a:srgbClr val="3D0066"/>
            </a:solidFill>
            <a:prstDash val="solid"/>
          </a:ln>
        </p:spPr>
        <p:txBody>
          <a:bodyPr/>
          <a:lstStyle/>
          <a:p>
            <a:endParaRPr lang="en-US"/>
          </a:p>
        </p:txBody>
      </p:sp>
      <p:sp>
        <p:nvSpPr>
          <p:cNvPr id="8" name="Text 6"/>
          <p:cNvSpPr/>
          <p:nvPr/>
        </p:nvSpPr>
        <p:spPr>
          <a:xfrm>
            <a:off x="2304288" y="1005840"/>
            <a:ext cx="163677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Roku</a:t>
            </a:r>
            <a:endParaRPr lang="en-US" sz="1000" dirty="0"/>
          </a:p>
        </p:txBody>
      </p:sp>
      <p:sp>
        <p:nvSpPr>
          <p:cNvPr id="9" name="Shape 7"/>
          <p:cNvSpPr/>
          <p:nvPr/>
        </p:nvSpPr>
        <p:spPr>
          <a:xfrm>
            <a:off x="4005072" y="1005840"/>
            <a:ext cx="1636776" cy="402336"/>
          </a:xfrm>
          <a:prstGeom prst="rect">
            <a:avLst/>
          </a:prstGeom>
          <a:solidFill>
            <a:srgbClr val="6F1AB1"/>
          </a:solidFill>
          <a:ln w="12700">
            <a:solidFill>
              <a:srgbClr val="3D0066"/>
            </a:solidFill>
            <a:prstDash val="solid"/>
          </a:ln>
        </p:spPr>
        <p:txBody>
          <a:bodyPr/>
          <a:lstStyle/>
          <a:p>
            <a:endParaRPr lang="en-US"/>
          </a:p>
        </p:txBody>
      </p:sp>
      <p:sp>
        <p:nvSpPr>
          <p:cNvPr id="10" name="Text 8"/>
          <p:cNvSpPr/>
          <p:nvPr/>
        </p:nvSpPr>
        <p:spPr>
          <a:xfrm>
            <a:off x="4005072" y="1005840"/>
            <a:ext cx="163677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Amazon Fire TV</a:t>
            </a:r>
            <a:endParaRPr lang="en-US" sz="1000" dirty="0"/>
          </a:p>
        </p:txBody>
      </p:sp>
      <p:sp>
        <p:nvSpPr>
          <p:cNvPr id="11" name="Shape 9"/>
          <p:cNvSpPr/>
          <p:nvPr/>
        </p:nvSpPr>
        <p:spPr>
          <a:xfrm>
            <a:off x="5705856" y="1005840"/>
            <a:ext cx="1636776" cy="402336"/>
          </a:xfrm>
          <a:prstGeom prst="rect">
            <a:avLst/>
          </a:prstGeom>
          <a:solidFill>
            <a:srgbClr val="6F1AB1"/>
          </a:solidFill>
          <a:ln w="12700">
            <a:solidFill>
              <a:srgbClr val="3D0066"/>
            </a:solidFill>
            <a:prstDash val="solid"/>
          </a:ln>
        </p:spPr>
        <p:txBody>
          <a:bodyPr/>
          <a:lstStyle/>
          <a:p>
            <a:endParaRPr lang="en-US"/>
          </a:p>
        </p:txBody>
      </p:sp>
      <p:sp>
        <p:nvSpPr>
          <p:cNvPr id="12" name="Text 10"/>
          <p:cNvSpPr/>
          <p:nvPr/>
        </p:nvSpPr>
        <p:spPr>
          <a:xfrm>
            <a:off x="5705856" y="1005840"/>
            <a:ext cx="163677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Samsung TV+</a:t>
            </a:r>
            <a:endParaRPr lang="en-US" sz="1000" dirty="0"/>
          </a:p>
        </p:txBody>
      </p:sp>
      <p:sp>
        <p:nvSpPr>
          <p:cNvPr id="13" name="Shape 11"/>
          <p:cNvSpPr/>
          <p:nvPr/>
        </p:nvSpPr>
        <p:spPr>
          <a:xfrm>
            <a:off x="7406640" y="1005840"/>
            <a:ext cx="1636776" cy="402336"/>
          </a:xfrm>
          <a:prstGeom prst="rect">
            <a:avLst/>
          </a:prstGeom>
          <a:solidFill>
            <a:srgbClr val="6F1AB1"/>
          </a:solidFill>
          <a:ln w="12700">
            <a:solidFill>
              <a:srgbClr val="3D0066"/>
            </a:solidFill>
            <a:prstDash val="solid"/>
          </a:ln>
        </p:spPr>
        <p:txBody>
          <a:bodyPr/>
          <a:lstStyle/>
          <a:p>
            <a:endParaRPr lang="en-US"/>
          </a:p>
        </p:txBody>
      </p:sp>
      <p:sp>
        <p:nvSpPr>
          <p:cNvPr id="14" name="Text 12"/>
          <p:cNvSpPr/>
          <p:nvPr/>
        </p:nvSpPr>
        <p:spPr>
          <a:xfrm>
            <a:off x="7406640" y="1005840"/>
            <a:ext cx="163677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YouTube CTV</a:t>
            </a:r>
            <a:endParaRPr lang="en-US" sz="1000" dirty="0"/>
          </a:p>
        </p:txBody>
      </p:sp>
      <p:sp>
        <p:nvSpPr>
          <p:cNvPr id="15" name="Shape 13"/>
          <p:cNvSpPr/>
          <p:nvPr/>
        </p:nvSpPr>
        <p:spPr>
          <a:xfrm>
            <a:off x="411480" y="1444752"/>
            <a:ext cx="8631936" cy="713232"/>
          </a:xfrm>
          <a:prstGeom prst="rect">
            <a:avLst/>
          </a:prstGeom>
          <a:solidFill>
            <a:srgbClr val="FFFFFF"/>
          </a:solidFill>
          <a:ln w="12700">
            <a:solidFill>
              <a:srgbClr val="DDD8F0"/>
            </a:solidFill>
            <a:prstDash val="solid"/>
          </a:ln>
        </p:spPr>
        <p:txBody>
          <a:bodyPr/>
          <a:lstStyle/>
          <a:p>
            <a:endParaRPr lang="en-US"/>
          </a:p>
        </p:txBody>
      </p:sp>
      <p:sp>
        <p:nvSpPr>
          <p:cNvPr id="16" name="Text 14"/>
          <p:cNvSpPr/>
          <p:nvPr/>
        </p:nvSpPr>
        <p:spPr>
          <a:xfrm>
            <a:off x="484632" y="1517904"/>
            <a:ext cx="1682496" cy="56692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Ad Frequency</a:t>
            </a:r>
            <a:endParaRPr lang="en-US" sz="950" dirty="0"/>
          </a:p>
          <a:p>
            <a:pPr marL="0" indent="0">
              <a:buNone/>
            </a:pPr>
            <a:r>
              <a:rPr lang="en-US" sz="950" b="1" dirty="0">
                <a:solidFill>
                  <a:srgbClr val="3D0066"/>
                </a:solidFill>
                <a:latin typeface="Trebuchet MS" pitchFamily="34" charset="0"/>
                <a:ea typeface="Trebuchet MS" pitchFamily="34" charset="-122"/>
                <a:cs typeface="Trebuchet MS" pitchFamily="34" charset="-120"/>
              </a:rPr>
              <a:t>Capping (OS-level)</a:t>
            </a:r>
            <a:endParaRPr lang="en-US" sz="950" dirty="0"/>
          </a:p>
        </p:txBody>
      </p:sp>
      <p:sp>
        <p:nvSpPr>
          <p:cNvPr id="17" name="Shape 15"/>
          <p:cNvSpPr/>
          <p:nvPr/>
        </p:nvSpPr>
        <p:spPr>
          <a:xfrm>
            <a:off x="2395728" y="1700784"/>
            <a:ext cx="137160" cy="137160"/>
          </a:xfrm>
          <a:prstGeom prst="ellipse">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2560320" y="1517904"/>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Partial — per-publisher only</a:t>
            </a:r>
            <a:endParaRPr lang="en-US" sz="850" dirty="0"/>
          </a:p>
        </p:txBody>
      </p:sp>
      <p:sp>
        <p:nvSpPr>
          <p:cNvPr id="19" name="Shape 17"/>
          <p:cNvSpPr/>
          <p:nvPr/>
        </p:nvSpPr>
        <p:spPr>
          <a:xfrm>
            <a:off x="4096512" y="1700784"/>
            <a:ext cx="137160" cy="137160"/>
          </a:xfrm>
          <a:prstGeom prst="ellipse">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4261104" y="1517904"/>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Partial — Amazon DSP cross-app</a:t>
            </a:r>
            <a:endParaRPr lang="en-US" sz="850" dirty="0"/>
          </a:p>
        </p:txBody>
      </p:sp>
      <p:sp>
        <p:nvSpPr>
          <p:cNvPr id="21" name="Shape 19"/>
          <p:cNvSpPr/>
          <p:nvPr/>
        </p:nvSpPr>
        <p:spPr>
          <a:xfrm>
            <a:off x="5797296" y="1700784"/>
            <a:ext cx="137160" cy="137160"/>
          </a:xfrm>
          <a:prstGeom prst="ellipse">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5961888" y="1517904"/>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Improving via Amazon DSP</a:t>
            </a:r>
            <a:endParaRPr lang="en-US" sz="850" dirty="0"/>
          </a:p>
        </p:txBody>
      </p:sp>
      <p:sp>
        <p:nvSpPr>
          <p:cNvPr id="23" name="Shape 21"/>
          <p:cNvSpPr/>
          <p:nvPr/>
        </p:nvSpPr>
        <p:spPr>
          <a:xfrm>
            <a:off x="7498080" y="1700784"/>
            <a:ext cx="137160" cy="137160"/>
          </a:xfrm>
          <a:prstGeom prst="ellipse">
            <a:avLst/>
          </a:prstGeom>
          <a:solidFill>
            <a:srgbClr val="22C55E"/>
          </a:solidFill>
          <a:ln w="12700">
            <a:solidFill>
              <a:srgbClr val="22C55E"/>
            </a:solidFill>
            <a:prstDash val="solid"/>
          </a:ln>
        </p:spPr>
        <p:txBody>
          <a:bodyPr/>
          <a:lstStyle/>
          <a:p>
            <a:endParaRPr lang="en-US"/>
          </a:p>
        </p:txBody>
      </p:sp>
      <p:sp>
        <p:nvSpPr>
          <p:cNvPr id="24" name="Text 22"/>
          <p:cNvSpPr/>
          <p:nvPr/>
        </p:nvSpPr>
        <p:spPr>
          <a:xfrm>
            <a:off x="7662672" y="1517904"/>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Strong — cross-surface capping</a:t>
            </a:r>
            <a:endParaRPr lang="en-US" sz="850" dirty="0"/>
          </a:p>
        </p:txBody>
      </p:sp>
      <p:sp>
        <p:nvSpPr>
          <p:cNvPr id="25" name="Shape 23"/>
          <p:cNvSpPr/>
          <p:nvPr/>
        </p:nvSpPr>
        <p:spPr>
          <a:xfrm>
            <a:off x="411480" y="2212848"/>
            <a:ext cx="8631936" cy="713232"/>
          </a:xfrm>
          <a:prstGeom prst="rect">
            <a:avLst/>
          </a:prstGeom>
          <a:solidFill>
            <a:srgbClr val="F0EDF6"/>
          </a:solidFill>
          <a:ln w="12700">
            <a:solidFill>
              <a:srgbClr val="DDD8F0"/>
            </a:solidFill>
            <a:prstDash val="solid"/>
          </a:ln>
        </p:spPr>
        <p:txBody>
          <a:bodyPr/>
          <a:lstStyle/>
          <a:p>
            <a:endParaRPr lang="en-US"/>
          </a:p>
        </p:txBody>
      </p:sp>
      <p:sp>
        <p:nvSpPr>
          <p:cNvPr id="26" name="Text 24"/>
          <p:cNvSpPr/>
          <p:nvPr/>
        </p:nvSpPr>
        <p:spPr>
          <a:xfrm>
            <a:off x="484632" y="2286000"/>
            <a:ext cx="1682496" cy="56692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Interactive /</a:t>
            </a:r>
            <a:endParaRPr lang="en-US" sz="950" dirty="0"/>
          </a:p>
          <a:p>
            <a:pPr marL="0" indent="0">
              <a:buNone/>
            </a:pPr>
            <a:r>
              <a:rPr lang="en-US" sz="950" b="1" dirty="0">
                <a:solidFill>
                  <a:srgbClr val="3D0066"/>
                </a:solidFill>
                <a:latin typeface="Trebuchet MS" pitchFamily="34" charset="0"/>
                <a:ea typeface="Trebuchet MS" pitchFamily="34" charset="-122"/>
                <a:cs typeface="Trebuchet MS" pitchFamily="34" charset="-120"/>
              </a:rPr>
              <a:t>Shoppable Formats</a:t>
            </a:r>
            <a:endParaRPr lang="en-US" sz="950" dirty="0"/>
          </a:p>
        </p:txBody>
      </p:sp>
      <p:sp>
        <p:nvSpPr>
          <p:cNvPr id="27" name="Shape 25"/>
          <p:cNvSpPr/>
          <p:nvPr/>
        </p:nvSpPr>
        <p:spPr>
          <a:xfrm>
            <a:off x="2395728" y="2468880"/>
            <a:ext cx="137160" cy="137160"/>
          </a:xfrm>
          <a:prstGeom prst="ellipse">
            <a:avLst/>
          </a:prstGeom>
          <a:solidFill>
            <a:srgbClr val="22C55E"/>
          </a:solidFill>
          <a:ln w="12700">
            <a:solidFill>
              <a:srgbClr val="22C55E"/>
            </a:solidFill>
            <a:prstDash val="solid"/>
          </a:ln>
        </p:spPr>
        <p:txBody>
          <a:bodyPr/>
          <a:lstStyle/>
          <a:p>
            <a:endParaRPr lang="en-US"/>
          </a:p>
        </p:txBody>
      </p:sp>
      <p:sp>
        <p:nvSpPr>
          <p:cNvPr id="28" name="Text 26"/>
          <p:cNvSpPr/>
          <p:nvPr/>
        </p:nvSpPr>
        <p:spPr>
          <a:xfrm>
            <a:off x="2560320" y="2286000"/>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Strong — Action Ads + Shopify</a:t>
            </a:r>
            <a:endParaRPr lang="en-US" sz="850" dirty="0"/>
          </a:p>
        </p:txBody>
      </p:sp>
      <p:sp>
        <p:nvSpPr>
          <p:cNvPr id="29" name="Shape 27"/>
          <p:cNvSpPr/>
          <p:nvPr/>
        </p:nvSpPr>
        <p:spPr>
          <a:xfrm>
            <a:off x="4096512" y="2468880"/>
            <a:ext cx="137160" cy="137160"/>
          </a:xfrm>
          <a:prstGeom prst="ellipse">
            <a:avLst/>
          </a:prstGeom>
          <a:solidFill>
            <a:srgbClr val="22C55E"/>
          </a:solidFill>
          <a:ln w="12700">
            <a:solidFill>
              <a:srgbClr val="22C55E"/>
            </a:solidFill>
            <a:prstDash val="solid"/>
          </a:ln>
        </p:spPr>
        <p:txBody>
          <a:bodyPr/>
          <a:lstStyle/>
          <a:p>
            <a:endParaRPr lang="en-US"/>
          </a:p>
        </p:txBody>
      </p:sp>
      <p:sp>
        <p:nvSpPr>
          <p:cNvPr id="30" name="Text 28"/>
          <p:cNvSpPr/>
          <p:nvPr/>
        </p:nvSpPr>
        <p:spPr>
          <a:xfrm>
            <a:off x="4261104" y="2286000"/>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Strong + AI Creative (Smartly)</a:t>
            </a:r>
            <a:endParaRPr lang="en-US" sz="850" dirty="0"/>
          </a:p>
        </p:txBody>
      </p:sp>
      <p:sp>
        <p:nvSpPr>
          <p:cNvPr id="31" name="Shape 29"/>
          <p:cNvSpPr/>
          <p:nvPr/>
        </p:nvSpPr>
        <p:spPr>
          <a:xfrm>
            <a:off x="5797296" y="2468880"/>
            <a:ext cx="137160" cy="137160"/>
          </a:xfrm>
          <a:prstGeom prst="ellipse">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5961888" y="2286000"/>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Launching July 2026 via Amazon</a:t>
            </a:r>
            <a:endParaRPr lang="en-US" sz="850" dirty="0"/>
          </a:p>
        </p:txBody>
      </p:sp>
      <p:sp>
        <p:nvSpPr>
          <p:cNvPr id="33" name="Shape 31"/>
          <p:cNvSpPr/>
          <p:nvPr/>
        </p:nvSpPr>
        <p:spPr>
          <a:xfrm>
            <a:off x="7498080" y="2468880"/>
            <a:ext cx="137160" cy="137160"/>
          </a:xfrm>
          <a:prstGeom prst="ellipse">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7662672" y="2286000"/>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Limited — BuyNow only</a:t>
            </a:r>
            <a:endParaRPr lang="en-US" sz="850" dirty="0"/>
          </a:p>
        </p:txBody>
      </p:sp>
      <p:sp>
        <p:nvSpPr>
          <p:cNvPr id="35" name="Shape 33"/>
          <p:cNvSpPr/>
          <p:nvPr/>
        </p:nvSpPr>
        <p:spPr>
          <a:xfrm>
            <a:off x="411480" y="2980944"/>
            <a:ext cx="8631936" cy="713232"/>
          </a:xfrm>
          <a:prstGeom prst="rect">
            <a:avLst/>
          </a:prstGeom>
          <a:solidFill>
            <a:srgbClr val="FFFFFF"/>
          </a:solidFill>
          <a:ln w="12700">
            <a:solidFill>
              <a:srgbClr val="DDD8F0"/>
            </a:solidFill>
            <a:prstDash val="solid"/>
          </a:ln>
        </p:spPr>
        <p:txBody>
          <a:bodyPr/>
          <a:lstStyle/>
          <a:p>
            <a:endParaRPr lang="en-US"/>
          </a:p>
        </p:txBody>
      </p:sp>
      <p:sp>
        <p:nvSpPr>
          <p:cNvPr id="36" name="Text 34"/>
          <p:cNvSpPr/>
          <p:nvPr/>
        </p:nvSpPr>
        <p:spPr>
          <a:xfrm>
            <a:off x="484632" y="3054096"/>
            <a:ext cx="1682496" cy="56692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Real-Time</a:t>
            </a:r>
            <a:endParaRPr lang="en-US" sz="950" dirty="0"/>
          </a:p>
          <a:p>
            <a:pPr marL="0" indent="0">
              <a:buNone/>
            </a:pPr>
            <a:r>
              <a:rPr lang="en-US" sz="950" b="1" dirty="0">
                <a:solidFill>
                  <a:srgbClr val="3D0066"/>
                </a:solidFill>
                <a:latin typeface="Trebuchet MS" pitchFamily="34" charset="0"/>
                <a:ea typeface="Trebuchet MS" pitchFamily="34" charset="-122"/>
                <a:cs typeface="Trebuchet MS" pitchFamily="34" charset="-120"/>
              </a:rPr>
              <a:t>Measurement &amp; ROAS</a:t>
            </a:r>
            <a:endParaRPr lang="en-US" sz="950" dirty="0"/>
          </a:p>
        </p:txBody>
      </p:sp>
      <p:sp>
        <p:nvSpPr>
          <p:cNvPr id="37" name="Shape 35"/>
          <p:cNvSpPr/>
          <p:nvPr/>
        </p:nvSpPr>
        <p:spPr>
          <a:xfrm>
            <a:off x="2395728" y="3236976"/>
            <a:ext cx="137160" cy="137160"/>
          </a:xfrm>
          <a:prstGeom prst="ellipse">
            <a:avLst/>
          </a:prstGeom>
          <a:solidFill>
            <a:srgbClr val="F59E0B"/>
          </a:solidFill>
          <a:ln w="12700">
            <a:solidFill>
              <a:srgbClr val="F59E0B"/>
            </a:solidFill>
            <a:prstDash val="solid"/>
          </a:ln>
        </p:spPr>
        <p:txBody>
          <a:bodyPr/>
          <a:lstStyle/>
          <a:p>
            <a:endParaRPr lang="en-US"/>
          </a:p>
        </p:txBody>
      </p:sp>
      <p:sp>
        <p:nvSpPr>
          <p:cNvPr id="38" name="Text 36"/>
          <p:cNvSpPr/>
          <p:nvPr/>
        </p:nvSpPr>
        <p:spPr>
          <a:xfrm>
            <a:off x="2560320" y="3054096"/>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Improving — iSpot, INCRMNTAL</a:t>
            </a:r>
            <a:endParaRPr lang="en-US" sz="850" dirty="0"/>
          </a:p>
        </p:txBody>
      </p:sp>
      <p:sp>
        <p:nvSpPr>
          <p:cNvPr id="39" name="Shape 37"/>
          <p:cNvSpPr/>
          <p:nvPr/>
        </p:nvSpPr>
        <p:spPr>
          <a:xfrm>
            <a:off x="4096512" y="3236976"/>
            <a:ext cx="137160" cy="137160"/>
          </a:xfrm>
          <a:prstGeom prst="ellipse">
            <a:avLst/>
          </a:prstGeom>
          <a:solidFill>
            <a:srgbClr val="22C55E"/>
          </a:solidFill>
          <a:ln w="12700">
            <a:solidFill>
              <a:srgbClr val="22C55E"/>
            </a:solidFill>
            <a:prstDash val="solid"/>
          </a:ln>
        </p:spPr>
        <p:txBody>
          <a:bodyPr/>
          <a:lstStyle/>
          <a:p>
            <a:endParaRPr lang="en-US"/>
          </a:p>
        </p:txBody>
      </p:sp>
      <p:sp>
        <p:nvSpPr>
          <p:cNvPr id="40" name="Text 38"/>
          <p:cNvSpPr/>
          <p:nvPr/>
        </p:nvSpPr>
        <p:spPr>
          <a:xfrm>
            <a:off x="4261104" y="3054096"/>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Best-in-class — Amazon signals</a:t>
            </a:r>
            <a:endParaRPr lang="en-US" sz="850" dirty="0"/>
          </a:p>
        </p:txBody>
      </p:sp>
      <p:sp>
        <p:nvSpPr>
          <p:cNvPr id="41" name="Shape 39"/>
          <p:cNvSpPr/>
          <p:nvPr/>
        </p:nvSpPr>
        <p:spPr>
          <a:xfrm>
            <a:off x="5797296" y="3236976"/>
            <a:ext cx="137160" cy="137160"/>
          </a:xfrm>
          <a:prstGeom prst="ellipse">
            <a:avLst/>
          </a:prstGeom>
          <a:solidFill>
            <a:srgbClr val="F59E0B"/>
          </a:solidFill>
          <a:ln w="12700">
            <a:solidFill>
              <a:srgbClr val="F59E0B"/>
            </a:solidFill>
            <a:prstDash val="solid"/>
          </a:ln>
        </p:spPr>
        <p:txBody>
          <a:bodyPr/>
          <a:lstStyle/>
          <a:p>
            <a:endParaRPr lang="en-US"/>
          </a:p>
        </p:txBody>
      </p:sp>
      <p:sp>
        <p:nvSpPr>
          <p:cNvPr id="42" name="Text 40"/>
          <p:cNvSpPr/>
          <p:nvPr/>
        </p:nvSpPr>
        <p:spPr>
          <a:xfrm>
            <a:off x="5961888" y="3054096"/>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Amazon Publisher Cloud data</a:t>
            </a:r>
            <a:endParaRPr lang="en-US" sz="850" dirty="0"/>
          </a:p>
        </p:txBody>
      </p:sp>
      <p:sp>
        <p:nvSpPr>
          <p:cNvPr id="43" name="Shape 41"/>
          <p:cNvSpPr/>
          <p:nvPr/>
        </p:nvSpPr>
        <p:spPr>
          <a:xfrm>
            <a:off x="7498080" y="3236976"/>
            <a:ext cx="137160" cy="137160"/>
          </a:xfrm>
          <a:prstGeom prst="ellipse">
            <a:avLst/>
          </a:prstGeom>
          <a:solidFill>
            <a:srgbClr val="22C55E"/>
          </a:solidFill>
          <a:ln w="12700">
            <a:solidFill>
              <a:srgbClr val="22C55E"/>
            </a:solidFill>
            <a:prstDash val="solid"/>
          </a:ln>
        </p:spPr>
        <p:txBody>
          <a:bodyPr/>
          <a:lstStyle/>
          <a:p>
            <a:endParaRPr lang="en-US"/>
          </a:p>
        </p:txBody>
      </p:sp>
      <p:sp>
        <p:nvSpPr>
          <p:cNvPr id="44" name="Text 42"/>
          <p:cNvSpPr/>
          <p:nvPr/>
        </p:nvSpPr>
        <p:spPr>
          <a:xfrm>
            <a:off x="7662672" y="3054096"/>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Google Ads integration</a:t>
            </a:r>
            <a:endParaRPr lang="en-US" sz="850" dirty="0"/>
          </a:p>
        </p:txBody>
      </p:sp>
      <p:sp>
        <p:nvSpPr>
          <p:cNvPr id="45" name="Shape 43"/>
          <p:cNvSpPr/>
          <p:nvPr/>
        </p:nvSpPr>
        <p:spPr>
          <a:xfrm>
            <a:off x="411480" y="3749040"/>
            <a:ext cx="8631936" cy="713232"/>
          </a:xfrm>
          <a:prstGeom prst="rect">
            <a:avLst/>
          </a:prstGeom>
          <a:solidFill>
            <a:srgbClr val="F0EDF6"/>
          </a:solidFill>
          <a:ln w="12700">
            <a:solidFill>
              <a:srgbClr val="DDD8F0"/>
            </a:solidFill>
            <a:prstDash val="solid"/>
          </a:ln>
        </p:spPr>
        <p:txBody>
          <a:bodyPr/>
          <a:lstStyle/>
          <a:p>
            <a:endParaRPr lang="en-US"/>
          </a:p>
        </p:txBody>
      </p:sp>
      <p:sp>
        <p:nvSpPr>
          <p:cNvPr id="46" name="Text 44"/>
          <p:cNvSpPr/>
          <p:nvPr/>
        </p:nvSpPr>
        <p:spPr>
          <a:xfrm>
            <a:off x="484632" y="3822192"/>
            <a:ext cx="1682496" cy="56692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SMB / Self-Serve</a:t>
            </a:r>
            <a:endParaRPr lang="en-US" sz="950" dirty="0"/>
          </a:p>
          <a:p>
            <a:pPr marL="0" indent="0">
              <a:buNone/>
            </a:pPr>
            <a:r>
              <a:rPr lang="en-US" sz="950" b="1" dirty="0">
                <a:solidFill>
                  <a:srgbClr val="3D0066"/>
                </a:solidFill>
                <a:latin typeface="Trebuchet MS" pitchFamily="34" charset="0"/>
                <a:ea typeface="Trebuchet MS" pitchFamily="34" charset="-122"/>
                <a:cs typeface="Trebuchet MS" pitchFamily="34" charset="-120"/>
              </a:rPr>
              <a:t>Accessibility</a:t>
            </a:r>
            <a:endParaRPr lang="en-US" sz="950" dirty="0"/>
          </a:p>
        </p:txBody>
      </p:sp>
      <p:sp>
        <p:nvSpPr>
          <p:cNvPr id="47" name="Shape 45"/>
          <p:cNvSpPr/>
          <p:nvPr/>
        </p:nvSpPr>
        <p:spPr>
          <a:xfrm>
            <a:off x="2395728" y="4005072"/>
            <a:ext cx="137160" cy="137160"/>
          </a:xfrm>
          <a:prstGeom prst="ellipse">
            <a:avLst/>
          </a:prstGeom>
          <a:solidFill>
            <a:srgbClr val="F59E0B"/>
          </a:solidFill>
          <a:ln w="12700">
            <a:solidFill>
              <a:srgbClr val="F59E0B"/>
            </a:solidFill>
            <a:prstDash val="solid"/>
          </a:ln>
        </p:spPr>
        <p:txBody>
          <a:bodyPr/>
          <a:lstStyle/>
          <a:p>
            <a:endParaRPr lang="en-US"/>
          </a:p>
        </p:txBody>
      </p:sp>
      <p:sp>
        <p:nvSpPr>
          <p:cNvPr id="48" name="Text 46"/>
          <p:cNvSpPr/>
          <p:nvPr/>
        </p:nvSpPr>
        <p:spPr>
          <a:xfrm>
            <a:off x="2560320" y="3822192"/>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Good — Ads Manager ($500 min)</a:t>
            </a:r>
            <a:endParaRPr lang="en-US" sz="850" dirty="0"/>
          </a:p>
        </p:txBody>
      </p:sp>
      <p:sp>
        <p:nvSpPr>
          <p:cNvPr id="49" name="Shape 47"/>
          <p:cNvSpPr/>
          <p:nvPr/>
        </p:nvSpPr>
        <p:spPr>
          <a:xfrm>
            <a:off x="4096512" y="4005072"/>
            <a:ext cx="137160" cy="137160"/>
          </a:xfrm>
          <a:prstGeom prst="ellipse">
            <a:avLst/>
          </a:prstGeom>
          <a:solidFill>
            <a:srgbClr val="22C55E"/>
          </a:solidFill>
          <a:ln w="12700">
            <a:solidFill>
              <a:srgbClr val="22C55E"/>
            </a:solidFill>
            <a:prstDash val="solid"/>
          </a:ln>
        </p:spPr>
        <p:txBody>
          <a:bodyPr/>
          <a:lstStyle/>
          <a:p>
            <a:endParaRPr lang="en-US"/>
          </a:p>
        </p:txBody>
      </p:sp>
      <p:sp>
        <p:nvSpPr>
          <p:cNvPr id="50" name="Text 48"/>
          <p:cNvSpPr/>
          <p:nvPr/>
        </p:nvSpPr>
        <p:spPr>
          <a:xfrm>
            <a:off x="4261104" y="3822192"/>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Strong + Comcast SMB deal</a:t>
            </a:r>
            <a:endParaRPr lang="en-US" sz="850" dirty="0"/>
          </a:p>
        </p:txBody>
      </p:sp>
      <p:sp>
        <p:nvSpPr>
          <p:cNvPr id="51" name="Shape 49"/>
          <p:cNvSpPr/>
          <p:nvPr/>
        </p:nvSpPr>
        <p:spPr>
          <a:xfrm>
            <a:off x="5797296" y="4005072"/>
            <a:ext cx="137160" cy="137160"/>
          </a:xfrm>
          <a:prstGeom prst="ellipse">
            <a:avLst/>
          </a:prstGeom>
          <a:solidFill>
            <a:srgbClr val="EF4444"/>
          </a:solidFill>
          <a:ln w="12700">
            <a:solidFill>
              <a:srgbClr val="EF4444"/>
            </a:solidFill>
            <a:prstDash val="solid"/>
          </a:ln>
        </p:spPr>
        <p:txBody>
          <a:bodyPr/>
          <a:lstStyle/>
          <a:p>
            <a:endParaRPr lang="en-US"/>
          </a:p>
        </p:txBody>
      </p:sp>
      <p:sp>
        <p:nvSpPr>
          <p:cNvPr id="52" name="Text 50"/>
          <p:cNvSpPr/>
          <p:nvPr/>
        </p:nvSpPr>
        <p:spPr>
          <a:xfrm>
            <a:off x="5961888" y="3822192"/>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Limited</a:t>
            </a:r>
            <a:endParaRPr lang="en-US" sz="850" dirty="0"/>
          </a:p>
        </p:txBody>
      </p:sp>
      <p:sp>
        <p:nvSpPr>
          <p:cNvPr id="53" name="Shape 51"/>
          <p:cNvSpPr/>
          <p:nvPr/>
        </p:nvSpPr>
        <p:spPr>
          <a:xfrm>
            <a:off x="7498080" y="4005072"/>
            <a:ext cx="137160" cy="137160"/>
          </a:xfrm>
          <a:prstGeom prst="ellipse">
            <a:avLst/>
          </a:prstGeom>
          <a:solidFill>
            <a:srgbClr val="22C55E"/>
          </a:solidFill>
          <a:ln w="12700">
            <a:solidFill>
              <a:srgbClr val="22C55E"/>
            </a:solidFill>
            <a:prstDash val="solid"/>
          </a:ln>
        </p:spPr>
        <p:txBody>
          <a:bodyPr/>
          <a:lstStyle/>
          <a:p>
            <a:endParaRPr lang="en-US"/>
          </a:p>
        </p:txBody>
      </p:sp>
      <p:sp>
        <p:nvSpPr>
          <p:cNvPr id="54" name="Text 52"/>
          <p:cNvSpPr/>
          <p:nvPr/>
        </p:nvSpPr>
        <p:spPr>
          <a:xfrm>
            <a:off x="7662672" y="3822192"/>
            <a:ext cx="1325880" cy="5669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Best — $0 min, YouTube Studio</a:t>
            </a:r>
            <a:endParaRPr lang="en-US" sz="850" dirty="0"/>
          </a:p>
        </p:txBody>
      </p:sp>
      <p:sp>
        <p:nvSpPr>
          <p:cNvPr id="55" name="Text 53"/>
          <p:cNvSpPr/>
          <p:nvPr/>
        </p:nvSpPr>
        <p:spPr>
          <a:xfrm>
            <a:off x="411480" y="4645152"/>
            <a:ext cx="182880" cy="146304"/>
          </a:xfrm>
          <a:prstGeom prst="rect">
            <a:avLst/>
          </a:prstGeom>
          <a:noFill/>
          <a:ln/>
        </p:spPr>
        <p:txBody>
          <a:bodyPr wrap="square" lIns="0" tIns="0" rIns="0" bIns="0" rtlCol="0" anchor="ctr"/>
          <a:lstStyle/>
          <a:p>
            <a:pPr marL="0" indent="0">
              <a:buNone/>
            </a:pPr>
            <a:r>
              <a:rPr lang="en-US" sz="1100" dirty="0">
                <a:solidFill>
                  <a:srgbClr val="22C55E"/>
                </a:solidFill>
              </a:rPr>
              <a:t>●</a:t>
            </a:r>
            <a:endParaRPr lang="en-US" sz="1100" dirty="0"/>
          </a:p>
        </p:txBody>
      </p:sp>
      <p:sp>
        <p:nvSpPr>
          <p:cNvPr id="56" name="Text 54"/>
          <p:cNvSpPr/>
          <p:nvPr/>
        </p:nvSpPr>
        <p:spPr>
          <a:xfrm>
            <a:off x="612648" y="4654296"/>
            <a:ext cx="1645920" cy="146304"/>
          </a:xfrm>
          <a:prstGeom prst="rect">
            <a:avLst/>
          </a:prstGeom>
          <a:noFill/>
          <a:ln/>
        </p:spPr>
        <p:txBody>
          <a:bodyPr wrap="square" lIns="0" tIns="0" rIns="0" bIns="0" rtlCol="0" anchor="ctr"/>
          <a:lstStyle/>
          <a:p>
            <a:pPr marL="0" indent="0">
              <a:buNone/>
            </a:pPr>
            <a:r>
              <a:rPr lang="en-US" sz="800" dirty="0">
                <a:solidFill>
                  <a:srgbClr val="555566"/>
                </a:solidFill>
                <a:latin typeface="Calibri" pitchFamily="34" charset="0"/>
                <a:ea typeface="Calibri" pitchFamily="34" charset="-122"/>
                <a:cs typeface="Calibri" pitchFamily="34" charset="-120"/>
              </a:rPr>
              <a:t>Strong</a:t>
            </a:r>
            <a:endParaRPr lang="en-US" sz="800" dirty="0"/>
          </a:p>
        </p:txBody>
      </p:sp>
      <p:sp>
        <p:nvSpPr>
          <p:cNvPr id="57" name="Text 55"/>
          <p:cNvSpPr/>
          <p:nvPr/>
        </p:nvSpPr>
        <p:spPr>
          <a:xfrm>
            <a:off x="2331720" y="4645152"/>
            <a:ext cx="182880" cy="146304"/>
          </a:xfrm>
          <a:prstGeom prst="rect">
            <a:avLst/>
          </a:prstGeom>
          <a:noFill/>
          <a:ln/>
        </p:spPr>
        <p:txBody>
          <a:bodyPr wrap="square" lIns="0" tIns="0" rIns="0" bIns="0" rtlCol="0" anchor="ctr"/>
          <a:lstStyle/>
          <a:p>
            <a:pPr marL="0" indent="0">
              <a:buNone/>
            </a:pPr>
            <a:r>
              <a:rPr lang="en-US" sz="1100" dirty="0">
                <a:solidFill>
                  <a:srgbClr val="F59E0B"/>
                </a:solidFill>
              </a:rPr>
              <a:t>●</a:t>
            </a:r>
            <a:endParaRPr lang="en-US" sz="1100" dirty="0"/>
          </a:p>
        </p:txBody>
      </p:sp>
      <p:sp>
        <p:nvSpPr>
          <p:cNvPr id="58" name="Text 56"/>
          <p:cNvSpPr/>
          <p:nvPr/>
        </p:nvSpPr>
        <p:spPr>
          <a:xfrm>
            <a:off x="2532888" y="4654296"/>
            <a:ext cx="1645920" cy="146304"/>
          </a:xfrm>
          <a:prstGeom prst="rect">
            <a:avLst/>
          </a:prstGeom>
          <a:noFill/>
          <a:ln/>
        </p:spPr>
        <p:txBody>
          <a:bodyPr wrap="square" lIns="0" tIns="0" rIns="0" bIns="0" rtlCol="0" anchor="ctr"/>
          <a:lstStyle/>
          <a:p>
            <a:pPr marL="0" indent="0">
              <a:buNone/>
            </a:pPr>
            <a:r>
              <a:rPr lang="en-US" sz="800" dirty="0">
                <a:solidFill>
                  <a:srgbClr val="555566"/>
                </a:solidFill>
                <a:latin typeface="Calibri" pitchFamily="34" charset="0"/>
                <a:ea typeface="Calibri" pitchFamily="34" charset="-122"/>
                <a:cs typeface="Calibri" pitchFamily="34" charset="-120"/>
              </a:rPr>
              <a:t>Partial / In Progress</a:t>
            </a:r>
            <a:endParaRPr lang="en-US" sz="800" dirty="0"/>
          </a:p>
        </p:txBody>
      </p:sp>
      <p:sp>
        <p:nvSpPr>
          <p:cNvPr id="59" name="Text 57"/>
          <p:cNvSpPr/>
          <p:nvPr/>
        </p:nvSpPr>
        <p:spPr>
          <a:xfrm>
            <a:off x="4251960" y="4645152"/>
            <a:ext cx="182880" cy="146304"/>
          </a:xfrm>
          <a:prstGeom prst="rect">
            <a:avLst/>
          </a:prstGeom>
          <a:noFill/>
          <a:ln/>
        </p:spPr>
        <p:txBody>
          <a:bodyPr wrap="square" lIns="0" tIns="0" rIns="0" bIns="0" rtlCol="0" anchor="ctr"/>
          <a:lstStyle/>
          <a:p>
            <a:pPr marL="0" indent="0">
              <a:buNone/>
            </a:pPr>
            <a:r>
              <a:rPr lang="en-US" sz="1100" dirty="0">
                <a:solidFill>
                  <a:srgbClr val="EF4444"/>
                </a:solidFill>
              </a:rPr>
              <a:t>●</a:t>
            </a:r>
            <a:endParaRPr lang="en-US" sz="1100" dirty="0"/>
          </a:p>
        </p:txBody>
      </p:sp>
      <p:sp>
        <p:nvSpPr>
          <p:cNvPr id="60" name="Text 58"/>
          <p:cNvSpPr/>
          <p:nvPr/>
        </p:nvSpPr>
        <p:spPr>
          <a:xfrm>
            <a:off x="4453128" y="4654296"/>
            <a:ext cx="1645920" cy="146304"/>
          </a:xfrm>
          <a:prstGeom prst="rect">
            <a:avLst/>
          </a:prstGeom>
          <a:noFill/>
          <a:ln/>
        </p:spPr>
        <p:txBody>
          <a:bodyPr wrap="square" lIns="0" tIns="0" rIns="0" bIns="0" rtlCol="0" anchor="ctr"/>
          <a:lstStyle/>
          <a:p>
            <a:pPr marL="0" indent="0">
              <a:buNone/>
            </a:pPr>
            <a:r>
              <a:rPr lang="en-US" sz="800" dirty="0">
                <a:solidFill>
                  <a:srgbClr val="555566"/>
                </a:solidFill>
                <a:latin typeface="Calibri" pitchFamily="34" charset="0"/>
                <a:ea typeface="Calibri" pitchFamily="34" charset="-122"/>
                <a:cs typeface="Calibri" pitchFamily="34" charset="-120"/>
              </a:rPr>
              <a:t>Limited</a:t>
            </a:r>
            <a:endParaRPr lang="en-US" sz="800" dirty="0"/>
          </a:p>
        </p:txBody>
      </p:sp>
      <p:sp>
        <p:nvSpPr>
          <p:cNvPr id="61" name="Shape 59"/>
          <p:cNvSpPr/>
          <p:nvPr/>
        </p:nvSpPr>
        <p:spPr>
          <a:xfrm>
            <a:off x="0" y="4844503"/>
            <a:ext cx="9144000" cy="27432"/>
          </a:xfrm>
          <a:prstGeom prst="rect">
            <a:avLst/>
          </a:prstGeom>
          <a:solidFill>
            <a:srgbClr val="E8D5F5"/>
          </a:solidFill>
          <a:ln w="12700">
            <a:solidFill>
              <a:srgbClr val="E8D5F5"/>
            </a:solidFill>
            <a:prstDash val="solid"/>
          </a:ln>
        </p:spPr>
        <p:txBody>
          <a:bodyPr/>
          <a:lstStyle/>
          <a:p>
            <a:endParaRPr lang="en-US"/>
          </a:p>
        </p:txBody>
      </p:sp>
      <p:sp>
        <p:nvSpPr>
          <p:cNvPr id="62" name="Text 60"/>
          <p:cNvSpPr/>
          <p:nvPr/>
        </p:nvSpPr>
        <p:spPr>
          <a:xfrm>
            <a:off x="411480" y="4881079"/>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8-K 2025  ·  Amazon NewFronts 2026  ·  Samsung NewFronts 2026  ·  Pixalate Q1 2026  ·  Strategus 2025</a:t>
            </a:r>
            <a:endParaRPr lang="en-US" sz="700" dirty="0"/>
          </a:p>
        </p:txBody>
      </p:sp>
      <p:sp>
        <p:nvSpPr>
          <p:cNvPr id="63" name="Text 61"/>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4 / 16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006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02336"/>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 Urgency Just Went Up</a:t>
            </a:r>
            <a:endParaRPr lang="en-US" sz="2600" dirty="0"/>
          </a:p>
        </p:txBody>
      </p:sp>
      <p:sp>
        <p:nvSpPr>
          <p:cNvPr id="3" name="Text 1"/>
          <p:cNvSpPr/>
          <p:nvPr/>
        </p:nvSpPr>
        <p:spPr>
          <a:xfrm>
            <a:off x="457200" y="658368"/>
            <a:ext cx="8229600" cy="237744"/>
          </a:xfrm>
          <a:prstGeom prst="rect">
            <a:avLst/>
          </a:prstGeom>
          <a:noFill/>
          <a:ln/>
        </p:spPr>
        <p:txBody>
          <a:bodyPr wrap="square" lIns="0" tIns="0" rIns="0" bIns="0" rtlCol="0" anchor="ctr"/>
          <a:lstStyle/>
          <a:p>
            <a:pPr marL="0" indent="0">
              <a:buNone/>
            </a:pPr>
            <a:r>
              <a:rPr lang="en-US" sz="1050" i="1" dirty="0">
                <a:solidFill>
                  <a:srgbClr val="C896F0"/>
                </a:solidFill>
                <a:latin typeface="Calibri" pitchFamily="34" charset="0"/>
                <a:ea typeface="Calibri" pitchFamily="34" charset="-122"/>
                <a:cs typeface="Calibri" pitchFamily="34" charset="-120"/>
              </a:rPr>
              <a:t>NewFronts 2026 — what Amazon and Samsung announced this week and why it directly threatens Roku's differentiation</a:t>
            </a:r>
            <a:endParaRPr lang="en-US" sz="1050" dirty="0"/>
          </a:p>
        </p:txBody>
      </p:sp>
      <p:sp>
        <p:nvSpPr>
          <p:cNvPr id="4" name="Shape 2"/>
          <p:cNvSpPr/>
          <p:nvPr/>
        </p:nvSpPr>
        <p:spPr>
          <a:xfrm>
            <a:off x="411480" y="1005840"/>
            <a:ext cx="3931920" cy="3602736"/>
          </a:xfrm>
          <a:prstGeom prst="rect">
            <a:avLst/>
          </a:prstGeom>
          <a:solidFill>
            <a:srgbClr val="1E0A38"/>
          </a:solidFill>
          <a:ln w="12700">
            <a:solidFill>
              <a:srgbClr val="5A2090"/>
            </a:solidFill>
            <a:prstDash val="solid"/>
          </a:ln>
        </p:spPr>
        <p:txBody>
          <a:bodyPr/>
          <a:lstStyle/>
          <a:p>
            <a:endParaRPr lang="en-US"/>
          </a:p>
        </p:txBody>
      </p:sp>
      <p:sp>
        <p:nvSpPr>
          <p:cNvPr id="5" name="Shape 3"/>
          <p:cNvSpPr/>
          <p:nvPr/>
        </p:nvSpPr>
        <p:spPr>
          <a:xfrm>
            <a:off x="411480" y="1005840"/>
            <a:ext cx="3931920" cy="329184"/>
          </a:xfrm>
          <a:prstGeom prst="rect">
            <a:avLst/>
          </a:prstGeom>
          <a:solidFill>
            <a:srgbClr val="2A0050"/>
          </a:solidFill>
          <a:ln w="12700">
            <a:solidFill>
              <a:srgbClr val="2A0050"/>
            </a:solidFill>
            <a:prstDash val="solid"/>
          </a:ln>
        </p:spPr>
        <p:txBody>
          <a:bodyPr/>
          <a:lstStyle/>
          <a:p>
            <a:endParaRPr lang="en-US"/>
          </a:p>
        </p:txBody>
      </p:sp>
      <p:sp>
        <p:nvSpPr>
          <p:cNvPr id="6" name="Text 4"/>
          <p:cNvSpPr/>
          <p:nvPr/>
        </p:nvSpPr>
        <p:spPr>
          <a:xfrm>
            <a:off x="539496" y="1051560"/>
            <a:ext cx="365760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Amazon Fire TV + DSP</a:t>
            </a:r>
            <a:endParaRPr lang="en-US" sz="1200" dirty="0"/>
          </a:p>
        </p:txBody>
      </p:sp>
      <p:sp>
        <p:nvSpPr>
          <p:cNvPr id="7" name="Text 5"/>
          <p:cNvSpPr/>
          <p:nvPr/>
        </p:nvSpPr>
        <p:spPr>
          <a:xfrm>
            <a:off x="539496" y="1426464"/>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740664" y="1426464"/>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Smartly integration brings AI-powered creative optimization to Fire TV + Prime Video — directly solving the creative production bottleneck Roku hasn't yet addressed for mid-market buyers.</a:t>
            </a:r>
            <a:endParaRPr lang="en-US" sz="850" dirty="0"/>
          </a:p>
        </p:txBody>
      </p:sp>
      <p:sp>
        <p:nvSpPr>
          <p:cNvPr id="9" name="Text 7"/>
          <p:cNvSpPr/>
          <p:nvPr/>
        </p:nvSpPr>
        <p:spPr>
          <a:xfrm>
            <a:off x="539496" y="2084832"/>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740664" y="2084832"/>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Comcast SMB deal unlocks premium Amazon streaming for local &amp; small business advertisers for the first time — threatening Roku Ads Manager's SMB growth story.</a:t>
            </a:r>
            <a:endParaRPr lang="en-US" sz="850" dirty="0"/>
          </a:p>
        </p:txBody>
      </p:sp>
      <p:sp>
        <p:nvSpPr>
          <p:cNvPr id="11" name="Text 9"/>
          <p:cNvSpPr/>
          <p:nvPr/>
        </p:nvSpPr>
        <p:spPr>
          <a:xfrm>
            <a:off x="539496" y="2743200"/>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740664" y="2743200"/>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Amazon's authenticated graph delivers a 42% lift in unique reach and 3× ROAS for advertisers — and Amazon controls that measurement narrative even on Roku inventory.</a:t>
            </a:r>
            <a:endParaRPr lang="en-US" sz="850" dirty="0"/>
          </a:p>
        </p:txBody>
      </p:sp>
      <p:sp>
        <p:nvSpPr>
          <p:cNvPr id="13" name="Text 11"/>
          <p:cNvSpPr/>
          <p:nvPr/>
        </p:nvSpPr>
        <p:spPr>
          <a:xfrm>
            <a:off x="539496" y="3401568"/>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740664" y="3401568"/>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Tubi Priority Access via Amazon DSP: Amazon can match 85% of Tubi's audience — one of the highest match rates across any publisher in their supply.</a:t>
            </a:r>
            <a:endParaRPr lang="en-US" sz="850" dirty="0"/>
          </a:p>
        </p:txBody>
      </p:sp>
      <p:sp>
        <p:nvSpPr>
          <p:cNvPr id="15" name="Shape 13"/>
          <p:cNvSpPr/>
          <p:nvPr/>
        </p:nvSpPr>
        <p:spPr>
          <a:xfrm>
            <a:off x="4754880" y="1005840"/>
            <a:ext cx="3931920" cy="3602736"/>
          </a:xfrm>
          <a:prstGeom prst="rect">
            <a:avLst/>
          </a:prstGeom>
          <a:solidFill>
            <a:srgbClr val="1E0A38"/>
          </a:solidFill>
          <a:ln w="12700">
            <a:solidFill>
              <a:srgbClr val="5A2090"/>
            </a:solidFill>
            <a:prstDash val="solid"/>
          </a:ln>
        </p:spPr>
        <p:txBody>
          <a:bodyPr/>
          <a:lstStyle/>
          <a:p>
            <a:endParaRPr lang="en-US"/>
          </a:p>
        </p:txBody>
      </p:sp>
      <p:sp>
        <p:nvSpPr>
          <p:cNvPr id="16" name="Shape 14"/>
          <p:cNvSpPr/>
          <p:nvPr/>
        </p:nvSpPr>
        <p:spPr>
          <a:xfrm>
            <a:off x="4754880" y="1005840"/>
            <a:ext cx="3931920" cy="329184"/>
          </a:xfrm>
          <a:prstGeom prst="rect">
            <a:avLst/>
          </a:prstGeom>
          <a:solidFill>
            <a:srgbClr val="2A0050"/>
          </a:solidFill>
          <a:ln w="12700">
            <a:solidFill>
              <a:srgbClr val="2A0050"/>
            </a:solidFill>
            <a:prstDash val="solid"/>
          </a:ln>
        </p:spPr>
        <p:txBody>
          <a:bodyPr/>
          <a:lstStyle/>
          <a:p>
            <a:endParaRPr lang="en-US"/>
          </a:p>
        </p:txBody>
      </p:sp>
      <p:sp>
        <p:nvSpPr>
          <p:cNvPr id="17" name="Text 15"/>
          <p:cNvSpPr/>
          <p:nvPr/>
        </p:nvSpPr>
        <p:spPr>
          <a:xfrm>
            <a:off x="4882896" y="1051560"/>
            <a:ext cx="365760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Samsung Performance TV</a:t>
            </a:r>
            <a:endParaRPr lang="en-US" sz="1200" dirty="0"/>
          </a:p>
        </p:txBody>
      </p:sp>
      <p:sp>
        <p:nvSpPr>
          <p:cNvPr id="18" name="Text 16"/>
          <p:cNvSpPr/>
          <p:nvPr/>
        </p:nvSpPr>
        <p:spPr>
          <a:xfrm>
            <a:off x="4882896" y="1426464"/>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5084064" y="1426464"/>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Full-funnel AI-powered ad platform launched at NewFronts — remote-enabled interactive ads via Amazon DSP launching July 2026. Direct competition with Roku's Action Ads.</a:t>
            </a:r>
            <a:endParaRPr lang="en-US" sz="850" dirty="0"/>
          </a:p>
        </p:txBody>
      </p:sp>
      <p:sp>
        <p:nvSpPr>
          <p:cNvPr id="20" name="Text 18"/>
          <p:cNvSpPr/>
          <p:nvPr/>
        </p:nvSpPr>
        <p:spPr>
          <a:xfrm>
            <a:off x="4882896" y="2084832"/>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5084064" y="2084832"/>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Samsung's interactive ads deliver 17× higher engagement than the industry average — a direct challenge to Roku's differentiated Action Ads story with advertisers.</a:t>
            </a:r>
            <a:endParaRPr lang="en-US" sz="850" dirty="0"/>
          </a:p>
        </p:txBody>
      </p:sp>
      <p:sp>
        <p:nvSpPr>
          <p:cNvPr id="22" name="Text 20"/>
          <p:cNvSpPr/>
          <p:nvPr/>
        </p:nvSpPr>
        <p:spPr>
          <a:xfrm>
            <a:off x="4882896" y="2743200"/>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5084064" y="2743200"/>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Samsung TV Plus now fully shoppable: Add to Cart, Send to Phone formats launching July — eroding Roku's first-mover advantage in commerce-enabled CTV.</a:t>
            </a:r>
            <a:endParaRPr lang="en-US" sz="850" dirty="0"/>
          </a:p>
        </p:txBody>
      </p:sp>
      <p:sp>
        <p:nvSpPr>
          <p:cNvPr id="24" name="Text 22"/>
          <p:cNvSpPr/>
          <p:nvPr/>
        </p:nvSpPr>
        <p:spPr>
          <a:xfrm>
            <a:off x="4882896" y="3401568"/>
            <a:ext cx="182880" cy="566928"/>
          </a:xfrm>
          <a:prstGeom prst="rect">
            <a:avLst/>
          </a:prstGeom>
          <a:noFill/>
          <a:ln/>
        </p:spPr>
        <p:txBody>
          <a:bodyPr wrap="square" lIns="0" tIns="0" rIns="0" bIns="0" rtlCol="0" anchor="t"/>
          <a:lstStyle/>
          <a:p>
            <a:pPr marL="0" indent="0">
              <a:buNone/>
            </a:pPr>
            <a:r>
              <a:rPr lang="en-US" sz="1100" dirty="0">
                <a:solidFill>
                  <a:srgbClr val="C896F0"/>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5084064" y="3401568"/>
            <a:ext cx="3529584" cy="603504"/>
          </a:xfrm>
          <a:prstGeom prst="rect">
            <a:avLst/>
          </a:prstGeom>
          <a:noFill/>
          <a:ln/>
        </p:spPr>
        <p:txBody>
          <a:bodyPr wrap="square" lIns="0" tIns="0" rIns="0" bIns="0" rtlCol="0" anchor="ctr"/>
          <a:lstStyle/>
          <a:p>
            <a:pPr marL="0" indent="0">
              <a:buNone/>
            </a:pPr>
            <a:r>
              <a:rPr lang="en-US" sz="850" dirty="0">
                <a:solidFill>
                  <a:srgbClr val="DDDDDD"/>
                </a:solidFill>
                <a:latin typeface="Calibri" pitchFamily="34" charset="0"/>
                <a:ea typeface="Calibri" pitchFamily="34" charset="-122"/>
                <a:cs typeface="Calibri" pitchFamily="34" charset="-120"/>
              </a:rPr>
              <a:t>100M+ monthly active global users, streaming hours up 25% YoY — Samsung has reached scale parity in the shoppable ad space.</a:t>
            </a:r>
            <a:endParaRPr lang="en-US" sz="850" dirty="0"/>
          </a:p>
        </p:txBody>
      </p:sp>
      <p:sp>
        <p:nvSpPr>
          <p:cNvPr id="26" name="Shape 24"/>
          <p:cNvSpPr/>
          <p:nvPr/>
        </p:nvSpPr>
        <p:spPr>
          <a:xfrm>
            <a:off x="0" y="4645152"/>
            <a:ext cx="9144000" cy="155448"/>
          </a:xfrm>
          <a:prstGeom prst="rect">
            <a:avLst/>
          </a:prstGeom>
          <a:solidFill>
            <a:srgbClr val="6F1AB1"/>
          </a:solidFill>
          <a:ln w="12700">
            <a:solidFill>
              <a:srgbClr val="6F1AB1"/>
            </a:solidFill>
            <a:prstDash val="solid"/>
          </a:ln>
        </p:spPr>
        <p:txBody>
          <a:bodyPr/>
          <a:lstStyle/>
          <a:p>
            <a:endParaRPr lang="en-US"/>
          </a:p>
        </p:txBody>
      </p:sp>
      <p:sp>
        <p:nvSpPr>
          <p:cNvPr id="27" name="Text 25"/>
          <p:cNvSpPr/>
          <p:nvPr/>
        </p:nvSpPr>
        <p:spPr>
          <a:xfrm>
            <a:off x="365760" y="4654296"/>
            <a:ext cx="8412480" cy="1371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Roku's interactive moat — built over 3 years — is now being replicated. The window to lead on experience is narrowing.</a:t>
            </a:r>
            <a:endParaRPr lang="en-US" sz="850" dirty="0"/>
          </a:p>
        </p:txBody>
      </p:sp>
      <p:sp>
        <p:nvSpPr>
          <p:cNvPr id="28" name="Shape 26"/>
          <p:cNvSpPr/>
          <p:nvPr/>
        </p:nvSpPr>
        <p:spPr>
          <a:xfrm>
            <a:off x="0" y="4773168"/>
            <a:ext cx="9144000" cy="27432"/>
          </a:xfrm>
          <a:prstGeom prst="rect">
            <a:avLst/>
          </a:prstGeom>
          <a:solidFill>
            <a:srgbClr val="5A2090"/>
          </a:solidFill>
          <a:ln w="12700">
            <a:solidFill>
              <a:srgbClr val="5A2090"/>
            </a:solidFill>
            <a:prstDash val="solid"/>
          </a:ln>
        </p:spPr>
        <p:txBody>
          <a:bodyPr/>
          <a:lstStyle/>
          <a:p>
            <a:endParaRPr lang="en-US"/>
          </a:p>
        </p:txBody>
      </p:sp>
      <p:sp>
        <p:nvSpPr>
          <p:cNvPr id="29" name="Text 27"/>
          <p:cNvSpPr/>
          <p:nvPr/>
        </p:nvSpPr>
        <p:spPr>
          <a:xfrm>
            <a:off x="411480" y="4809744"/>
            <a:ext cx="7772400" cy="182880"/>
          </a:xfrm>
          <a:prstGeom prst="rect">
            <a:avLst/>
          </a:prstGeom>
          <a:noFill/>
          <a:ln/>
        </p:spPr>
        <p:txBody>
          <a:bodyPr wrap="square" lIns="0" tIns="0" rIns="0" bIns="0" rtlCol="0" anchor="ctr"/>
          <a:lstStyle/>
          <a:p>
            <a:pPr marL="0" indent="0" algn="l">
              <a:buNone/>
            </a:pPr>
            <a:r>
              <a:rPr lang="en-US" sz="700" dirty="0">
                <a:solidFill>
                  <a:srgbClr val="BB99DD"/>
                </a:solidFill>
                <a:latin typeface="Calibri" pitchFamily="34" charset="0"/>
                <a:ea typeface="Calibri" pitchFamily="34" charset="-122"/>
                <a:cs typeface="Calibri" pitchFamily="34" charset="-120"/>
              </a:rPr>
              <a:t>Amazon NewFronts 2026  ·  Samsung NewFronts 2026  ·  Smartly x Amazon, Mar 2026  ·  StreamTV Insider, Mar 2026</a:t>
            </a:r>
            <a:endParaRPr lang="en-US" sz="700" dirty="0"/>
          </a:p>
        </p:txBody>
      </p:sp>
      <p:sp>
        <p:nvSpPr>
          <p:cNvPr id="30" name="Text 28"/>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9966CC"/>
                </a:solidFill>
                <a:latin typeface="Calibri" pitchFamily="34" charset="0"/>
                <a:ea typeface="Calibri" pitchFamily="34" charset="-122"/>
                <a:cs typeface="Calibri" pitchFamily="34" charset="-120"/>
              </a:rPr>
              <a:t>5 / 16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594360" y="25603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Roku's Ad Business — Context &amp; Stakes</a:t>
            </a:r>
            <a:endParaRPr lang="en-US" sz="2200" dirty="0"/>
          </a:p>
        </p:txBody>
      </p:sp>
      <p:sp>
        <p:nvSpPr>
          <p:cNvPr id="4" name="Text 2"/>
          <p:cNvSpPr/>
          <p:nvPr/>
        </p:nvSpPr>
        <p:spPr>
          <a:xfrm>
            <a:off x="594360" y="62179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Platform advertising revenue FY 2023–2025 (actuals, Roku 8-K) + the three gaps that put growth at risk</a:t>
            </a:r>
            <a:endParaRPr lang="en-US" sz="1000" dirty="0"/>
          </a:p>
        </p:txBody>
      </p:sp>
      <p:graphicFrame>
        <p:nvGraphicFramePr>
          <p:cNvPr id="5" name="Chart 0"/>
          <p:cNvGraphicFramePr/>
          <p:nvPr/>
        </p:nvGraphicFramePr>
        <p:xfrm>
          <a:off x="411480" y="969264"/>
          <a:ext cx="4114800" cy="28163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11480" y="3803904"/>
            <a:ext cx="4114800" cy="182880"/>
          </a:xfrm>
          <a:prstGeom prst="rect">
            <a:avLst/>
          </a:prstGeom>
          <a:noFill/>
          <a:ln/>
        </p:spPr>
        <p:txBody>
          <a:bodyPr wrap="square" lIns="0" tIns="0" rIns="0" bIns="0" rtlCol="0" anchor="ctr"/>
          <a:lstStyle/>
          <a:p>
            <a:pPr marL="0" indent="0" algn="ctr">
              <a:buNone/>
            </a:pPr>
            <a:r>
              <a:rPr lang="en-US" sz="800" i="1" dirty="0">
                <a:solidFill>
                  <a:srgbClr val="555566"/>
                </a:solidFill>
                <a:latin typeface="Calibri" pitchFamily="34" charset="0"/>
                <a:ea typeface="Calibri" pitchFamily="34" charset="-122"/>
                <a:cs typeface="Calibri" pitchFamily="34" charset="-120"/>
              </a:rPr>
              <a:t>Advertising Revenue — FY Actuals (Roku 8-K)</a:t>
            </a:r>
            <a:endParaRPr lang="en-US" sz="800" dirty="0"/>
          </a:p>
        </p:txBody>
      </p:sp>
      <p:sp>
        <p:nvSpPr>
          <p:cNvPr id="7" name="Text 4"/>
          <p:cNvSpPr/>
          <p:nvPr/>
        </p:nvSpPr>
        <p:spPr>
          <a:xfrm>
            <a:off x="411480" y="3986784"/>
            <a:ext cx="4114800" cy="182880"/>
          </a:xfrm>
          <a:prstGeom prst="rect">
            <a:avLst/>
          </a:prstGeom>
          <a:noFill/>
          <a:ln/>
        </p:spPr>
        <p:txBody>
          <a:bodyPr wrap="square" lIns="0" tIns="0" rIns="0" bIns="0" rtlCol="0" anchor="ctr"/>
          <a:lstStyle/>
          <a:p>
            <a:pPr marL="0" indent="0" algn="ctr">
              <a:buNone/>
            </a:pPr>
            <a:r>
              <a:rPr lang="en-US" sz="900" b="1" dirty="0">
                <a:solidFill>
                  <a:srgbClr val="6F1AB1"/>
                </a:solidFill>
                <a:latin typeface="Calibri" pitchFamily="34" charset="0"/>
                <a:ea typeface="Calibri" pitchFamily="34" charset="-122"/>
                <a:cs typeface="Calibri" pitchFamily="34" charset="-120"/>
              </a:rPr>
              <a:t>+13% YoY in FY 2025 — now $2.33B as a standalone segment</a:t>
            </a:r>
            <a:endParaRPr lang="en-US" sz="900" dirty="0"/>
          </a:p>
        </p:txBody>
      </p:sp>
      <p:sp>
        <p:nvSpPr>
          <p:cNvPr id="8" name="Text 5"/>
          <p:cNvSpPr/>
          <p:nvPr/>
        </p:nvSpPr>
        <p:spPr>
          <a:xfrm>
            <a:off x="4754880" y="969264"/>
            <a:ext cx="3977640" cy="256032"/>
          </a:xfrm>
          <a:prstGeom prst="rect">
            <a:avLst/>
          </a:prstGeom>
          <a:noFill/>
          <a:ln/>
        </p:spPr>
        <p:txBody>
          <a:bodyPr wrap="square" lIns="0" tIns="0" rIns="0" bIns="0" rtlCol="0" anchor="ctr"/>
          <a:lstStyle/>
          <a:p>
            <a:pPr marL="0" indent="0">
              <a:buNone/>
            </a:pPr>
            <a:r>
              <a:rPr lang="en-US" sz="1150" b="1" dirty="0">
                <a:solidFill>
                  <a:srgbClr val="3D0066"/>
                </a:solidFill>
                <a:latin typeface="Trebuchet MS" pitchFamily="34" charset="0"/>
                <a:ea typeface="Trebuchet MS" pitchFamily="34" charset="-122"/>
                <a:cs typeface="Trebuchet MS" pitchFamily="34" charset="-120"/>
              </a:rPr>
              <a:t>Three Gaps Threatening This Trajectory</a:t>
            </a:r>
            <a:endParaRPr lang="en-US" sz="1150" dirty="0"/>
          </a:p>
        </p:txBody>
      </p:sp>
      <p:sp>
        <p:nvSpPr>
          <p:cNvPr id="9" name="Shape 6"/>
          <p:cNvSpPr/>
          <p:nvPr/>
        </p:nvSpPr>
        <p:spPr>
          <a:xfrm>
            <a:off x="4754880" y="1298448"/>
            <a:ext cx="3977640" cy="768096"/>
          </a:xfrm>
          <a:prstGeom prst="rect">
            <a:avLst/>
          </a:prstGeom>
          <a:solidFill>
            <a:srgbClr val="F0EDF6"/>
          </a:solidFill>
          <a:ln w="12700">
            <a:solidFill>
              <a:srgbClr val="DDD8F0"/>
            </a:solidFill>
            <a:prstDash val="solid"/>
          </a:ln>
        </p:spPr>
        <p:txBody>
          <a:bodyPr/>
          <a:lstStyle/>
          <a:p>
            <a:endParaRPr lang="en-US"/>
          </a:p>
        </p:txBody>
      </p:sp>
      <p:sp>
        <p:nvSpPr>
          <p:cNvPr id="10" name="Shape 7"/>
          <p:cNvSpPr/>
          <p:nvPr/>
        </p:nvSpPr>
        <p:spPr>
          <a:xfrm>
            <a:off x="4754880" y="1298448"/>
            <a:ext cx="64008" cy="768096"/>
          </a:xfrm>
          <a:prstGeom prst="rect">
            <a:avLst/>
          </a:prstGeom>
          <a:solidFill>
            <a:srgbClr val="6F1AB1"/>
          </a:solidFill>
          <a:ln w="12700">
            <a:solidFill>
              <a:srgbClr val="6F1AB1"/>
            </a:solidFill>
            <a:prstDash val="solid"/>
          </a:ln>
        </p:spPr>
        <p:txBody>
          <a:bodyPr/>
          <a:lstStyle/>
          <a:p>
            <a:endParaRPr lang="en-US"/>
          </a:p>
        </p:txBody>
      </p:sp>
      <p:sp>
        <p:nvSpPr>
          <p:cNvPr id="11" name="Shape 8"/>
          <p:cNvSpPr/>
          <p:nvPr/>
        </p:nvSpPr>
        <p:spPr>
          <a:xfrm>
            <a:off x="4864608" y="1463040"/>
            <a:ext cx="365760" cy="365760"/>
          </a:xfrm>
          <a:prstGeom prst="ellipse">
            <a:avLst/>
          </a:prstGeom>
          <a:solidFill>
            <a:srgbClr val="6F1AB1"/>
          </a:solidFill>
          <a:ln w="12700">
            <a:solidFill>
              <a:srgbClr val="6F1AB1"/>
            </a:solidFill>
            <a:prstDash val="solid"/>
          </a:ln>
        </p:spPr>
        <p:txBody>
          <a:bodyPr/>
          <a:lstStyle/>
          <a:p>
            <a:endParaRPr lang="en-US"/>
          </a:p>
        </p:txBody>
      </p:sp>
      <p:sp>
        <p:nvSpPr>
          <p:cNvPr id="12" name="Text 9"/>
          <p:cNvSpPr/>
          <p:nvPr/>
        </p:nvSpPr>
        <p:spPr>
          <a:xfrm>
            <a:off x="4864608" y="1463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13" name="Text 10"/>
          <p:cNvSpPr/>
          <p:nvPr/>
        </p:nvSpPr>
        <p:spPr>
          <a:xfrm>
            <a:off x="5321808" y="1353312"/>
            <a:ext cx="3310128"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Relevance &amp; Frequency</a:t>
            </a:r>
            <a:endParaRPr lang="en-US" sz="1000" dirty="0"/>
          </a:p>
        </p:txBody>
      </p:sp>
      <p:sp>
        <p:nvSpPr>
          <p:cNvPr id="14" name="Text 11"/>
          <p:cNvSpPr/>
          <p:nvPr/>
        </p:nvSpPr>
        <p:spPr>
          <a:xfrm>
            <a:off x="5321808" y="1572768"/>
            <a:ext cx="3310128" cy="43891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Ad repetition without OS-level capping drives viewer revolt — flagged in Roku's own 2026 predictions as a churn risk.</a:t>
            </a:r>
            <a:endParaRPr lang="en-US" sz="850" dirty="0"/>
          </a:p>
        </p:txBody>
      </p:sp>
      <p:sp>
        <p:nvSpPr>
          <p:cNvPr id="15" name="Shape 12"/>
          <p:cNvSpPr/>
          <p:nvPr/>
        </p:nvSpPr>
        <p:spPr>
          <a:xfrm>
            <a:off x="4754880" y="2167128"/>
            <a:ext cx="3977640" cy="768096"/>
          </a:xfrm>
          <a:prstGeom prst="rect">
            <a:avLst/>
          </a:prstGeom>
          <a:solidFill>
            <a:srgbClr val="F0EDF6"/>
          </a:solidFill>
          <a:ln w="12700">
            <a:solidFill>
              <a:srgbClr val="DDD8F0"/>
            </a:solidFill>
            <a:prstDash val="solid"/>
          </a:ln>
        </p:spPr>
        <p:txBody>
          <a:bodyPr/>
          <a:lstStyle/>
          <a:p>
            <a:endParaRPr lang="en-US"/>
          </a:p>
        </p:txBody>
      </p:sp>
      <p:sp>
        <p:nvSpPr>
          <p:cNvPr id="16" name="Shape 13"/>
          <p:cNvSpPr/>
          <p:nvPr/>
        </p:nvSpPr>
        <p:spPr>
          <a:xfrm>
            <a:off x="4754880" y="2167128"/>
            <a:ext cx="64008" cy="768096"/>
          </a:xfrm>
          <a:prstGeom prst="rect">
            <a:avLst/>
          </a:prstGeom>
          <a:solidFill>
            <a:srgbClr val="662D91"/>
          </a:solidFill>
          <a:ln w="12700">
            <a:solidFill>
              <a:srgbClr val="662D91"/>
            </a:solidFill>
            <a:prstDash val="solid"/>
          </a:ln>
        </p:spPr>
        <p:txBody>
          <a:bodyPr/>
          <a:lstStyle/>
          <a:p>
            <a:endParaRPr lang="en-US"/>
          </a:p>
        </p:txBody>
      </p:sp>
      <p:sp>
        <p:nvSpPr>
          <p:cNvPr id="17" name="Shape 14"/>
          <p:cNvSpPr/>
          <p:nvPr/>
        </p:nvSpPr>
        <p:spPr>
          <a:xfrm>
            <a:off x="4864608" y="2331720"/>
            <a:ext cx="365760" cy="365760"/>
          </a:xfrm>
          <a:prstGeom prst="ellipse">
            <a:avLst/>
          </a:prstGeom>
          <a:solidFill>
            <a:srgbClr val="662D91"/>
          </a:solidFill>
          <a:ln w="12700">
            <a:solidFill>
              <a:srgbClr val="662D91"/>
            </a:solidFill>
            <a:prstDash val="solid"/>
          </a:ln>
        </p:spPr>
        <p:txBody>
          <a:bodyPr/>
          <a:lstStyle/>
          <a:p>
            <a:endParaRPr lang="en-US"/>
          </a:p>
        </p:txBody>
      </p:sp>
      <p:sp>
        <p:nvSpPr>
          <p:cNvPr id="18" name="Text 15"/>
          <p:cNvSpPr/>
          <p:nvPr/>
        </p:nvSpPr>
        <p:spPr>
          <a:xfrm>
            <a:off x="4864608" y="23317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9" name="Text 16"/>
          <p:cNvSpPr/>
          <p:nvPr/>
        </p:nvSpPr>
        <p:spPr>
          <a:xfrm>
            <a:off x="5321808" y="2221992"/>
            <a:ext cx="3310128"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Interactive Format Access</a:t>
            </a:r>
            <a:endParaRPr lang="en-US" sz="1000" dirty="0"/>
          </a:p>
        </p:txBody>
      </p:sp>
      <p:sp>
        <p:nvSpPr>
          <p:cNvPr id="20" name="Text 17"/>
          <p:cNvSpPr/>
          <p:nvPr/>
        </p:nvSpPr>
        <p:spPr>
          <a:xfrm>
            <a:off x="5321808" y="2441448"/>
            <a:ext cx="3310128" cy="43891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Action Ads work — but only enterprise brands can use them. 90% of Ads Manager advertisers lack the creative capacity.</a:t>
            </a:r>
            <a:endParaRPr lang="en-US" sz="850" dirty="0"/>
          </a:p>
        </p:txBody>
      </p:sp>
      <p:sp>
        <p:nvSpPr>
          <p:cNvPr id="21" name="Shape 18"/>
          <p:cNvSpPr/>
          <p:nvPr/>
        </p:nvSpPr>
        <p:spPr>
          <a:xfrm>
            <a:off x="4754880" y="3035808"/>
            <a:ext cx="3977640" cy="768096"/>
          </a:xfrm>
          <a:prstGeom prst="rect">
            <a:avLst/>
          </a:prstGeom>
          <a:solidFill>
            <a:srgbClr val="F0EDF6"/>
          </a:solidFill>
          <a:ln w="12700">
            <a:solidFill>
              <a:srgbClr val="DDD8F0"/>
            </a:solidFill>
            <a:prstDash val="solid"/>
          </a:ln>
        </p:spPr>
        <p:txBody>
          <a:bodyPr/>
          <a:lstStyle/>
          <a:p>
            <a:endParaRPr lang="en-US"/>
          </a:p>
        </p:txBody>
      </p:sp>
      <p:sp>
        <p:nvSpPr>
          <p:cNvPr id="22" name="Shape 19"/>
          <p:cNvSpPr/>
          <p:nvPr/>
        </p:nvSpPr>
        <p:spPr>
          <a:xfrm>
            <a:off x="4754880" y="3035808"/>
            <a:ext cx="64008" cy="768096"/>
          </a:xfrm>
          <a:prstGeom prst="rect">
            <a:avLst/>
          </a:prstGeom>
          <a:solidFill>
            <a:srgbClr val="9B51D9"/>
          </a:solidFill>
          <a:ln w="12700">
            <a:solidFill>
              <a:srgbClr val="9B51D9"/>
            </a:solidFill>
            <a:prstDash val="solid"/>
          </a:ln>
        </p:spPr>
        <p:txBody>
          <a:bodyPr/>
          <a:lstStyle/>
          <a:p>
            <a:endParaRPr lang="en-US"/>
          </a:p>
        </p:txBody>
      </p:sp>
      <p:sp>
        <p:nvSpPr>
          <p:cNvPr id="23" name="Shape 20"/>
          <p:cNvSpPr/>
          <p:nvPr/>
        </p:nvSpPr>
        <p:spPr>
          <a:xfrm>
            <a:off x="4864608" y="3200400"/>
            <a:ext cx="365760" cy="365760"/>
          </a:xfrm>
          <a:prstGeom prst="ellipse">
            <a:avLst/>
          </a:prstGeom>
          <a:solidFill>
            <a:srgbClr val="9B51D9"/>
          </a:solidFill>
          <a:ln w="12700">
            <a:solidFill>
              <a:srgbClr val="9B51D9"/>
            </a:solidFill>
            <a:prstDash val="solid"/>
          </a:ln>
        </p:spPr>
        <p:txBody>
          <a:bodyPr/>
          <a:lstStyle/>
          <a:p>
            <a:endParaRPr lang="en-US"/>
          </a:p>
        </p:txBody>
      </p:sp>
      <p:sp>
        <p:nvSpPr>
          <p:cNvPr id="24" name="Text 21"/>
          <p:cNvSpPr/>
          <p:nvPr/>
        </p:nvSpPr>
        <p:spPr>
          <a:xfrm>
            <a:off x="4864608" y="32004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25" name="Text 22"/>
          <p:cNvSpPr/>
          <p:nvPr/>
        </p:nvSpPr>
        <p:spPr>
          <a:xfrm>
            <a:off x="5321808" y="3090672"/>
            <a:ext cx="3310128"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Attribution &amp; Feedback Loop</a:t>
            </a:r>
            <a:endParaRPr lang="en-US" sz="1000" dirty="0"/>
          </a:p>
        </p:txBody>
      </p:sp>
      <p:sp>
        <p:nvSpPr>
          <p:cNvPr id="26" name="Text 23"/>
          <p:cNvSpPr/>
          <p:nvPr/>
        </p:nvSpPr>
        <p:spPr>
          <a:xfrm>
            <a:off x="5321808" y="3310128"/>
            <a:ext cx="3310128" cy="43891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Advertisers from Meta/Google expect real-time ROAS signals. Measurement lag risks budget flight to Amazon DSP.</a:t>
            </a:r>
            <a:endParaRPr lang="en-US" sz="850" dirty="0"/>
          </a:p>
        </p:txBody>
      </p:sp>
      <p:sp>
        <p:nvSpPr>
          <p:cNvPr id="27" name="Shape 24"/>
          <p:cNvSpPr/>
          <p:nvPr/>
        </p:nvSpPr>
        <p:spPr>
          <a:xfrm>
            <a:off x="0" y="4773168"/>
            <a:ext cx="9144000" cy="27432"/>
          </a:xfrm>
          <a:prstGeom prst="rect">
            <a:avLst/>
          </a:prstGeom>
          <a:solidFill>
            <a:srgbClr val="E8D5F5"/>
          </a:solidFill>
          <a:ln w="12700">
            <a:solidFill>
              <a:srgbClr val="E8D5F5"/>
            </a:solidFill>
            <a:prstDash val="solid"/>
          </a:ln>
        </p:spPr>
        <p:txBody>
          <a:bodyPr/>
          <a:lstStyle/>
          <a:p>
            <a:endParaRPr lang="en-US"/>
          </a:p>
        </p:txBody>
      </p:sp>
      <p:sp>
        <p:nvSpPr>
          <p:cNvPr id="28" name="Text 25"/>
          <p:cNvSpPr/>
          <p:nvPr/>
        </p:nvSpPr>
        <p:spPr>
          <a:xfrm>
            <a:off x="411480" y="4809744"/>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8-K FY 2025  ·  ppc.land, Apr 20 2026  ·  MacroTrends 2026  ·  Roku 2026 Predictions</a:t>
            </a:r>
            <a:endParaRPr lang="en-US" sz="700" dirty="0"/>
          </a:p>
        </p:txBody>
      </p:sp>
      <p:sp>
        <p:nvSpPr>
          <p:cNvPr id="29" name="Text 26"/>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6 / 16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146304"/>
            <a:ext cx="2743200" cy="237744"/>
          </a:xfrm>
          <a:prstGeom prst="roundRect">
            <a:avLst>
              <a:gd name="adj" fmla="val 15385"/>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411480" y="146304"/>
            <a:ext cx="274320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GAP 1 OF 3  —  THE ROOT CAUSE</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594360" y="45058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Relevance &amp; Frequency</a:t>
            </a:r>
            <a:endParaRPr lang="en-US" sz="2200" dirty="0"/>
          </a:p>
        </p:txBody>
      </p:sp>
      <p:sp>
        <p:nvSpPr>
          <p:cNvPr id="6" name="Text 4"/>
          <p:cNvSpPr/>
          <p:nvPr/>
        </p:nvSpPr>
        <p:spPr>
          <a:xfrm>
            <a:off x="594360" y="81634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100M households of first-party data — but viewers still see the same ad 4× an hour</a:t>
            </a:r>
            <a:endParaRPr lang="en-US" sz="1000" dirty="0"/>
          </a:p>
        </p:txBody>
      </p:sp>
      <p:sp>
        <p:nvSpPr>
          <p:cNvPr id="7" name="Text 5"/>
          <p:cNvSpPr/>
          <p:nvPr/>
        </p:nvSpPr>
        <p:spPr>
          <a:xfrm>
            <a:off x="411480" y="1364982"/>
            <a:ext cx="416052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Problem</a:t>
            </a:r>
            <a:endParaRPr lang="en-US" sz="1100" dirty="0"/>
          </a:p>
        </p:txBody>
      </p:sp>
      <p:sp>
        <p:nvSpPr>
          <p:cNvPr id="8" name="Text 6"/>
          <p:cNvSpPr/>
          <p:nvPr/>
        </p:nvSpPr>
        <p:spPr>
          <a:xfrm>
            <a:off x="411480" y="1444752"/>
            <a:ext cx="4160520" cy="2468880"/>
          </a:xfrm>
          <a:prstGeom prst="rect">
            <a:avLst/>
          </a:prstGeom>
          <a:noFill/>
          <a:ln/>
        </p:spPr>
        <p:txBody>
          <a:bodyPr wrap="square" lIns="0" tIns="0" rIns="0" bIns="0" rtlCol="0" anchor="ctr"/>
          <a:lstStyle/>
          <a:p>
            <a:pPr marL="0" indent="0">
              <a:buNone/>
            </a:pPr>
            <a:r>
              <a:rPr lang="en-US" sz="950" dirty="0">
                <a:solidFill>
                  <a:srgbClr val="555566"/>
                </a:solidFill>
                <a:latin typeface="Calibri" pitchFamily="34" charset="0"/>
                <a:ea typeface="Calibri" pitchFamily="34" charset="-122"/>
                <a:cs typeface="Calibri" pitchFamily="34" charset="-120"/>
              </a:rPr>
              <a:t>Frequency capping on Roku operates at the publisher level — not the OS level. A viewer watching Tubi, The Roku Channel, and Peacock in one evening can see the same ad 9 times with no cross-platform cap.</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Roku's own 2026 predictions warn that viewers will "revolt with their remotes" against egregious ad loads. Yet Roku's first-party data advantage — 145B streaming hours of viewing habits — is barely surfacing in the relevance of ads those viewers actually see.</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This is the root cause gap. Fixing frequency and relevance at the OS layer unlocks everything downstream.</a:t>
            </a:r>
            <a:endParaRPr lang="en-US" sz="950" dirty="0"/>
          </a:p>
        </p:txBody>
      </p:sp>
      <p:sp>
        <p:nvSpPr>
          <p:cNvPr id="9" name="Shape 7"/>
          <p:cNvSpPr/>
          <p:nvPr/>
        </p:nvSpPr>
        <p:spPr>
          <a:xfrm>
            <a:off x="411480" y="4059936"/>
            <a:ext cx="4160520" cy="841248"/>
          </a:xfrm>
          <a:prstGeom prst="rect">
            <a:avLst/>
          </a:prstGeom>
          <a:solidFill>
            <a:srgbClr val="E8D5F5"/>
          </a:solidFill>
          <a:ln w="12700">
            <a:solidFill>
              <a:srgbClr val="6F1AB1"/>
            </a:solidFill>
            <a:prstDash val="solid"/>
          </a:ln>
        </p:spPr>
        <p:txBody>
          <a:bodyPr/>
          <a:lstStyle/>
          <a:p>
            <a:endParaRPr lang="en-US"/>
          </a:p>
        </p:txBody>
      </p:sp>
      <p:sp>
        <p:nvSpPr>
          <p:cNvPr id="10" name="Shape 8"/>
          <p:cNvSpPr/>
          <p:nvPr/>
        </p:nvSpPr>
        <p:spPr>
          <a:xfrm>
            <a:off x="411480" y="4059936"/>
            <a:ext cx="64008" cy="841248"/>
          </a:xfrm>
          <a:prstGeom prst="rect">
            <a:avLst/>
          </a:prstGeom>
          <a:solidFill>
            <a:srgbClr val="6F1AB1"/>
          </a:solidFill>
          <a:ln w="12700">
            <a:solidFill>
              <a:srgbClr val="6F1AB1"/>
            </a:solidFill>
            <a:prstDash val="solid"/>
          </a:ln>
        </p:spPr>
        <p:txBody>
          <a:bodyPr/>
          <a:lstStyle/>
          <a:p>
            <a:endParaRPr lang="en-US"/>
          </a:p>
        </p:txBody>
      </p:sp>
      <p:sp>
        <p:nvSpPr>
          <p:cNvPr id="11" name="Text 9"/>
          <p:cNvSpPr/>
          <p:nvPr/>
        </p:nvSpPr>
        <p:spPr>
          <a:xfrm>
            <a:off x="548640" y="4114800"/>
            <a:ext cx="3959352" cy="566928"/>
          </a:xfrm>
          <a:prstGeom prst="rect">
            <a:avLst/>
          </a:prstGeom>
          <a:noFill/>
          <a:ln/>
        </p:spPr>
        <p:txBody>
          <a:bodyPr wrap="square" lIns="0" tIns="0" rIns="0" bIns="0" rtlCol="0" anchor="ctr"/>
          <a:lstStyle/>
          <a:p>
            <a:pPr marL="0" indent="0">
              <a:buNone/>
            </a:pPr>
            <a:r>
              <a:rPr lang="en-US" sz="850" i="1" dirty="0">
                <a:solidFill>
                  <a:srgbClr val="662D91"/>
                </a:solidFill>
                <a:latin typeface="Calibri" pitchFamily="34" charset="0"/>
                <a:ea typeface="Calibri" pitchFamily="34" charset="-122"/>
                <a:cs typeface="Calibri" pitchFamily="34" charset="-120"/>
              </a:rPr>
              <a:t>"Seeing the same insurance commercial four times in one hour makes a viewer feel like the channel is broken — or deliberately disrespectful of their time."</a:t>
            </a:r>
            <a:endParaRPr lang="en-US" sz="850" dirty="0"/>
          </a:p>
        </p:txBody>
      </p:sp>
      <p:sp>
        <p:nvSpPr>
          <p:cNvPr id="12" name="Text 10"/>
          <p:cNvSpPr/>
          <p:nvPr/>
        </p:nvSpPr>
        <p:spPr>
          <a:xfrm>
            <a:off x="548640" y="4700016"/>
            <a:ext cx="3959352" cy="164592"/>
          </a:xfrm>
          <a:prstGeom prst="rect">
            <a:avLst/>
          </a:prstGeom>
          <a:noFill/>
          <a:ln/>
        </p:spPr>
        <p:txBody>
          <a:bodyPr wrap="square" lIns="0" tIns="0" rIns="0" bIns="0" rtlCol="0" anchor="ctr"/>
          <a:lstStyle/>
          <a:p>
            <a:pPr marL="0" indent="0">
              <a:buNone/>
            </a:pPr>
            <a:r>
              <a:rPr lang="en-US" sz="750" dirty="0">
                <a:solidFill>
                  <a:srgbClr val="555566"/>
                </a:solidFill>
                <a:latin typeface="Calibri" pitchFamily="34" charset="0"/>
                <a:ea typeface="Calibri" pitchFamily="34" charset="-122"/>
                <a:cs typeface="Calibri" pitchFamily="34" charset="-120"/>
              </a:rPr>
              <a:t>— Lore, T. CompanionLink, Apr 2026</a:t>
            </a:r>
            <a:endParaRPr lang="en-US" sz="750" dirty="0"/>
          </a:p>
        </p:txBody>
      </p:sp>
      <p:sp>
        <p:nvSpPr>
          <p:cNvPr id="13" name="Text 11"/>
          <p:cNvSpPr/>
          <p:nvPr/>
        </p:nvSpPr>
        <p:spPr>
          <a:xfrm>
            <a:off x="4754880" y="1170432"/>
            <a:ext cx="397764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Evidence</a:t>
            </a:r>
            <a:endParaRPr lang="en-US" sz="1100" dirty="0"/>
          </a:p>
        </p:txBody>
      </p:sp>
      <p:sp>
        <p:nvSpPr>
          <p:cNvPr id="14" name="Shape 12"/>
          <p:cNvSpPr/>
          <p:nvPr/>
        </p:nvSpPr>
        <p:spPr>
          <a:xfrm>
            <a:off x="475488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5" name="Text 13"/>
          <p:cNvSpPr/>
          <p:nvPr/>
        </p:nvSpPr>
        <p:spPr>
          <a:xfrm>
            <a:off x="475488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83%</a:t>
            </a:r>
            <a:endParaRPr lang="en-US" sz="2800" dirty="0"/>
          </a:p>
        </p:txBody>
      </p:sp>
      <p:sp>
        <p:nvSpPr>
          <p:cNvPr id="16" name="Text 14"/>
          <p:cNvSpPr/>
          <p:nvPr/>
        </p:nvSpPr>
        <p:spPr>
          <a:xfrm>
            <a:off x="484632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of viewers value personalized ads — but only 34% pay attention to them</a:t>
            </a:r>
            <a:endParaRPr lang="en-US" sz="850" dirty="0"/>
          </a:p>
        </p:txBody>
      </p:sp>
      <p:sp>
        <p:nvSpPr>
          <p:cNvPr id="17" name="Shape 15"/>
          <p:cNvSpPr/>
          <p:nvPr/>
        </p:nvSpPr>
        <p:spPr>
          <a:xfrm>
            <a:off x="672084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8" name="Text 16"/>
          <p:cNvSpPr/>
          <p:nvPr/>
        </p:nvSpPr>
        <p:spPr>
          <a:xfrm>
            <a:off x="672084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7.09×</a:t>
            </a:r>
            <a:endParaRPr lang="en-US" sz="2800" dirty="0"/>
          </a:p>
        </p:txBody>
      </p:sp>
      <p:sp>
        <p:nvSpPr>
          <p:cNvPr id="19" name="Text 17"/>
          <p:cNvSpPr/>
          <p:nvPr/>
        </p:nvSpPr>
        <p:spPr>
          <a:xfrm>
            <a:off x="681228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avg CTV campaign frequency — with only 19.6% household reach</a:t>
            </a:r>
            <a:endParaRPr lang="en-US" sz="850" dirty="0"/>
          </a:p>
        </p:txBody>
      </p:sp>
      <p:sp>
        <p:nvSpPr>
          <p:cNvPr id="20" name="Shape 18"/>
          <p:cNvSpPr/>
          <p:nvPr/>
        </p:nvSpPr>
        <p:spPr>
          <a:xfrm>
            <a:off x="475488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1" name="Text 19"/>
          <p:cNvSpPr/>
          <p:nvPr/>
        </p:nvSpPr>
        <p:spPr>
          <a:xfrm>
            <a:off x="475488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96%</a:t>
            </a:r>
            <a:endParaRPr lang="en-US" sz="2800" dirty="0"/>
          </a:p>
        </p:txBody>
      </p:sp>
      <p:sp>
        <p:nvSpPr>
          <p:cNvPr id="22" name="Text 20"/>
          <p:cNvSpPr/>
          <p:nvPr/>
        </p:nvSpPr>
        <p:spPr>
          <a:xfrm>
            <a:off x="484632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of Roku households see video ads — repetition is the #1 churn trigger</a:t>
            </a:r>
            <a:endParaRPr lang="en-US" sz="850" dirty="0"/>
          </a:p>
        </p:txBody>
      </p:sp>
      <p:sp>
        <p:nvSpPr>
          <p:cNvPr id="23" name="Shape 21"/>
          <p:cNvSpPr/>
          <p:nvPr/>
        </p:nvSpPr>
        <p:spPr>
          <a:xfrm>
            <a:off x="672084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4" name="Text 22"/>
          <p:cNvSpPr/>
          <p:nvPr/>
        </p:nvSpPr>
        <p:spPr>
          <a:xfrm>
            <a:off x="672084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20 min</a:t>
            </a:r>
            <a:endParaRPr lang="en-US" sz="2800" dirty="0"/>
          </a:p>
        </p:txBody>
      </p:sp>
      <p:sp>
        <p:nvSpPr>
          <p:cNvPr id="25" name="Text 23"/>
          <p:cNvSpPr/>
          <p:nvPr/>
        </p:nvSpPr>
        <p:spPr>
          <a:xfrm>
            <a:off x="681228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avg time viewers spend finding content — relevance gap extends beyond ads</a:t>
            </a:r>
            <a:endParaRPr lang="en-US" sz="850" dirty="0"/>
          </a:p>
        </p:txBody>
      </p:sp>
      <p:sp>
        <p:nvSpPr>
          <p:cNvPr id="26" name="Shape 24"/>
          <p:cNvSpPr/>
          <p:nvPr/>
        </p:nvSpPr>
        <p:spPr>
          <a:xfrm flipV="1">
            <a:off x="4581143" y="4658866"/>
            <a:ext cx="4562857" cy="45719"/>
          </a:xfrm>
          <a:prstGeom prst="rect">
            <a:avLst/>
          </a:prstGeom>
          <a:solidFill>
            <a:srgbClr val="E8D5F5"/>
          </a:solidFill>
          <a:ln w="12700">
            <a:solidFill>
              <a:srgbClr val="E8D5F5"/>
            </a:solidFill>
            <a:prstDash val="solid"/>
          </a:ln>
        </p:spPr>
        <p:txBody>
          <a:bodyPr/>
          <a:lstStyle/>
          <a:p>
            <a:endParaRPr lang="en-US"/>
          </a:p>
        </p:txBody>
      </p:sp>
      <p:sp>
        <p:nvSpPr>
          <p:cNvPr id="27" name="Text 25"/>
          <p:cNvSpPr/>
          <p:nvPr/>
        </p:nvSpPr>
        <p:spPr>
          <a:xfrm>
            <a:off x="411480" y="4963538"/>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Dentsu x Roku Study, Jun 2025  ·  Innovid CTV Insights 2025  ·  Roku 2026 Predictions  ·  Lore, T., CompanionLink, Apr 2026</a:t>
            </a:r>
            <a:endParaRPr lang="en-US" sz="700" dirty="0"/>
          </a:p>
        </p:txBody>
      </p:sp>
      <p:sp>
        <p:nvSpPr>
          <p:cNvPr id="28" name="Text 26"/>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7 / 16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74969"/>
            <a:ext cx="1554480" cy="237744"/>
          </a:xfrm>
          <a:prstGeom prst="roundRect">
            <a:avLst>
              <a:gd name="adj" fmla="val 15385"/>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411480" y="81714"/>
            <a:ext cx="155448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OPPORTUNITY 1</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594360" y="25603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Intelligent Ad Frequency at the OS Layer</a:t>
            </a:r>
            <a:endParaRPr lang="en-US" sz="2200" dirty="0"/>
          </a:p>
        </p:txBody>
      </p:sp>
      <p:sp>
        <p:nvSpPr>
          <p:cNvPr id="6" name="Text 4"/>
          <p:cNvSpPr/>
          <p:nvPr/>
        </p:nvSpPr>
        <p:spPr>
          <a:xfrm>
            <a:off x="594360" y="62179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Turn Roku's data moat into a viewer experience moat — no individual publisher can replicate this</a:t>
            </a:r>
            <a:endParaRPr lang="en-US" sz="1000" dirty="0"/>
          </a:p>
        </p:txBody>
      </p:sp>
      <p:sp>
        <p:nvSpPr>
          <p:cNvPr id="7" name="Text 5"/>
          <p:cNvSpPr/>
          <p:nvPr/>
        </p:nvSpPr>
        <p:spPr>
          <a:xfrm>
            <a:off x="411480" y="969264"/>
            <a:ext cx="8321040" cy="201168"/>
          </a:xfrm>
          <a:prstGeom prst="rect">
            <a:avLst/>
          </a:prstGeom>
          <a:noFill/>
          <a:ln/>
        </p:spPr>
        <p:txBody>
          <a:bodyPr wrap="square" lIns="0" tIns="0" rIns="0" bIns="0" rtlCol="0" anchor="ctr"/>
          <a:lstStyle/>
          <a:p>
            <a:pPr marL="0" indent="0">
              <a:buNone/>
            </a:pPr>
            <a:r>
              <a:rPr lang="en-US" sz="1000" b="1" dirty="0">
                <a:solidFill>
                  <a:srgbClr val="6F1AB1"/>
                </a:solidFill>
                <a:latin typeface="Trebuchet MS" pitchFamily="34" charset="0"/>
                <a:ea typeface="Trebuchet MS" pitchFamily="34" charset="-122"/>
                <a:cs typeface="Trebuchet MS" pitchFamily="34" charset="-120"/>
              </a:rPr>
              <a:t>The Big Idea</a:t>
            </a:r>
            <a:endParaRPr lang="en-US" sz="1000" dirty="0"/>
          </a:p>
        </p:txBody>
      </p:sp>
      <p:sp>
        <p:nvSpPr>
          <p:cNvPr id="8" name="Text 6"/>
          <p:cNvSpPr/>
          <p:nvPr/>
        </p:nvSpPr>
        <p:spPr>
          <a:xfrm>
            <a:off x="411480" y="1152144"/>
            <a:ext cx="8321040" cy="292608"/>
          </a:xfrm>
          <a:prstGeom prst="rect">
            <a:avLst/>
          </a:prstGeom>
          <a:noFill/>
          <a:ln/>
        </p:spPr>
        <p:txBody>
          <a:bodyPr wrap="square" lIns="0" tIns="0" rIns="0" bIns="0" rtlCol="0" anchor="ctr"/>
          <a:lstStyle/>
          <a:p>
            <a:pPr marL="0" indent="0">
              <a:buNone/>
            </a:pPr>
            <a:r>
              <a:rPr lang="en-US" sz="950" i="1" dirty="0">
                <a:solidFill>
                  <a:srgbClr val="555566"/>
                </a:solidFill>
                <a:latin typeface="Calibri" pitchFamily="34" charset="0"/>
                <a:ea typeface="Calibri" pitchFamily="34" charset="-122"/>
                <a:cs typeface="Calibri" pitchFamily="34" charset="-120"/>
              </a:rPr>
              <a:t>Roku uses its unique OS-level position to enforce cross-app frequency caps and serve relevance signals that no individual publisher can replicate — protecting viewer experience while preserving advertiser reach.</a:t>
            </a:r>
            <a:endParaRPr lang="en-US" sz="950" dirty="0"/>
          </a:p>
        </p:txBody>
      </p:sp>
      <p:sp>
        <p:nvSpPr>
          <p:cNvPr id="9" name="Shape 7"/>
          <p:cNvSpPr/>
          <p:nvPr/>
        </p:nvSpPr>
        <p:spPr>
          <a:xfrm>
            <a:off x="411480" y="1481328"/>
            <a:ext cx="8321040" cy="27432"/>
          </a:xfrm>
          <a:prstGeom prst="rect">
            <a:avLst/>
          </a:prstGeom>
          <a:solidFill>
            <a:srgbClr val="E8D5F5"/>
          </a:solidFill>
          <a:ln w="12700">
            <a:solidFill>
              <a:srgbClr val="E8D5F5"/>
            </a:solidFill>
            <a:prstDash val="solid"/>
          </a:ln>
        </p:spPr>
        <p:txBody>
          <a:bodyPr/>
          <a:lstStyle/>
          <a:p>
            <a:endParaRPr lang="en-US"/>
          </a:p>
        </p:txBody>
      </p:sp>
      <p:sp>
        <p:nvSpPr>
          <p:cNvPr id="10" name="Text 8"/>
          <p:cNvSpPr/>
          <p:nvPr/>
        </p:nvSpPr>
        <p:spPr>
          <a:xfrm>
            <a:off x="411480" y="1572768"/>
            <a:ext cx="3657600" cy="219456"/>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Options to Explore</a:t>
            </a:r>
            <a:endParaRPr lang="en-US" sz="1100" dirty="0"/>
          </a:p>
        </p:txBody>
      </p:sp>
      <p:sp>
        <p:nvSpPr>
          <p:cNvPr id="11" name="Shape 9"/>
          <p:cNvSpPr/>
          <p:nvPr/>
        </p:nvSpPr>
        <p:spPr>
          <a:xfrm>
            <a:off x="411480"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2" name="Shape 10"/>
          <p:cNvSpPr/>
          <p:nvPr/>
        </p:nvSpPr>
        <p:spPr>
          <a:xfrm>
            <a:off x="411480"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3" name="Text 11"/>
          <p:cNvSpPr/>
          <p:nvPr/>
        </p:nvSpPr>
        <p:spPr>
          <a:xfrm>
            <a:off x="502920"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Cross-App Frequency Cap</a:t>
            </a:r>
            <a:endParaRPr lang="en-US" sz="950" dirty="0"/>
          </a:p>
        </p:txBody>
      </p:sp>
      <p:sp>
        <p:nvSpPr>
          <p:cNvPr id="14" name="Text 12"/>
          <p:cNvSpPr/>
          <p:nvPr/>
        </p:nvSpPr>
        <p:spPr>
          <a:xfrm>
            <a:off x="502920"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OS-level intelligence caps ad repetition across all Roku apps — not just per publisher. Viewer sees a given creative max 2× per session regardless of which app served it. No competitor without OS-level control can match this.</a:t>
            </a:r>
            <a:endParaRPr lang="en-US" sz="850" dirty="0"/>
          </a:p>
        </p:txBody>
      </p:sp>
      <p:sp>
        <p:nvSpPr>
          <p:cNvPr id="15" name="Shape 13"/>
          <p:cNvSpPr/>
          <p:nvPr/>
        </p:nvSpPr>
        <p:spPr>
          <a:xfrm>
            <a:off x="3127248"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6" name="Shape 14"/>
          <p:cNvSpPr/>
          <p:nvPr/>
        </p:nvSpPr>
        <p:spPr>
          <a:xfrm>
            <a:off x="3127248"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7" name="Text 15"/>
          <p:cNvSpPr/>
          <p:nvPr/>
        </p:nvSpPr>
        <p:spPr>
          <a:xfrm>
            <a:off x="3218688"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Relevance Score Engine</a:t>
            </a:r>
            <a:endParaRPr lang="en-US" sz="950" dirty="0"/>
          </a:p>
        </p:txBody>
      </p:sp>
      <p:sp>
        <p:nvSpPr>
          <p:cNvPr id="18" name="Text 16"/>
          <p:cNvSpPr/>
          <p:nvPr/>
        </p:nvSpPr>
        <p:spPr>
          <a:xfrm>
            <a:off x="3218688"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Surface Roku's first-party data (viewing history, genre affinity, time-of-day behavior) to advertisers in Ads Manager as a targeting signal — making campaigns smarter without requiring additional creative production.</a:t>
            </a:r>
            <a:endParaRPr lang="en-US" sz="850" dirty="0"/>
          </a:p>
        </p:txBody>
      </p:sp>
      <p:sp>
        <p:nvSpPr>
          <p:cNvPr id="19" name="Shape 17"/>
          <p:cNvSpPr/>
          <p:nvPr/>
        </p:nvSpPr>
        <p:spPr>
          <a:xfrm>
            <a:off x="5833872"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20" name="Shape 18"/>
          <p:cNvSpPr/>
          <p:nvPr/>
        </p:nvSpPr>
        <p:spPr>
          <a:xfrm>
            <a:off x="5833872"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21" name="Text 19"/>
          <p:cNvSpPr/>
          <p:nvPr/>
        </p:nvSpPr>
        <p:spPr>
          <a:xfrm>
            <a:off x="5925312"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Creative Diversity Enforcement</a:t>
            </a:r>
            <a:endParaRPr lang="en-US" sz="950" dirty="0"/>
          </a:p>
        </p:txBody>
      </p:sp>
      <p:sp>
        <p:nvSpPr>
          <p:cNvPr id="22" name="Text 20"/>
          <p:cNvSpPr/>
          <p:nvPr/>
        </p:nvSpPr>
        <p:spPr>
          <a:xfrm>
            <a:off x="5925312"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Require minimum creative rotation thresholds for campaigns above a set impression frequency — incentivizing advertisers to build 2–3 variants and automatically reducing viewer fatigue at scale.</a:t>
            </a:r>
            <a:endParaRPr lang="en-US" sz="850" dirty="0"/>
          </a:p>
        </p:txBody>
      </p:sp>
      <p:sp>
        <p:nvSpPr>
          <p:cNvPr id="23" name="Shape 21"/>
          <p:cNvSpPr/>
          <p:nvPr/>
        </p:nvSpPr>
        <p:spPr>
          <a:xfrm>
            <a:off x="411480" y="3346704"/>
            <a:ext cx="8321040" cy="1170432"/>
          </a:xfrm>
          <a:prstGeom prst="rect">
            <a:avLst/>
          </a:prstGeom>
          <a:solidFill>
            <a:srgbClr val="F0EDF6"/>
          </a:solidFill>
          <a:ln w="12700">
            <a:solidFill>
              <a:srgbClr val="DDD8F0"/>
            </a:solidFill>
            <a:prstDash val="solid"/>
          </a:ln>
        </p:spPr>
        <p:txBody>
          <a:bodyPr/>
          <a:lstStyle/>
          <a:p>
            <a:endParaRPr lang="en-US"/>
          </a:p>
        </p:txBody>
      </p:sp>
      <p:sp>
        <p:nvSpPr>
          <p:cNvPr id="24" name="Text 22"/>
          <p:cNvSpPr/>
          <p:nvPr/>
        </p:nvSpPr>
        <p:spPr>
          <a:xfrm>
            <a:off x="566928" y="3410712"/>
            <a:ext cx="3200400"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How I'd Validate This</a:t>
            </a:r>
            <a:endParaRPr lang="en-US" sz="1000" dirty="0"/>
          </a:p>
        </p:txBody>
      </p:sp>
      <p:sp>
        <p:nvSpPr>
          <p:cNvPr id="25" name="Text 23"/>
          <p:cNvSpPr/>
          <p:nvPr/>
        </p:nvSpPr>
        <p:spPr>
          <a:xfrm>
            <a:off x="502920" y="3473228"/>
            <a:ext cx="8010144" cy="80467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  A/B test OS-level frequency cap (3×/session) vs. status quo on 500K households — measure session length, ad completion rate, and 30-day platform retention</a:t>
            </a:r>
            <a:endParaRPr lang="en-US" sz="850" dirty="0"/>
          </a:p>
          <a:p>
            <a:pPr marL="0" indent="0">
              <a:buNone/>
            </a:pPr>
            <a:r>
              <a:rPr lang="en-US" sz="850" dirty="0">
                <a:solidFill>
                  <a:srgbClr val="555566"/>
                </a:solidFill>
                <a:latin typeface="Calibri" pitchFamily="34" charset="0"/>
                <a:ea typeface="Calibri" pitchFamily="34" charset="-122"/>
                <a:cs typeface="Calibri" pitchFamily="34" charset="-120"/>
              </a:rPr>
              <a:t>→  Survey cohort on ad experience quality pre/post. Hypothesis: cap reduces irritation without measurably reducing advertiser reach at 3× threshold</a:t>
            </a:r>
            <a:endParaRPr lang="en-US" sz="850" dirty="0"/>
          </a:p>
        </p:txBody>
      </p:sp>
      <p:sp>
        <p:nvSpPr>
          <p:cNvPr id="26" name="Shape 24"/>
          <p:cNvSpPr/>
          <p:nvPr/>
        </p:nvSpPr>
        <p:spPr>
          <a:xfrm>
            <a:off x="411480" y="4292879"/>
            <a:ext cx="8321040" cy="512064"/>
          </a:xfrm>
          <a:prstGeom prst="rect">
            <a:avLst/>
          </a:prstGeom>
          <a:solidFill>
            <a:srgbClr val="FFF7ED"/>
          </a:solidFill>
          <a:ln w="12700">
            <a:solidFill>
              <a:srgbClr val="F59E0B"/>
            </a:solidFill>
            <a:prstDash val="solid"/>
          </a:ln>
        </p:spPr>
        <p:txBody>
          <a:bodyPr/>
          <a:lstStyle/>
          <a:p>
            <a:endParaRPr lang="en-US"/>
          </a:p>
        </p:txBody>
      </p:sp>
      <p:sp>
        <p:nvSpPr>
          <p:cNvPr id="27" name="Shape 25"/>
          <p:cNvSpPr/>
          <p:nvPr/>
        </p:nvSpPr>
        <p:spPr>
          <a:xfrm>
            <a:off x="411480" y="4292879"/>
            <a:ext cx="64008" cy="512064"/>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548640" y="4329455"/>
            <a:ext cx="1554480" cy="201168"/>
          </a:xfrm>
          <a:prstGeom prst="rect">
            <a:avLst/>
          </a:prstGeom>
          <a:noFill/>
          <a:ln/>
        </p:spPr>
        <p:txBody>
          <a:bodyPr wrap="square" lIns="0" tIns="0" rIns="0" bIns="0" rtlCol="0" anchor="ctr"/>
          <a:lstStyle/>
          <a:p>
            <a:pPr marL="0" indent="0">
              <a:buNone/>
            </a:pPr>
            <a:r>
              <a:rPr lang="en-US" sz="900" b="1" dirty="0">
                <a:solidFill>
                  <a:srgbClr val="92400E"/>
                </a:solidFill>
                <a:latin typeface="Trebuchet MS" pitchFamily="34" charset="0"/>
                <a:ea typeface="Trebuchet MS" pitchFamily="34" charset="-122"/>
                <a:cs typeface="Trebuchet MS" pitchFamily="34" charset="-120"/>
              </a:rPr>
              <a:t>⚠  Tradeoff to Navigate:</a:t>
            </a:r>
            <a:endParaRPr lang="en-US" sz="900" dirty="0"/>
          </a:p>
        </p:txBody>
      </p:sp>
      <p:sp>
        <p:nvSpPr>
          <p:cNvPr id="29" name="Text 27"/>
          <p:cNvSpPr/>
          <p:nvPr/>
        </p:nvSpPr>
        <p:spPr>
          <a:xfrm>
            <a:off x="2121408" y="4329455"/>
            <a:ext cx="6492240" cy="402336"/>
          </a:xfrm>
          <a:prstGeom prst="rect">
            <a:avLst/>
          </a:prstGeom>
          <a:noFill/>
          <a:ln/>
        </p:spPr>
        <p:txBody>
          <a:bodyPr wrap="square" lIns="0" tIns="0" rIns="0" bIns="0" rtlCol="0" anchor="ctr"/>
          <a:lstStyle/>
          <a:p>
            <a:pPr marL="0" indent="0">
              <a:buNone/>
            </a:pPr>
            <a:r>
              <a:rPr lang="en-US" sz="850" dirty="0">
                <a:solidFill>
                  <a:srgbClr val="92400E"/>
                </a:solidFill>
                <a:latin typeface="Calibri" pitchFamily="34" charset="0"/>
                <a:ea typeface="Calibri" pitchFamily="34" charset="-122"/>
                <a:cs typeface="Calibri" pitchFamily="34" charset="-120"/>
              </a:rPr>
              <a:t>Publisher contracts may guarantee minimum ad fill rates — OS-level capping could force Roku to absorb unsold inventory or renegotiate deals with FAST partners like Tubi and Peacock. This is the deepest internal tension: publisher revenue vs. viewer experience. Resolution requires a tiered rollout starting with owned-and-operated inventory (The Roku Channel) before expanding to third-party publishers.</a:t>
            </a:r>
            <a:endParaRPr lang="en-US" sz="850" dirty="0"/>
          </a:p>
        </p:txBody>
      </p:sp>
      <p:sp>
        <p:nvSpPr>
          <p:cNvPr id="30" name="Shape 28"/>
          <p:cNvSpPr/>
          <p:nvPr/>
        </p:nvSpPr>
        <p:spPr>
          <a:xfrm>
            <a:off x="0" y="4896383"/>
            <a:ext cx="9144000" cy="27432"/>
          </a:xfrm>
          <a:prstGeom prst="rect">
            <a:avLst/>
          </a:prstGeom>
          <a:solidFill>
            <a:srgbClr val="E8D5F5"/>
          </a:solidFill>
          <a:ln w="12700">
            <a:solidFill>
              <a:srgbClr val="E8D5F5"/>
            </a:solidFill>
            <a:prstDash val="solid"/>
          </a:ln>
        </p:spPr>
        <p:txBody>
          <a:bodyPr/>
          <a:lstStyle/>
          <a:p>
            <a:endParaRPr lang="en-US"/>
          </a:p>
        </p:txBody>
      </p:sp>
      <p:sp>
        <p:nvSpPr>
          <p:cNvPr id="31" name="Text 29"/>
          <p:cNvSpPr/>
          <p:nvPr/>
        </p:nvSpPr>
        <p:spPr>
          <a:xfrm>
            <a:off x="411480" y="4932959"/>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2026 Predictions  ·  Innovid CTV Insights 2025  ·  Strategus 2025  ·  Lore, T., CompanionLink, Apr 2026</a:t>
            </a:r>
            <a:endParaRPr lang="en-US" sz="700" dirty="0"/>
          </a:p>
        </p:txBody>
      </p:sp>
      <p:sp>
        <p:nvSpPr>
          <p:cNvPr id="32" name="Text 30"/>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8 / 16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146304"/>
            <a:ext cx="3017520" cy="237744"/>
          </a:xfrm>
          <a:prstGeom prst="roundRect">
            <a:avLst>
              <a:gd name="adj" fmla="val 15385"/>
            </a:avLst>
          </a:prstGeom>
          <a:solidFill>
            <a:srgbClr val="662D91"/>
          </a:solidFill>
          <a:ln w="12700">
            <a:solidFill>
              <a:srgbClr val="662D91"/>
            </a:solidFill>
            <a:prstDash val="solid"/>
          </a:ln>
        </p:spPr>
        <p:txBody>
          <a:bodyPr/>
          <a:lstStyle/>
          <a:p>
            <a:endParaRPr lang="en-US">
              <a:solidFill>
                <a:srgbClr val="7030A0"/>
              </a:solidFill>
            </a:endParaRPr>
          </a:p>
        </p:txBody>
      </p:sp>
      <p:sp>
        <p:nvSpPr>
          <p:cNvPr id="3" name="Text 1"/>
          <p:cNvSpPr/>
          <p:nvPr/>
        </p:nvSpPr>
        <p:spPr>
          <a:xfrm>
            <a:off x="411480" y="146304"/>
            <a:ext cx="301752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GAP 2 OF 3  —  THE MISSED OPPORTUNITY</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solidFill>
                <a:srgbClr val="7030A0"/>
              </a:solidFill>
            </a:endParaRPr>
          </a:p>
        </p:txBody>
      </p:sp>
      <p:sp>
        <p:nvSpPr>
          <p:cNvPr id="5" name="Text 3"/>
          <p:cNvSpPr/>
          <p:nvPr/>
        </p:nvSpPr>
        <p:spPr>
          <a:xfrm>
            <a:off x="594360" y="418157"/>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Interactive Format Access</a:t>
            </a:r>
            <a:endParaRPr lang="en-US" sz="2200" dirty="0"/>
          </a:p>
        </p:txBody>
      </p:sp>
      <p:sp>
        <p:nvSpPr>
          <p:cNvPr id="6" name="Text 4"/>
          <p:cNvSpPr/>
          <p:nvPr/>
        </p:nvSpPr>
        <p:spPr>
          <a:xfrm>
            <a:off x="594360" y="783917"/>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Shoppable ads work — but 90% of Ads Manager advertisers can't use them</a:t>
            </a:r>
            <a:endParaRPr lang="en-US" sz="1000" dirty="0"/>
          </a:p>
        </p:txBody>
      </p:sp>
      <p:sp>
        <p:nvSpPr>
          <p:cNvPr id="7" name="Text 5"/>
          <p:cNvSpPr/>
          <p:nvPr/>
        </p:nvSpPr>
        <p:spPr>
          <a:xfrm>
            <a:off x="411480" y="1170432"/>
            <a:ext cx="416052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Problem</a:t>
            </a:r>
            <a:endParaRPr lang="en-US" sz="1100" dirty="0"/>
          </a:p>
        </p:txBody>
      </p:sp>
      <p:sp>
        <p:nvSpPr>
          <p:cNvPr id="8" name="Text 6"/>
          <p:cNvSpPr/>
          <p:nvPr/>
        </p:nvSpPr>
        <p:spPr>
          <a:xfrm>
            <a:off x="411480" y="1444752"/>
            <a:ext cx="4160520" cy="2468880"/>
          </a:xfrm>
          <a:prstGeom prst="rect">
            <a:avLst/>
          </a:prstGeom>
          <a:noFill/>
          <a:ln/>
        </p:spPr>
        <p:txBody>
          <a:bodyPr wrap="square" lIns="0" tIns="0" rIns="0" bIns="0" rtlCol="0" anchor="ctr"/>
          <a:lstStyle/>
          <a:p>
            <a:pPr marL="0" indent="0">
              <a:buNone/>
            </a:pPr>
            <a:r>
              <a:rPr lang="en-US" sz="950" dirty="0">
                <a:solidFill>
                  <a:srgbClr val="555566"/>
                </a:solidFill>
                <a:latin typeface="Calibri" pitchFamily="34" charset="0"/>
                <a:ea typeface="Calibri" pitchFamily="34" charset="-122"/>
                <a:cs typeface="Calibri" pitchFamily="34" charset="-120"/>
              </a:rPr>
              <a:t>Roku's Action Ads and shoppable formats are proven — 118× more likely remote engagement than QR, 47% higher purchase intent, 45% of purchasers new-to-brand.</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But they require finished video creative and production sophistication that small and mid-market advertisers on Roku Ads Manager simply don't have. The result: Roku's most powerful ad format is effectively reserved for enterprise brands.</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Now Samsung + Amazon are launching equivalent shoppable formats in July 2026. The window to lock in mid-market advertisers before competitors do is closing fast.</a:t>
            </a:r>
            <a:endParaRPr lang="en-US" sz="950" dirty="0"/>
          </a:p>
        </p:txBody>
      </p:sp>
      <p:sp>
        <p:nvSpPr>
          <p:cNvPr id="9" name="Shape 7"/>
          <p:cNvSpPr/>
          <p:nvPr/>
        </p:nvSpPr>
        <p:spPr>
          <a:xfrm>
            <a:off x="411480" y="4001571"/>
            <a:ext cx="4160520" cy="841248"/>
          </a:xfrm>
          <a:prstGeom prst="rect">
            <a:avLst/>
          </a:prstGeom>
          <a:solidFill>
            <a:srgbClr val="E8D5F5"/>
          </a:solidFill>
          <a:ln w="12700">
            <a:solidFill>
              <a:srgbClr val="F59E0B"/>
            </a:solidFill>
            <a:prstDash val="solid"/>
          </a:ln>
        </p:spPr>
        <p:txBody>
          <a:bodyPr/>
          <a:lstStyle/>
          <a:p>
            <a:endParaRPr lang="en-US"/>
          </a:p>
        </p:txBody>
      </p:sp>
      <p:sp>
        <p:nvSpPr>
          <p:cNvPr id="10" name="Shape 8"/>
          <p:cNvSpPr/>
          <p:nvPr/>
        </p:nvSpPr>
        <p:spPr>
          <a:xfrm>
            <a:off x="411480" y="4001571"/>
            <a:ext cx="64008" cy="841248"/>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548640" y="4056435"/>
            <a:ext cx="3959352" cy="566928"/>
          </a:xfrm>
          <a:prstGeom prst="rect">
            <a:avLst/>
          </a:prstGeom>
          <a:noFill/>
          <a:ln/>
        </p:spPr>
        <p:txBody>
          <a:bodyPr wrap="square" lIns="0" tIns="0" rIns="0" bIns="0" rtlCol="0" anchor="ctr"/>
          <a:lstStyle/>
          <a:p>
            <a:pPr marL="0" indent="0">
              <a:buNone/>
            </a:pPr>
            <a:r>
              <a:rPr lang="en-US" sz="850" i="1" dirty="0">
                <a:solidFill>
                  <a:srgbClr val="662D91"/>
                </a:solidFill>
                <a:latin typeface="Calibri" pitchFamily="34" charset="0"/>
                <a:ea typeface="Calibri" pitchFamily="34" charset="-122"/>
                <a:cs typeface="Calibri" pitchFamily="34" charset="-120"/>
              </a:rPr>
              <a:t>"It wasn't so long ago that people said no one would shop on the internet. Then no one would shop from their phones. In shoppable TV, Roku would like a word."</a:t>
            </a:r>
            <a:endParaRPr lang="en-US" sz="850" dirty="0"/>
          </a:p>
        </p:txBody>
      </p:sp>
      <p:sp>
        <p:nvSpPr>
          <p:cNvPr id="12" name="Text 10"/>
          <p:cNvSpPr/>
          <p:nvPr/>
        </p:nvSpPr>
        <p:spPr>
          <a:xfrm>
            <a:off x="548640" y="4641651"/>
            <a:ext cx="3959352" cy="164592"/>
          </a:xfrm>
          <a:prstGeom prst="rect">
            <a:avLst/>
          </a:prstGeom>
          <a:noFill/>
          <a:ln/>
        </p:spPr>
        <p:txBody>
          <a:bodyPr wrap="square" lIns="0" tIns="0" rIns="0" bIns="0" rtlCol="0" anchor="ctr"/>
          <a:lstStyle/>
          <a:p>
            <a:pPr marL="0" indent="0">
              <a:buNone/>
            </a:pPr>
            <a:r>
              <a:rPr lang="en-US" sz="750" dirty="0">
                <a:solidFill>
                  <a:srgbClr val="555566"/>
                </a:solidFill>
                <a:latin typeface="Calibri" pitchFamily="34" charset="0"/>
                <a:ea typeface="Calibri" pitchFamily="34" charset="-122"/>
                <a:cs typeface="Calibri" pitchFamily="34" charset="-120"/>
              </a:rPr>
              <a:t>— Toombs, B., Roku Brand Studio, Shoptalk 2025</a:t>
            </a:r>
            <a:endParaRPr lang="en-US" sz="750" dirty="0"/>
          </a:p>
        </p:txBody>
      </p:sp>
      <p:sp>
        <p:nvSpPr>
          <p:cNvPr id="13" name="Text 11"/>
          <p:cNvSpPr/>
          <p:nvPr/>
        </p:nvSpPr>
        <p:spPr>
          <a:xfrm>
            <a:off x="4754880" y="1170432"/>
            <a:ext cx="397764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Evidence</a:t>
            </a:r>
            <a:endParaRPr lang="en-US" sz="1100" dirty="0"/>
          </a:p>
        </p:txBody>
      </p:sp>
      <p:sp>
        <p:nvSpPr>
          <p:cNvPr id="14" name="Shape 12"/>
          <p:cNvSpPr/>
          <p:nvPr/>
        </p:nvSpPr>
        <p:spPr>
          <a:xfrm>
            <a:off x="475488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5" name="Text 13"/>
          <p:cNvSpPr/>
          <p:nvPr/>
        </p:nvSpPr>
        <p:spPr>
          <a:xfrm>
            <a:off x="475488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118×</a:t>
            </a:r>
            <a:endParaRPr lang="en-US" sz="2800" dirty="0"/>
          </a:p>
        </p:txBody>
      </p:sp>
      <p:sp>
        <p:nvSpPr>
          <p:cNvPr id="16" name="Text 14"/>
          <p:cNvSpPr/>
          <p:nvPr/>
        </p:nvSpPr>
        <p:spPr>
          <a:xfrm>
            <a:off x="484632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more likely to press OK on remote than scan a QR code</a:t>
            </a:r>
            <a:endParaRPr lang="en-US" sz="850" dirty="0"/>
          </a:p>
        </p:txBody>
      </p:sp>
      <p:sp>
        <p:nvSpPr>
          <p:cNvPr id="17" name="Shape 15"/>
          <p:cNvSpPr/>
          <p:nvPr/>
        </p:nvSpPr>
        <p:spPr>
          <a:xfrm>
            <a:off x="672084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8" name="Text 16"/>
          <p:cNvSpPr/>
          <p:nvPr/>
        </p:nvSpPr>
        <p:spPr>
          <a:xfrm>
            <a:off x="672084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47%</a:t>
            </a:r>
            <a:endParaRPr lang="en-US" sz="2800" dirty="0"/>
          </a:p>
        </p:txBody>
      </p:sp>
      <p:sp>
        <p:nvSpPr>
          <p:cNvPr id="19" name="Text 17"/>
          <p:cNvSpPr/>
          <p:nvPr/>
        </p:nvSpPr>
        <p:spPr>
          <a:xfrm>
            <a:off x="681228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higher purchase intent from shoppable vs. standard video ads</a:t>
            </a:r>
            <a:endParaRPr lang="en-US" sz="850" dirty="0"/>
          </a:p>
        </p:txBody>
      </p:sp>
      <p:sp>
        <p:nvSpPr>
          <p:cNvPr id="20" name="Shape 18"/>
          <p:cNvSpPr/>
          <p:nvPr/>
        </p:nvSpPr>
        <p:spPr>
          <a:xfrm>
            <a:off x="475488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1" name="Text 19"/>
          <p:cNvSpPr/>
          <p:nvPr/>
        </p:nvSpPr>
        <p:spPr>
          <a:xfrm>
            <a:off x="475488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58%</a:t>
            </a:r>
            <a:endParaRPr lang="en-US" sz="2800" dirty="0"/>
          </a:p>
        </p:txBody>
      </p:sp>
      <p:sp>
        <p:nvSpPr>
          <p:cNvPr id="22" name="Text 20"/>
          <p:cNvSpPr/>
          <p:nvPr/>
        </p:nvSpPr>
        <p:spPr>
          <a:xfrm>
            <a:off x="484632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lift in unaided brand recall when interactive formats added</a:t>
            </a:r>
            <a:endParaRPr lang="en-US" sz="850" dirty="0"/>
          </a:p>
        </p:txBody>
      </p:sp>
      <p:sp>
        <p:nvSpPr>
          <p:cNvPr id="23" name="Shape 21"/>
          <p:cNvSpPr/>
          <p:nvPr/>
        </p:nvSpPr>
        <p:spPr>
          <a:xfrm>
            <a:off x="672084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4" name="Text 22"/>
          <p:cNvSpPr/>
          <p:nvPr/>
        </p:nvSpPr>
        <p:spPr>
          <a:xfrm>
            <a:off x="672084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45%</a:t>
            </a:r>
            <a:endParaRPr lang="en-US" sz="2800" dirty="0"/>
          </a:p>
        </p:txBody>
      </p:sp>
      <p:sp>
        <p:nvSpPr>
          <p:cNvPr id="25" name="Text 23"/>
          <p:cNvSpPr/>
          <p:nvPr/>
        </p:nvSpPr>
        <p:spPr>
          <a:xfrm>
            <a:off x="681228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of shoppable purchasers were new-to-brand — incremental reach</a:t>
            </a:r>
            <a:endParaRPr lang="en-US" sz="850" dirty="0"/>
          </a:p>
        </p:txBody>
      </p:sp>
      <p:sp>
        <p:nvSpPr>
          <p:cNvPr id="26" name="Shape 24"/>
          <p:cNvSpPr/>
          <p:nvPr/>
        </p:nvSpPr>
        <p:spPr>
          <a:xfrm flipV="1">
            <a:off x="4581144" y="4800599"/>
            <a:ext cx="4562856" cy="45719"/>
          </a:xfrm>
          <a:prstGeom prst="rect">
            <a:avLst/>
          </a:prstGeom>
          <a:solidFill>
            <a:srgbClr val="E8D5F5"/>
          </a:solidFill>
          <a:ln w="12700">
            <a:solidFill>
              <a:srgbClr val="E8D5F5"/>
            </a:solidFill>
            <a:prstDash val="solid"/>
          </a:ln>
        </p:spPr>
        <p:txBody>
          <a:bodyPr/>
          <a:lstStyle/>
          <a:p>
            <a:endParaRPr lang="en-US"/>
          </a:p>
        </p:txBody>
      </p:sp>
      <p:sp>
        <p:nvSpPr>
          <p:cNvPr id="27" name="Text 25"/>
          <p:cNvSpPr/>
          <p:nvPr/>
        </p:nvSpPr>
        <p:spPr>
          <a:xfrm>
            <a:off x="443484" y="4937762"/>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x Dentsu Study, Jun 2025  ·  Roku Cannes Lions 2025  ·  Roku Shoptalk 2025  ·  Samsung NewFronts 2026</a:t>
            </a:r>
            <a:endParaRPr lang="en-US" sz="700" dirty="0"/>
          </a:p>
        </p:txBody>
      </p:sp>
      <p:sp>
        <p:nvSpPr>
          <p:cNvPr id="28" name="Text 26"/>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9 / 16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73152"/>
            <a:ext cx="1554480" cy="237744"/>
          </a:xfrm>
          <a:prstGeom prst="roundRect">
            <a:avLst>
              <a:gd name="adj" fmla="val 15385"/>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411480" y="82296"/>
            <a:ext cx="155448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OPPORTUNITY 2</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594360" y="25603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Democratize Interactive Formats for the Mid-Market</a:t>
            </a:r>
            <a:endParaRPr lang="en-US" sz="2200" dirty="0"/>
          </a:p>
        </p:txBody>
      </p:sp>
      <p:sp>
        <p:nvSpPr>
          <p:cNvPr id="6" name="Text 4"/>
          <p:cNvSpPr/>
          <p:nvPr/>
        </p:nvSpPr>
        <p:spPr>
          <a:xfrm>
            <a:off x="594360" y="62179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Lower the creative barrier so any Ads Manager advertiser can run Action Ads in minutes, not weeks</a:t>
            </a:r>
            <a:endParaRPr lang="en-US" sz="1000" dirty="0"/>
          </a:p>
        </p:txBody>
      </p:sp>
      <p:sp>
        <p:nvSpPr>
          <p:cNvPr id="7" name="Text 5"/>
          <p:cNvSpPr/>
          <p:nvPr/>
        </p:nvSpPr>
        <p:spPr>
          <a:xfrm>
            <a:off x="411480" y="969264"/>
            <a:ext cx="8321040" cy="201168"/>
          </a:xfrm>
          <a:prstGeom prst="rect">
            <a:avLst/>
          </a:prstGeom>
          <a:noFill/>
          <a:ln/>
        </p:spPr>
        <p:txBody>
          <a:bodyPr wrap="square" lIns="0" tIns="0" rIns="0" bIns="0" rtlCol="0" anchor="ctr"/>
          <a:lstStyle/>
          <a:p>
            <a:pPr marL="0" indent="0">
              <a:buNone/>
            </a:pPr>
            <a:r>
              <a:rPr lang="en-US" sz="1000" b="1" dirty="0">
                <a:solidFill>
                  <a:srgbClr val="6F1AB1"/>
                </a:solidFill>
                <a:latin typeface="Trebuchet MS" pitchFamily="34" charset="0"/>
                <a:ea typeface="Trebuchet MS" pitchFamily="34" charset="-122"/>
                <a:cs typeface="Trebuchet MS" pitchFamily="34" charset="-120"/>
              </a:rPr>
              <a:t>The Big Idea</a:t>
            </a:r>
            <a:endParaRPr lang="en-US" sz="1000" dirty="0"/>
          </a:p>
        </p:txBody>
      </p:sp>
      <p:sp>
        <p:nvSpPr>
          <p:cNvPr id="8" name="Text 6"/>
          <p:cNvSpPr/>
          <p:nvPr/>
        </p:nvSpPr>
        <p:spPr>
          <a:xfrm>
            <a:off x="411480" y="1152144"/>
            <a:ext cx="8321040" cy="292608"/>
          </a:xfrm>
          <a:prstGeom prst="rect">
            <a:avLst/>
          </a:prstGeom>
          <a:noFill/>
          <a:ln/>
        </p:spPr>
        <p:txBody>
          <a:bodyPr wrap="square" lIns="0" tIns="0" rIns="0" bIns="0" rtlCol="0" anchor="ctr"/>
          <a:lstStyle/>
          <a:p>
            <a:pPr marL="0" indent="0">
              <a:buNone/>
            </a:pPr>
            <a:r>
              <a:rPr lang="en-US" sz="950" i="1" dirty="0">
                <a:solidFill>
                  <a:srgbClr val="555566"/>
                </a:solidFill>
                <a:latin typeface="Calibri" pitchFamily="34" charset="0"/>
                <a:ea typeface="Calibri" pitchFamily="34" charset="-122"/>
                <a:cs typeface="Calibri" pitchFamily="34" charset="-120"/>
              </a:rPr>
              <a:t>Embed AI-powered creative tools directly into Roku Ads Manager — removing the production bottleneck that prevents mid-market advertisers from accessing Action Ads, before Samsung + Amazon's July 2026 shoppable launch.</a:t>
            </a:r>
            <a:endParaRPr lang="en-US" sz="950" dirty="0"/>
          </a:p>
        </p:txBody>
      </p:sp>
      <p:sp>
        <p:nvSpPr>
          <p:cNvPr id="9" name="Shape 7"/>
          <p:cNvSpPr/>
          <p:nvPr/>
        </p:nvSpPr>
        <p:spPr>
          <a:xfrm>
            <a:off x="411480" y="1481328"/>
            <a:ext cx="8321040" cy="27432"/>
          </a:xfrm>
          <a:prstGeom prst="rect">
            <a:avLst/>
          </a:prstGeom>
          <a:solidFill>
            <a:srgbClr val="E8D5F5"/>
          </a:solidFill>
          <a:ln w="12700">
            <a:solidFill>
              <a:srgbClr val="E8D5F5"/>
            </a:solidFill>
            <a:prstDash val="solid"/>
          </a:ln>
        </p:spPr>
        <p:txBody>
          <a:bodyPr/>
          <a:lstStyle/>
          <a:p>
            <a:endParaRPr lang="en-US"/>
          </a:p>
        </p:txBody>
      </p:sp>
      <p:sp>
        <p:nvSpPr>
          <p:cNvPr id="10" name="Text 8"/>
          <p:cNvSpPr/>
          <p:nvPr/>
        </p:nvSpPr>
        <p:spPr>
          <a:xfrm>
            <a:off x="411480" y="1572768"/>
            <a:ext cx="3657600" cy="219456"/>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Options to Explore</a:t>
            </a:r>
            <a:endParaRPr lang="en-US" sz="1100" dirty="0"/>
          </a:p>
        </p:txBody>
      </p:sp>
      <p:sp>
        <p:nvSpPr>
          <p:cNvPr id="11" name="Shape 9"/>
          <p:cNvSpPr/>
          <p:nvPr/>
        </p:nvSpPr>
        <p:spPr>
          <a:xfrm>
            <a:off x="411480"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2" name="Shape 10"/>
          <p:cNvSpPr/>
          <p:nvPr/>
        </p:nvSpPr>
        <p:spPr>
          <a:xfrm>
            <a:off x="411480"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3" name="Text 11"/>
          <p:cNvSpPr/>
          <p:nvPr/>
        </p:nvSpPr>
        <p:spPr>
          <a:xfrm>
            <a:off x="502920"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AI Creative Studio in Ads Manager</a:t>
            </a:r>
            <a:endParaRPr lang="en-US" sz="950" dirty="0"/>
          </a:p>
        </p:txBody>
      </p:sp>
      <p:sp>
        <p:nvSpPr>
          <p:cNvPr id="14" name="Text 12"/>
          <p:cNvSpPr/>
          <p:nvPr/>
        </p:nvSpPr>
        <p:spPr>
          <a:xfrm>
            <a:off x="502920"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Embed GenAI video creation into Ads Manager — advertisers input their URL or brand brief, AI generates a CTV-ready 15 or 30-sec spot with interactive overlay. No production team needed.</a:t>
            </a:r>
            <a:endParaRPr lang="en-US" sz="850" dirty="0"/>
          </a:p>
        </p:txBody>
      </p:sp>
      <p:sp>
        <p:nvSpPr>
          <p:cNvPr id="15" name="Shape 13"/>
          <p:cNvSpPr/>
          <p:nvPr/>
        </p:nvSpPr>
        <p:spPr>
          <a:xfrm>
            <a:off x="3127248"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6" name="Shape 14"/>
          <p:cNvSpPr/>
          <p:nvPr/>
        </p:nvSpPr>
        <p:spPr>
          <a:xfrm>
            <a:off x="3127248"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7" name="Text 15"/>
          <p:cNvSpPr/>
          <p:nvPr/>
        </p:nvSpPr>
        <p:spPr>
          <a:xfrm>
            <a:off x="3218688"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Interactive Overlay Templates</a:t>
            </a:r>
            <a:endParaRPr lang="en-US" sz="950" dirty="0"/>
          </a:p>
        </p:txBody>
      </p:sp>
      <p:sp>
        <p:nvSpPr>
          <p:cNvPr id="18" name="Text 16"/>
          <p:cNvSpPr/>
          <p:nvPr/>
        </p:nvSpPr>
        <p:spPr>
          <a:xfrm>
            <a:off x="3218688"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Pre-built Action Ad templates — QR, OK-to-text, Add to Cart — that any advertiser can attach to existing video creative with one click. Interactive without rebuilding the ad from scratch.</a:t>
            </a:r>
            <a:endParaRPr lang="en-US" sz="850" dirty="0"/>
          </a:p>
        </p:txBody>
      </p:sp>
      <p:sp>
        <p:nvSpPr>
          <p:cNvPr id="19" name="Shape 17"/>
          <p:cNvSpPr/>
          <p:nvPr/>
        </p:nvSpPr>
        <p:spPr>
          <a:xfrm>
            <a:off x="5833872"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20" name="Shape 18"/>
          <p:cNvSpPr/>
          <p:nvPr/>
        </p:nvSpPr>
        <p:spPr>
          <a:xfrm>
            <a:off x="5833872"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21" name="Text 19"/>
          <p:cNvSpPr/>
          <p:nvPr/>
        </p:nvSpPr>
        <p:spPr>
          <a:xfrm>
            <a:off x="5925312"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Creator x Brand Studio</a:t>
            </a:r>
            <a:endParaRPr lang="en-US" sz="950" dirty="0"/>
          </a:p>
        </p:txBody>
      </p:sp>
      <p:sp>
        <p:nvSpPr>
          <p:cNvPr id="22" name="Text 20"/>
          <p:cNvSpPr/>
          <p:nvPr/>
        </p:nvSpPr>
        <p:spPr>
          <a:xfrm>
            <a:off x="5925312"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Leverage Roku's creator economy push — co-branded native ad units pairing creator content with brand messaging in one interactive format. Lower cost, higher authenticity, new inventory type.</a:t>
            </a:r>
            <a:endParaRPr lang="en-US" sz="850" dirty="0"/>
          </a:p>
        </p:txBody>
      </p:sp>
      <p:sp>
        <p:nvSpPr>
          <p:cNvPr id="23" name="Shape 21"/>
          <p:cNvSpPr/>
          <p:nvPr/>
        </p:nvSpPr>
        <p:spPr>
          <a:xfrm>
            <a:off x="411480" y="3346704"/>
            <a:ext cx="8321040" cy="1170432"/>
          </a:xfrm>
          <a:prstGeom prst="rect">
            <a:avLst/>
          </a:prstGeom>
          <a:solidFill>
            <a:srgbClr val="F0EDF6"/>
          </a:solidFill>
          <a:ln w="12700">
            <a:solidFill>
              <a:srgbClr val="DDD8F0"/>
            </a:solidFill>
            <a:prstDash val="solid"/>
          </a:ln>
        </p:spPr>
        <p:txBody>
          <a:bodyPr/>
          <a:lstStyle/>
          <a:p>
            <a:endParaRPr lang="en-US"/>
          </a:p>
        </p:txBody>
      </p:sp>
      <p:sp>
        <p:nvSpPr>
          <p:cNvPr id="24" name="Text 22"/>
          <p:cNvSpPr/>
          <p:nvPr/>
        </p:nvSpPr>
        <p:spPr>
          <a:xfrm>
            <a:off x="566928" y="3410712"/>
            <a:ext cx="3200400"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How I'd Validate This</a:t>
            </a:r>
            <a:endParaRPr lang="en-US" sz="1000" dirty="0"/>
          </a:p>
        </p:txBody>
      </p:sp>
      <p:sp>
        <p:nvSpPr>
          <p:cNvPr id="25" name="Text 23"/>
          <p:cNvSpPr/>
          <p:nvPr/>
        </p:nvSpPr>
        <p:spPr>
          <a:xfrm>
            <a:off x="555255" y="3447288"/>
            <a:ext cx="8010144" cy="80467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  Closed beta: AI Creative Studio with 200 Ads Manager SMB advertisers — measure time-to-launch, campaign CTR vs. standard video, and advertiser retention at 90 days</a:t>
            </a:r>
            <a:endParaRPr lang="en-US" sz="850" dirty="0"/>
          </a:p>
          <a:p>
            <a:pPr marL="0" indent="0">
              <a:buNone/>
            </a:pPr>
            <a:r>
              <a:rPr lang="en-US" sz="850" dirty="0">
                <a:solidFill>
                  <a:srgbClr val="555566"/>
                </a:solidFill>
                <a:latin typeface="Calibri" pitchFamily="34" charset="0"/>
                <a:ea typeface="Calibri" pitchFamily="34" charset="-122"/>
                <a:cs typeface="Calibri" pitchFamily="34" charset="-120"/>
              </a:rPr>
              <a:t>→  Test Interactive Overlay Templates on 50 existing standard video campaigns — does OK-to-text overlay lift completion rate and conversion without incremental spend?</a:t>
            </a:r>
            <a:endParaRPr lang="en-US" sz="850" dirty="0"/>
          </a:p>
        </p:txBody>
      </p:sp>
      <p:sp>
        <p:nvSpPr>
          <p:cNvPr id="26" name="Shape 24"/>
          <p:cNvSpPr/>
          <p:nvPr/>
        </p:nvSpPr>
        <p:spPr>
          <a:xfrm>
            <a:off x="411480" y="4169664"/>
            <a:ext cx="8321040" cy="512064"/>
          </a:xfrm>
          <a:prstGeom prst="rect">
            <a:avLst/>
          </a:prstGeom>
          <a:solidFill>
            <a:srgbClr val="FFF7ED"/>
          </a:solidFill>
          <a:ln w="12700">
            <a:solidFill>
              <a:srgbClr val="F59E0B"/>
            </a:solidFill>
            <a:prstDash val="solid"/>
          </a:ln>
        </p:spPr>
        <p:txBody>
          <a:bodyPr/>
          <a:lstStyle/>
          <a:p>
            <a:endParaRPr lang="en-US"/>
          </a:p>
        </p:txBody>
      </p:sp>
      <p:sp>
        <p:nvSpPr>
          <p:cNvPr id="27" name="Shape 25"/>
          <p:cNvSpPr/>
          <p:nvPr/>
        </p:nvSpPr>
        <p:spPr>
          <a:xfrm>
            <a:off x="411480" y="4169664"/>
            <a:ext cx="64008" cy="512064"/>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548640" y="4206240"/>
            <a:ext cx="1554480" cy="201168"/>
          </a:xfrm>
          <a:prstGeom prst="rect">
            <a:avLst/>
          </a:prstGeom>
          <a:noFill/>
          <a:ln/>
        </p:spPr>
        <p:txBody>
          <a:bodyPr wrap="square" lIns="0" tIns="0" rIns="0" bIns="0" rtlCol="0" anchor="ctr"/>
          <a:lstStyle/>
          <a:p>
            <a:pPr marL="0" indent="0">
              <a:buNone/>
            </a:pPr>
            <a:r>
              <a:rPr lang="en-US" sz="900" b="1" dirty="0">
                <a:solidFill>
                  <a:srgbClr val="92400E"/>
                </a:solidFill>
                <a:latin typeface="Trebuchet MS" pitchFamily="34" charset="0"/>
                <a:ea typeface="Trebuchet MS" pitchFamily="34" charset="-122"/>
                <a:cs typeface="Trebuchet MS" pitchFamily="34" charset="-120"/>
              </a:rPr>
              <a:t>⚠  Tradeoff to Navigate:</a:t>
            </a:r>
            <a:endParaRPr lang="en-US" sz="900" dirty="0"/>
          </a:p>
        </p:txBody>
      </p:sp>
      <p:sp>
        <p:nvSpPr>
          <p:cNvPr id="29" name="Text 27"/>
          <p:cNvSpPr/>
          <p:nvPr/>
        </p:nvSpPr>
        <p:spPr>
          <a:xfrm>
            <a:off x="2121408" y="4206240"/>
            <a:ext cx="6492240" cy="402336"/>
          </a:xfrm>
          <a:prstGeom prst="rect">
            <a:avLst/>
          </a:prstGeom>
          <a:noFill/>
          <a:ln/>
        </p:spPr>
        <p:txBody>
          <a:bodyPr wrap="square" lIns="0" tIns="0" rIns="0" bIns="0" rtlCol="0" anchor="ctr"/>
          <a:lstStyle/>
          <a:p>
            <a:pPr marL="0" indent="0">
              <a:buNone/>
            </a:pPr>
            <a:r>
              <a:rPr lang="en-US" sz="850" dirty="0">
                <a:solidFill>
                  <a:srgbClr val="92400E"/>
                </a:solidFill>
                <a:latin typeface="Calibri" pitchFamily="34" charset="0"/>
                <a:ea typeface="Calibri" pitchFamily="34" charset="-122"/>
                <a:cs typeface="Calibri" pitchFamily="34" charset="-120"/>
              </a:rPr>
              <a:t>AI-generated creative carries brand safety risk — a poorly generated ad running at scale on premium inventory damages both the advertiser and Roku's brand. There is also channel conflict: Roku's creative agency partners (VaynerMedia, Tinuiti) may view an in-house AI studio as competitive. Mitigation: position AI Creative as a tool for advertisers with no agency relationship, not a replacement for managed creative services.</a:t>
            </a:r>
            <a:endParaRPr lang="en-US" sz="850" dirty="0"/>
          </a:p>
        </p:txBody>
      </p:sp>
      <p:sp>
        <p:nvSpPr>
          <p:cNvPr id="30" name="Shape 28"/>
          <p:cNvSpPr/>
          <p:nvPr/>
        </p:nvSpPr>
        <p:spPr>
          <a:xfrm>
            <a:off x="0" y="4773168"/>
            <a:ext cx="9144000" cy="27432"/>
          </a:xfrm>
          <a:prstGeom prst="rect">
            <a:avLst/>
          </a:prstGeom>
          <a:solidFill>
            <a:srgbClr val="E8D5F5"/>
          </a:solidFill>
          <a:ln w="12700">
            <a:solidFill>
              <a:srgbClr val="E8D5F5"/>
            </a:solidFill>
            <a:prstDash val="solid"/>
          </a:ln>
        </p:spPr>
        <p:txBody>
          <a:bodyPr/>
          <a:lstStyle/>
          <a:p>
            <a:endParaRPr lang="en-US"/>
          </a:p>
        </p:txBody>
      </p:sp>
      <p:sp>
        <p:nvSpPr>
          <p:cNvPr id="31" name="Text 29"/>
          <p:cNvSpPr/>
          <p:nvPr/>
        </p:nvSpPr>
        <p:spPr>
          <a:xfrm>
            <a:off x="411480" y="4809744"/>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Cannes Lions 2025  ·  Roku Shoptalk 2025  ·  Smartly x Amazon, Mar 2026  ·  Roku 2026 Predictions</a:t>
            </a:r>
            <a:endParaRPr lang="en-US" sz="700" dirty="0"/>
          </a:p>
        </p:txBody>
      </p:sp>
      <p:sp>
        <p:nvSpPr>
          <p:cNvPr id="32" name="Text 30"/>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10 / 16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135798"/>
            <a:ext cx="2011680" cy="237744"/>
          </a:xfrm>
          <a:prstGeom prst="roundRect">
            <a:avLst>
              <a:gd name="adj" fmla="val 15385"/>
            </a:avLst>
          </a:prstGeom>
          <a:solidFill>
            <a:srgbClr val="7030A0"/>
          </a:solidFill>
          <a:ln w="12700">
            <a:solidFill>
              <a:srgbClr val="7030A0"/>
            </a:solidFill>
            <a:prstDash val="solid"/>
          </a:ln>
        </p:spPr>
        <p:txBody>
          <a:bodyPr/>
          <a:lstStyle/>
          <a:p>
            <a:endParaRPr lang="en-US">
              <a:solidFill>
                <a:srgbClr val="7030A0"/>
              </a:solidFill>
            </a:endParaRPr>
          </a:p>
        </p:txBody>
      </p:sp>
      <p:sp>
        <p:nvSpPr>
          <p:cNvPr id="3" name="Text 1"/>
          <p:cNvSpPr/>
          <p:nvPr/>
        </p:nvSpPr>
        <p:spPr>
          <a:xfrm>
            <a:off x="411480" y="132166"/>
            <a:ext cx="201168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REVENUE OPPORTUNITY</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594360" y="34682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Gap 2 — Estimated Revenue Opportunity</a:t>
            </a:r>
            <a:endParaRPr lang="en-US" sz="2200" dirty="0"/>
          </a:p>
        </p:txBody>
      </p:sp>
      <p:sp>
        <p:nvSpPr>
          <p:cNvPr id="6" name="Text 4"/>
          <p:cNvSpPr/>
          <p:nvPr/>
        </p:nvSpPr>
        <p:spPr>
          <a:xfrm>
            <a:off x="594360" y="71258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If democratizing interactive formats moves Ads Manager adoption from ~10% to ~25% of campaigns</a:t>
            </a:r>
            <a:endParaRPr lang="en-US" sz="1000" dirty="0"/>
          </a:p>
        </p:txBody>
      </p:sp>
      <p:sp>
        <p:nvSpPr>
          <p:cNvPr id="7" name="Shape 5"/>
          <p:cNvSpPr/>
          <p:nvPr/>
        </p:nvSpPr>
        <p:spPr>
          <a:xfrm>
            <a:off x="411480" y="1401425"/>
            <a:ext cx="3291840" cy="2011680"/>
          </a:xfrm>
          <a:prstGeom prst="rect">
            <a:avLst/>
          </a:prstGeom>
          <a:solidFill>
            <a:srgbClr val="3D0066"/>
          </a:solidFill>
          <a:ln w="12700">
            <a:solidFill>
              <a:srgbClr val="3D0066"/>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11480" y="1401425"/>
            <a:ext cx="3291840" cy="64008"/>
          </a:xfrm>
          <a:prstGeom prst="rect">
            <a:avLst/>
          </a:prstGeom>
          <a:solidFill>
            <a:srgbClr val="6F1AB1"/>
          </a:solidFill>
          <a:ln w="12700">
            <a:solidFill>
              <a:srgbClr val="6F1AB1"/>
            </a:solidFill>
            <a:prstDash val="solid"/>
          </a:ln>
        </p:spPr>
        <p:txBody>
          <a:bodyPr/>
          <a:lstStyle/>
          <a:p>
            <a:endParaRPr lang="en-US"/>
          </a:p>
        </p:txBody>
      </p:sp>
      <p:sp>
        <p:nvSpPr>
          <p:cNvPr id="9" name="Text 7"/>
          <p:cNvSpPr/>
          <p:nvPr/>
        </p:nvSpPr>
        <p:spPr>
          <a:xfrm>
            <a:off x="502920" y="1492865"/>
            <a:ext cx="3108960" cy="256032"/>
          </a:xfrm>
          <a:prstGeom prst="rect">
            <a:avLst/>
          </a:prstGeom>
          <a:noFill/>
          <a:ln/>
        </p:spPr>
        <p:txBody>
          <a:bodyPr wrap="square" lIns="0" tIns="0" rIns="0" bIns="0" rtlCol="0" anchor="ctr"/>
          <a:lstStyle/>
          <a:p>
            <a:pPr marL="0" indent="0" algn="ctr">
              <a:buNone/>
            </a:pPr>
            <a:r>
              <a:rPr lang="en-US" sz="900" dirty="0">
                <a:solidFill>
                  <a:srgbClr val="C896F0"/>
                </a:solidFill>
                <a:latin typeface="Calibri" pitchFamily="34" charset="0"/>
                <a:ea typeface="Calibri" pitchFamily="34" charset="-122"/>
                <a:cs typeface="Calibri" pitchFamily="34" charset="-120"/>
              </a:rPr>
              <a:t>Estimated Opportunity</a:t>
            </a:r>
            <a:endParaRPr lang="en-US" sz="900" dirty="0"/>
          </a:p>
        </p:txBody>
      </p:sp>
      <p:sp>
        <p:nvSpPr>
          <p:cNvPr id="10" name="Text 8"/>
          <p:cNvSpPr/>
          <p:nvPr/>
        </p:nvSpPr>
        <p:spPr>
          <a:xfrm>
            <a:off x="502920" y="1767185"/>
            <a:ext cx="3108960" cy="804672"/>
          </a:xfrm>
          <a:prstGeom prst="rect">
            <a:avLst/>
          </a:prstGeom>
          <a:noFill/>
          <a:ln/>
        </p:spPr>
        <p:txBody>
          <a:bodyPr wrap="square" lIns="0" tIns="0" rIns="0" bIns="0" rtlCol="0" anchor="ctr"/>
          <a:lstStyle/>
          <a:p>
            <a:pPr marL="0" indent="0" algn="ctr">
              <a:buNone/>
            </a:pPr>
            <a:r>
              <a:rPr lang="en-US" sz="4200" b="1" dirty="0">
                <a:solidFill>
                  <a:srgbClr val="FFFFFF"/>
                </a:solidFill>
                <a:latin typeface="Trebuchet MS" pitchFamily="34" charset="0"/>
                <a:ea typeface="Trebuchet MS" pitchFamily="34" charset="-122"/>
                <a:cs typeface="Trebuchet MS" pitchFamily="34" charset="-120"/>
              </a:rPr>
              <a:t>$46–70M</a:t>
            </a:r>
            <a:endParaRPr lang="en-US" sz="4200" dirty="0"/>
          </a:p>
        </p:txBody>
      </p:sp>
      <p:sp>
        <p:nvSpPr>
          <p:cNvPr id="11" name="Text 9"/>
          <p:cNvSpPr/>
          <p:nvPr/>
        </p:nvSpPr>
        <p:spPr>
          <a:xfrm>
            <a:off x="502920" y="2571857"/>
            <a:ext cx="3108960" cy="384048"/>
          </a:xfrm>
          <a:prstGeom prst="rect">
            <a:avLst/>
          </a:prstGeom>
          <a:noFill/>
          <a:ln/>
        </p:spPr>
        <p:txBody>
          <a:bodyPr wrap="square" lIns="0" tIns="0" rIns="0" bIns="0" rtlCol="0" anchor="ctr"/>
          <a:lstStyle/>
          <a:p>
            <a:pPr marL="0" indent="0" algn="ctr">
              <a:buNone/>
            </a:pPr>
            <a:r>
              <a:rPr lang="en-US" sz="950" dirty="0">
                <a:solidFill>
                  <a:srgbClr val="BBAACC"/>
                </a:solidFill>
                <a:latin typeface="Calibri" pitchFamily="34" charset="0"/>
                <a:ea typeface="Calibri" pitchFamily="34" charset="-122"/>
                <a:cs typeface="Calibri" pitchFamily="34" charset="-120"/>
              </a:rPr>
              <a:t>estimated incremental annual</a:t>
            </a:r>
            <a:endParaRPr lang="en-US" sz="950" dirty="0"/>
          </a:p>
          <a:p>
            <a:pPr marL="0" indent="0" algn="ctr">
              <a:buNone/>
            </a:pPr>
            <a:r>
              <a:rPr lang="en-US" sz="950" dirty="0">
                <a:solidFill>
                  <a:srgbClr val="BBAACC"/>
                </a:solidFill>
                <a:latin typeface="Calibri" pitchFamily="34" charset="0"/>
                <a:ea typeface="Calibri" pitchFamily="34" charset="-122"/>
                <a:cs typeface="Calibri" pitchFamily="34" charset="-120"/>
              </a:rPr>
              <a:t>Ads Manager revenue</a:t>
            </a:r>
            <a:endParaRPr lang="en-US" sz="950" dirty="0"/>
          </a:p>
        </p:txBody>
      </p:sp>
      <p:sp>
        <p:nvSpPr>
          <p:cNvPr id="12" name="Text 10"/>
          <p:cNvSpPr/>
          <p:nvPr/>
        </p:nvSpPr>
        <p:spPr>
          <a:xfrm>
            <a:off x="502920" y="3029057"/>
            <a:ext cx="3108960" cy="201168"/>
          </a:xfrm>
          <a:prstGeom prst="rect">
            <a:avLst/>
          </a:prstGeom>
          <a:noFill/>
          <a:ln/>
        </p:spPr>
        <p:txBody>
          <a:bodyPr wrap="square" lIns="0" tIns="0" rIns="0" bIns="0" rtlCol="0" anchor="ctr"/>
          <a:lstStyle/>
          <a:p>
            <a:pPr marL="0" indent="0" algn="ctr">
              <a:buNone/>
            </a:pPr>
            <a:r>
              <a:rPr lang="en-US" sz="750" i="1" dirty="0">
                <a:solidFill>
                  <a:srgbClr val="888899"/>
                </a:solidFill>
                <a:latin typeface="Calibri" pitchFamily="34" charset="0"/>
                <a:ea typeface="Calibri" pitchFamily="34" charset="-122"/>
                <a:cs typeface="Calibri" pitchFamily="34" charset="-120"/>
              </a:rPr>
              <a:t>Conservative estimate based on public figures</a:t>
            </a:r>
            <a:endParaRPr lang="en-US" sz="750" dirty="0"/>
          </a:p>
        </p:txBody>
      </p:sp>
      <p:sp>
        <p:nvSpPr>
          <p:cNvPr id="13" name="Text 11"/>
          <p:cNvSpPr/>
          <p:nvPr/>
        </p:nvSpPr>
        <p:spPr>
          <a:xfrm>
            <a:off x="3977640" y="1232815"/>
            <a:ext cx="4754880" cy="256032"/>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Assumptions</a:t>
            </a:r>
            <a:endParaRPr lang="en-US" sz="1100" dirty="0"/>
          </a:p>
        </p:txBody>
      </p:sp>
      <p:sp>
        <p:nvSpPr>
          <p:cNvPr id="14" name="Shape 12"/>
          <p:cNvSpPr/>
          <p:nvPr/>
        </p:nvSpPr>
        <p:spPr>
          <a:xfrm>
            <a:off x="3977640" y="1598575"/>
            <a:ext cx="237744" cy="237744"/>
          </a:xfrm>
          <a:prstGeom prst="ellipse">
            <a:avLst/>
          </a:prstGeom>
          <a:solidFill>
            <a:srgbClr val="6F1AB1"/>
          </a:solidFill>
          <a:ln w="12700">
            <a:solidFill>
              <a:srgbClr val="6F1AB1"/>
            </a:solidFill>
            <a:prstDash val="solid"/>
          </a:ln>
        </p:spPr>
        <p:txBody>
          <a:bodyPr/>
          <a:lstStyle/>
          <a:p>
            <a:endParaRPr lang="en-US"/>
          </a:p>
        </p:txBody>
      </p:sp>
      <p:sp>
        <p:nvSpPr>
          <p:cNvPr id="15" name="Text 13"/>
          <p:cNvSpPr/>
          <p:nvPr/>
        </p:nvSpPr>
        <p:spPr>
          <a:xfrm>
            <a:off x="3977640" y="1598575"/>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1</a:t>
            </a:r>
            <a:endParaRPr lang="en-US" sz="850" dirty="0"/>
          </a:p>
        </p:txBody>
      </p:sp>
      <p:sp>
        <p:nvSpPr>
          <p:cNvPr id="16" name="Text 14"/>
          <p:cNvSpPr/>
          <p:nvPr/>
        </p:nvSpPr>
        <p:spPr>
          <a:xfrm>
            <a:off x="4279392" y="1525423"/>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Ads Manager base revenue ~$230–350M</a:t>
            </a:r>
            <a:endParaRPr lang="en-US" sz="950" dirty="0"/>
          </a:p>
        </p:txBody>
      </p:sp>
      <p:sp>
        <p:nvSpPr>
          <p:cNvPr id="17" name="Text 15"/>
          <p:cNvSpPr/>
          <p:nvPr/>
        </p:nvSpPr>
        <p:spPr>
          <a:xfrm>
            <a:off x="4279392" y="1726591"/>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Analyst estimates place self-serve at 10–15% of $2.33B platform ad revenue (FY 2025 Roku 8-K). This is a floor — Roku describes Ads Manager as 'largely incremental.'</a:t>
            </a:r>
            <a:endParaRPr lang="en-US" sz="850" dirty="0"/>
          </a:p>
        </p:txBody>
      </p:sp>
      <p:sp>
        <p:nvSpPr>
          <p:cNvPr id="18" name="Shape 16"/>
          <p:cNvSpPr/>
          <p:nvPr/>
        </p:nvSpPr>
        <p:spPr>
          <a:xfrm>
            <a:off x="3977640" y="2128927"/>
            <a:ext cx="237744" cy="237744"/>
          </a:xfrm>
          <a:prstGeom prst="ellipse">
            <a:avLst/>
          </a:prstGeom>
          <a:solidFill>
            <a:srgbClr val="6F1AB1"/>
          </a:solidFill>
          <a:ln w="12700">
            <a:solidFill>
              <a:srgbClr val="6F1AB1"/>
            </a:solidFill>
            <a:prstDash val="solid"/>
          </a:ln>
        </p:spPr>
        <p:txBody>
          <a:bodyPr/>
          <a:lstStyle/>
          <a:p>
            <a:endParaRPr lang="en-US"/>
          </a:p>
        </p:txBody>
      </p:sp>
      <p:sp>
        <p:nvSpPr>
          <p:cNvPr id="19" name="Text 17"/>
          <p:cNvSpPr/>
          <p:nvPr/>
        </p:nvSpPr>
        <p:spPr>
          <a:xfrm>
            <a:off x="3977640" y="2128927"/>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2</a:t>
            </a:r>
            <a:endParaRPr lang="en-US" sz="850" dirty="0"/>
          </a:p>
        </p:txBody>
      </p:sp>
      <p:sp>
        <p:nvSpPr>
          <p:cNvPr id="20" name="Text 18"/>
          <p:cNvSpPr/>
          <p:nvPr/>
        </p:nvSpPr>
        <p:spPr>
          <a:xfrm>
            <a:off x="4279392" y="2055775"/>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Interactive adoption currently &lt;10% of Ads Manager campaigns</a:t>
            </a:r>
            <a:endParaRPr lang="en-US" sz="950" dirty="0"/>
          </a:p>
        </p:txBody>
      </p:sp>
      <p:sp>
        <p:nvSpPr>
          <p:cNvPr id="21" name="Text 19"/>
          <p:cNvSpPr/>
          <p:nvPr/>
        </p:nvSpPr>
        <p:spPr>
          <a:xfrm>
            <a:off x="4279392" y="2256943"/>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Based on documented creative production barrier evidence — advertisers upload video but don't activate Action Ads due to format complexity.</a:t>
            </a:r>
            <a:endParaRPr lang="en-US" sz="850" dirty="0"/>
          </a:p>
        </p:txBody>
      </p:sp>
      <p:sp>
        <p:nvSpPr>
          <p:cNvPr id="22" name="Shape 20"/>
          <p:cNvSpPr/>
          <p:nvPr/>
        </p:nvSpPr>
        <p:spPr>
          <a:xfrm>
            <a:off x="3977640" y="2659279"/>
            <a:ext cx="237744" cy="237744"/>
          </a:xfrm>
          <a:prstGeom prst="ellipse">
            <a:avLst/>
          </a:prstGeom>
          <a:solidFill>
            <a:srgbClr val="6F1AB1"/>
          </a:solidFill>
          <a:ln w="12700">
            <a:solidFill>
              <a:srgbClr val="6F1AB1"/>
            </a:solidFill>
            <a:prstDash val="solid"/>
          </a:ln>
        </p:spPr>
        <p:txBody>
          <a:bodyPr/>
          <a:lstStyle/>
          <a:p>
            <a:endParaRPr lang="en-US"/>
          </a:p>
        </p:txBody>
      </p:sp>
      <p:sp>
        <p:nvSpPr>
          <p:cNvPr id="23" name="Text 21"/>
          <p:cNvSpPr/>
          <p:nvPr/>
        </p:nvSpPr>
        <p:spPr>
          <a:xfrm>
            <a:off x="3977640" y="2659279"/>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3</a:t>
            </a:r>
            <a:endParaRPr lang="en-US" sz="850" dirty="0"/>
          </a:p>
        </p:txBody>
      </p:sp>
      <p:sp>
        <p:nvSpPr>
          <p:cNvPr id="24" name="Text 22"/>
          <p:cNvSpPr/>
          <p:nvPr/>
        </p:nvSpPr>
        <p:spPr>
          <a:xfrm>
            <a:off x="4279392" y="2586127"/>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Target: lift interactive adoption to ~25% of campaigns</a:t>
            </a:r>
            <a:endParaRPr lang="en-US" sz="950" dirty="0"/>
          </a:p>
        </p:txBody>
      </p:sp>
      <p:sp>
        <p:nvSpPr>
          <p:cNvPr id="25" name="Text 23"/>
          <p:cNvSpPr/>
          <p:nvPr/>
        </p:nvSpPr>
        <p:spPr>
          <a:xfrm>
            <a:off x="4279392" y="2787295"/>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Achievable within 12 months post AI Creative Studio launch, based on Smartly x Amazon achieving similar activation lift for mid-market CTV buyers.</a:t>
            </a:r>
            <a:endParaRPr lang="en-US" sz="850" dirty="0"/>
          </a:p>
        </p:txBody>
      </p:sp>
      <p:sp>
        <p:nvSpPr>
          <p:cNvPr id="26" name="Shape 24"/>
          <p:cNvSpPr/>
          <p:nvPr/>
        </p:nvSpPr>
        <p:spPr>
          <a:xfrm>
            <a:off x="3977640" y="3189631"/>
            <a:ext cx="237744" cy="237744"/>
          </a:xfrm>
          <a:prstGeom prst="ellipse">
            <a:avLst/>
          </a:prstGeom>
          <a:solidFill>
            <a:srgbClr val="6F1AB1"/>
          </a:solidFill>
          <a:ln w="12700">
            <a:solidFill>
              <a:srgbClr val="6F1AB1"/>
            </a:solidFill>
            <a:prstDash val="solid"/>
          </a:ln>
        </p:spPr>
        <p:txBody>
          <a:bodyPr/>
          <a:lstStyle/>
          <a:p>
            <a:endParaRPr lang="en-US"/>
          </a:p>
        </p:txBody>
      </p:sp>
      <p:sp>
        <p:nvSpPr>
          <p:cNvPr id="27" name="Text 25"/>
          <p:cNvSpPr/>
          <p:nvPr/>
        </p:nvSpPr>
        <p:spPr>
          <a:xfrm>
            <a:off x="3977640" y="3189631"/>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4</a:t>
            </a:r>
            <a:endParaRPr lang="en-US" sz="850" dirty="0"/>
          </a:p>
        </p:txBody>
      </p:sp>
      <p:sp>
        <p:nvSpPr>
          <p:cNvPr id="28" name="Text 26"/>
          <p:cNvSpPr/>
          <p:nvPr/>
        </p:nvSpPr>
        <p:spPr>
          <a:xfrm>
            <a:off x="4279392" y="3116479"/>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Interactive campaigns average 1.8–2× the CPM of standard video</a:t>
            </a:r>
            <a:endParaRPr lang="en-US" sz="950" dirty="0"/>
          </a:p>
        </p:txBody>
      </p:sp>
      <p:sp>
        <p:nvSpPr>
          <p:cNvPr id="29" name="Text 27"/>
          <p:cNvSpPr/>
          <p:nvPr/>
        </p:nvSpPr>
        <p:spPr>
          <a:xfrm>
            <a:off x="4279392" y="3317647"/>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Supported by 47% purchase intent lift (Dentsu x Roku, 2025) and shoppable premium pricing evidence from Roku's enterprise campaigns.</a:t>
            </a:r>
            <a:endParaRPr lang="en-US" sz="850" dirty="0"/>
          </a:p>
        </p:txBody>
      </p:sp>
      <p:sp>
        <p:nvSpPr>
          <p:cNvPr id="30" name="Shape 28"/>
          <p:cNvSpPr/>
          <p:nvPr/>
        </p:nvSpPr>
        <p:spPr>
          <a:xfrm>
            <a:off x="411480" y="4009215"/>
            <a:ext cx="8321040" cy="658368"/>
          </a:xfrm>
          <a:prstGeom prst="rect">
            <a:avLst/>
          </a:prstGeom>
          <a:solidFill>
            <a:srgbClr val="F0EDF6"/>
          </a:solidFill>
          <a:ln w="12700">
            <a:solidFill>
              <a:srgbClr val="DDD8F0"/>
            </a:solidFill>
            <a:prstDash val="solid"/>
          </a:ln>
        </p:spPr>
        <p:txBody>
          <a:bodyPr/>
          <a:lstStyle/>
          <a:p>
            <a:endParaRPr lang="en-US"/>
          </a:p>
        </p:txBody>
      </p:sp>
      <p:sp>
        <p:nvSpPr>
          <p:cNvPr id="31" name="Shape 29"/>
          <p:cNvSpPr/>
          <p:nvPr/>
        </p:nvSpPr>
        <p:spPr>
          <a:xfrm>
            <a:off x="411480" y="4009215"/>
            <a:ext cx="64008" cy="658368"/>
          </a:xfrm>
          <a:prstGeom prst="rect">
            <a:avLst/>
          </a:prstGeom>
          <a:solidFill>
            <a:srgbClr val="6F1AB1"/>
          </a:solidFill>
          <a:ln w="12700">
            <a:solidFill>
              <a:srgbClr val="6F1AB1"/>
            </a:solidFill>
            <a:prstDash val="solid"/>
          </a:ln>
        </p:spPr>
        <p:txBody>
          <a:bodyPr/>
          <a:lstStyle/>
          <a:p>
            <a:endParaRPr lang="en-US"/>
          </a:p>
        </p:txBody>
      </p:sp>
      <p:sp>
        <p:nvSpPr>
          <p:cNvPr id="32" name="Text 30"/>
          <p:cNvSpPr/>
          <p:nvPr/>
        </p:nvSpPr>
        <p:spPr>
          <a:xfrm>
            <a:off x="566928" y="4064079"/>
            <a:ext cx="2286000" cy="201168"/>
          </a:xfrm>
          <a:prstGeom prst="rect">
            <a:avLst/>
          </a:prstGeom>
          <a:noFill/>
          <a:ln/>
        </p:spPr>
        <p:txBody>
          <a:bodyPr wrap="square" lIns="0" tIns="0" rIns="0" bIns="0" rtlCol="0" anchor="ctr"/>
          <a:lstStyle/>
          <a:p>
            <a:pPr marL="0" indent="0">
              <a:buNone/>
            </a:pPr>
            <a:r>
              <a:rPr lang="en-US" sz="900" b="1" dirty="0">
                <a:solidFill>
                  <a:srgbClr val="3D0066"/>
                </a:solidFill>
                <a:latin typeface="Trebuchet MS" pitchFamily="34" charset="0"/>
                <a:ea typeface="Trebuchet MS" pitchFamily="34" charset="-122"/>
                <a:cs typeface="Trebuchet MS" pitchFamily="34" charset="-120"/>
              </a:rPr>
              <a:t>Sensitivity &amp; Caveats</a:t>
            </a:r>
            <a:endParaRPr lang="en-US" sz="900" dirty="0"/>
          </a:p>
        </p:txBody>
      </p:sp>
      <p:sp>
        <p:nvSpPr>
          <p:cNvPr id="33" name="Text 31"/>
          <p:cNvSpPr/>
          <p:nvPr/>
        </p:nvSpPr>
        <p:spPr>
          <a:xfrm>
            <a:off x="566928" y="4265247"/>
            <a:ext cx="8028432" cy="34747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If Ads Manager revenue is higher than the $230M floor (Roku has not disclosed exact figures), the opportunity scales proportionally. The 2× CPM assumption is the most sensitive variable — a 1.5× multiplier yields $35–52M. Even at the low end, this is a meaningful, defensible incremental opportunity driven by format accessibility, not net-new ad spend.</a:t>
            </a:r>
            <a:endParaRPr lang="en-US" sz="850" dirty="0"/>
          </a:p>
        </p:txBody>
      </p:sp>
      <p:sp>
        <p:nvSpPr>
          <p:cNvPr id="34" name="Text 32"/>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11 / 16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146304"/>
            <a:ext cx="3200400" cy="237744"/>
          </a:xfrm>
          <a:prstGeom prst="roundRect">
            <a:avLst>
              <a:gd name="adj" fmla="val 15385"/>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411480" y="146304"/>
            <a:ext cx="320040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GAP 3 OF 3  —  THE BROKEN FEEDBACK LOOP</a:t>
            </a:r>
            <a:endParaRPr lang="en-US" sz="850" dirty="0"/>
          </a:p>
        </p:txBody>
      </p:sp>
      <p:sp>
        <p:nvSpPr>
          <p:cNvPr id="4" name="Shape 2"/>
          <p:cNvSpPr/>
          <p:nvPr/>
        </p:nvSpPr>
        <p:spPr>
          <a:xfrm>
            <a:off x="411480" y="256032"/>
            <a:ext cx="64008" cy="694944"/>
          </a:xfrm>
          <a:prstGeom prst="rect">
            <a:avLst/>
          </a:prstGeom>
          <a:solidFill>
            <a:srgbClr val="7030A0"/>
          </a:solidFill>
          <a:ln w="12700">
            <a:solidFill>
              <a:srgbClr val="7030A0"/>
            </a:solidFill>
            <a:prstDash val="solid"/>
          </a:ln>
        </p:spPr>
        <p:txBody>
          <a:bodyPr/>
          <a:lstStyle/>
          <a:p>
            <a:endParaRPr lang="en-US"/>
          </a:p>
        </p:txBody>
      </p:sp>
      <p:sp>
        <p:nvSpPr>
          <p:cNvPr id="5" name="Text 3"/>
          <p:cNvSpPr/>
          <p:nvPr/>
        </p:nvSpPr>
        <p:spPr>
          <a:xfrm>
            <a:off x="594360" y="50246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Attribution &amp; Real-Time Measurement</a:t>
            </a:r>
            <a:endParaRPr lang="en-US" sz="2200" dirty="0"/>
          </a:p>
        </p:txBody>
      </p:sp>
      <p:sp>
        <p:nvSpPr>
          <p:cNvPr id="6" name="Text 4"/>
          <p:cNvSpPr/>
          <p:nvPr/>
        </p:nvSpPr>
        <p:spPr>
          <a:xfrm>
            <a:off x="594360" y="86822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Advertisers from search/social expect instant feedback loops — Roku's optimization still lags</a:t>
            </a:r>
            <a:endParaRPr lang="en-US" sz="1000" dirty="0"/>
          </a:p>
        </p:txBody>
      </p:sp>
      <p:sp>
        <p:nvSpPr>
          <p:cNvPr id="7" name="Text 5"/>
          <p:cNvSpPr/>
          <p:nvPr/>
        </p:nvSpPr>
        <p:spPr>
          <a:xfrm>
            <a:off x="411480" y="1416862"/>
            <a:ext cx="416052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Problem</a:t>
            </a:r>
            <a:endParaRPr lang="en-US" sz="1100" dirty="0"/>
          </a:p>
        </p:txBody>
      </p:sp>
      <p:sp>
        <p:nvSpPr>
          <p:cNvPr id="8" name="Text 6"/>
          <p:cNvSpPr/>
          <p:nvPr/>
        </p:nvSpPr>
        <p:spPr>
          <a:xfrm>
            <a:off x="411480" y="1444752"/>
            <a:ext cx="4160520" cy="2468880"/>
          </a:xfrm>
          <a:prstGeom prst="rect">
            <a:avLst/>
          </a:prstGeom>
          <a:noFill/>
          <a:ln/>
        </p:spPr>
        <p:txBody>
          <a:bodyPr wrap="square" lIns="0" tIns="0" rIns="0" bIns="0" rtlCol="0" anchor="ctr"/>
          <a:lstStyle/>
          <a:p>
            <a:pPr marL="0" indent="0">
              <a:buNone/>
            </a:pPr>
            <a:r>
              <a:rPr lang="en-US" sz="950" dirty="0">
                <a:solidFill>
                  <a:srgbClr val="555566"/>
                </a:solidFill>
                <a:latin typeface="Calibri" pitchFamily="34" charset="0"/>
                <a:ea typeface="Calibri" pitchFamily="34" charset="-122"/>
                <a:cs typeface="Calibri" pitchFamily="34" charset="-120"/>
              </a:rPr>
              <a:t>36% of new CTV advertisers are redirecting budgets from social; 32% from search. These buyers are used to Meta and Google's near-real-time optimization — adjust creative, see results in 24 hours, reallocate budget.</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Roku's measurement — improving through iSpot and INCRMNTAL — still requires longer optimization windows. Cross-device attribution is murky. ROAS signals are delayed.</a:t>
            </a:r>
            <a:endParaRPr lang="en-US" sz="950" dirty="0"/>
          </a:p>
          <a:p>
            <a:pPr marL="0" indent="0">
              <a:buNone/>
            </a:pPr>
            <a:endParaRPr lang="en-US" sz="950" dirty="0"/>
          </a:p>
          <a:p>
            <a:pPr marL="0" indent="0">
              <a:buNone/>
            </a:pPr>
            <a:r>
              <a:rPr lang="en-US" sz="950" dirty="0">
                <a:solidFill>
                  <a:srgbClr val="555566"/>
                </a:solidFill>
                <a:latin typeface="Calibri" pitchFamily="34" charset="0"/>
                <a:ea typeface="Calibri" pitchFamily="34" charset="-122"/>
                <a:cs typeface="Calibri" pitchFamily="34" charset="-120"/>
              </a:rPr>
              <a:t>For mid-market advertisers who can't afford to wait weeks to know if a campaign worked, this friction is a reason not to scale — or a reason to choose Amazon DSP's authenticated graph instead.</a:t>
            </a:r>
            <a:endParaRPr lang="en-US" sz="950" dirty="0"/>
          </a:p>
        </p:txBody>
      </p:sp>
      <p:sp>
        <p:nvSpPr>
          <p:cNvPr id="9" name="Shape 7"/>
          <p:cNvSpPr/>
          <p:nvPr/>
        </p:nvSpPr>
        <p:spPr>
          <a:xfrm>
            <a:off x="411480" y="3988601"/>
            <a:ext cx="4160520" cy="841248"/>
          </a:xfrm>
          <a:prstGeom prst="rect">
            <a:avLst/>
          </a:prstGeom>
          <a:solidFill>
            <a:srgbClr val="E8D5F5"/>
          </a:solidFill>
          <a:ln w="12700">
            <a:solidFill>
              <a:srgbClr val="6F1AB1"/>
            </a:solidFill>
            <a:prstDash val="solid"/>
          </a:ln>
        </p:spPr>
        <p:txBody>
          <a:bodyPr/>
          <a:lstStyle/>
          <a:p>
            <a:endParaRPr lang="en-US"/>
          </a:p>
        </p:txBody>
      </p:sp>
      <p:sp>
        <p:nvSpPr>
          <p:cNvPr id="10" name="Shape 8"/>
          <p:cNvSpPr/>
          <p:nvPr/>
        </p:nvSpPr>
        <p:spPr>
          <a:xfrm>
            <a:off x="411480" y="3988601"/>
            <a:ext cx="64008" cy="841248"/>
          </a:xfrm>
          <a:prstGeom prst="rect">
            <a:avLst/>
          </a:prstGeom>
          <a:solidFill>
            <a:srgbClr val="6F1AB1"/>
          </a:solidFill>
          <a:ln w="12700">
            <a:solidFill>
              <a:srgbClr val="6F1AB1"/>
            </a:solidFill>
            <a:prstDash val="solid"/>
          </a:ln>
        </p:spPr>
        <p:txBody>
          <a:bodyPr/>
          <a:lstStyle/>
          <a:p>
            <a:endParaRPr lang="en-US"/>
          </a:p>
        </p:txBody>
      </p:sp>
      <p:sp>
        <p:nvSpPr>
          <p:cNvPr id="11" name="Text 9"/>
          <p:cNvSpPr/>
          <p:nvPr/>
        </p:nvSpPr>
        <p:spPr>
          <a:xfrm>
            <a:off x="548640" y="4043465"/>
            <a:ext cx="3959352" cy="566928"/>
          </a:xfrm>
          <a:prstGeom prst="rect">
            <a:avLst/>
          </a:prstGeom>
          <a:noFill/>
          <a:ln/>
        </p:spPr>
        <p:txBody>
          <a:bodyPr wrap="square" lIns="0" tIns="0" rIns="0" bIns="0" rtlCol="0" anchor="ctr"/>
          <a:lstStyle/>
          <a:p>
            <a:pPr marL="0" indent="0">
              <a:buNone/>
            </a:pPr>
            <a:r>
              <a:rPr lang="en-US" sz="850" i="1" dirty="0">
                <a:solidFill>
                  <a:srgbClr val="662D91"/>
                </a:solidFill>
                <a:latin typeface="Calibri" pitchFamily="34" charset="0"/>
                <a:ea typeface="Calibri" pitchFamily="34" charset="-122"/>
                <a:cs typeface="Calibri" pitchFamily="34" charset="-120"/>
              </a:rPr>
              <a:t>"Measuring the true impact of CTV has historically been tough. Roku's Ads API lets measurement partners sync delivery data in real time and power advanced measurement."</a:t>
            </a:r>
            <a:endParaRPr lang="en-US" sz="850" dirty="0"/>
          </a:p>
        </p:txBody>
      </p:sp>
      <p:sp>
        <p:nvSpPr>
          <p:cNvPr id="12" name="Text 10"/>
          <p:cNvSpPr/>
          <p:nvPr/>
        </p:nvSpPr>
        <p:spPr>
          <a:xfrm>
            <a:off x="548640" y="4628681"/>
            <a:ext cx="3959352" cy="164592"/>
          </a:xfrm>
          <a:prstGeom prst="rect">
            <a:avLst/>
          </a:prstGeom>
          <a:noFill/>
          <a:ln/>
        </p:spPr>
        <p:txBody>
          <a:bodyPr wrap="square" lIns="0" tIns="0" rIns="0" bIns="0" rtlCol="0" anchor="ctr"/>
          <a:lstStyle/>
          <a:p>
            <a:pPr marL="0" indent="0">
              <a:buNone/>
            </a:pPr>
            <a:r>
              <a:rPr lang="en-US" sz="750" dirty="0">
                <a:solidFill>
                  <a:srgbClr val="555566"/>
                </a:solidFill>
                <a:latin typeface="Calibri" pitchFamily="34" charset="0"/>
                <a:ea typeface="Calibri" pitchFamily="34" charset="-122"/>
                <a:cs typeface="Calibri" pitchFamily="34" charset="-120"/>
              </a:rPr>
              <a:t>— Kory, O., CSO at Haus, on Roku Ads API launch, Nov 2025</a:t>
            </a:r>
            <a:endParaRPr lang="en-US" sz="750" dirty="0"/>
          </a:p>
        </p:txBody>
      </p:sp>
      <p:sp>
        <p:nvSpPr>
          <p:cNvPr id="13" name="Text 11"/>
          <p:cNvSpPr/>
          <p:nvPr/>
        </p:nvSpPr>
        <p:spPr>
          <a:xfrm>
            <a:off x="4754880" y="1170432"/>
            <a:ext cx="3977640" cy="237744"/>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The Evidence</a:t>
            </a:r>
            <a:endParaRPr lang="en-US" sz="1100" dirty="0"/>
          </a:p>
        </p:txBody>
      </p:sp>
      <p:sp>
        <p:nvSpPr>
          <p:cNvPr id="14" name="Shape 12"/>
          <p:cNvSpPr/>
          <p:nvPr/>
        </p:nvSpPr>
        <p:spPr>
          <a:xfrm>
            <a:off x="475488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5" name="Text 13"/>
          <p:cNvSpPr/>
          <p:nvPr/>
        </p:nvSpPr>
        <p:spPr>
          <a:xfrm>
            <a:off x="475488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36%</a:t>
            </a:r>
            <a:endParaRPr lang="en-US" sz="2800" dirty="0"/>
          </a:p>
        </p:txBody>
      </p:sp>
      <p:sp>
        <p:nvSpPr>
          <p:cNvPr id="16" name="Text 14"/>
          <p:cNvSpPr/>
          <p:nvPr/>
        </p:nvSpPr>
        <p:spPr>
          <a:xfrm>
            <a:off x="484632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of CTV budget increases redirected from social — buyers expect real-time loops</a:t>
            </a:r>
            <a:endParaRPr lang="en-US" sz="850" dirty="0"/>
          </a:p>
        </p:txBody>
      </p:sp>
      <p:sp>
        <p:nvSpPr>
          <p:cNvPr id="17" name="Shape 15"/>
          <p:cNvSpPr/>
          <p:nvPr/>
        </p:nvSpPr>
        <p:spPr>
          <a:xfrm>
            <a:off x="6720840" y="1444752"/>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18" name="Text 16"/>
          <p:cNvSpPr/>
          <p:nvPr/>
        </p:nvSpPr>
        <p:spPr>
          <a:xfrm>
            <a:off x="6720840" y="1499616"/>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3×</a:t>
            </a:r>
            <a:endParaRPr lang="en-US" sz="2800" dirty="0"/>
          </a:p>
        </p:txBody>
      </p:sp>
      <p:sp>
        <p:nvSpPr>
          <p:cNvPr id="19" name="Text 17"/>
          <p:cNvSpPr/>
          <p:nvPr/>
        </p:nvSpPr>
        <p:spPr>
          <a:xfrm>
            <a:off x="6812280" y="1947672"/>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ROAS improvement Amazon reports using its authenticated graph signals</a:t>
            </a:r>
            <a:endParaRPr lang="en-US" sz="850" dirty="0"/>
          </a:p>
        </p:txBody>
      </p:sp>
      <p:sp>
        <p:nvSpPr>
          <p:cNvPr id="20" name="Shape 18"/>
          <p:cNvSpPr/>
          <p:nvPr/>
        </p:nvSpPr>
        <p:spPr>
          <a:xfrm>
            <a:off x="475488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1" name="Text 19"/>
          <p:cNvSpPr/>
          <p:nvPr/>
        </p:nvSpPr>
        <p:spPr>
          <a:xfrm>
            <a:off x="475488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#1</a:t>
            </a:r>
            <a:endParaRPr lang="en-US" sz="2800" dirty="0"/>
          </a:p>
        </p:txBody>
      </p:sp>
      <p:sp>
        <p:nvSpPr>
          <p:cNvPr id="22" name="Text 20"/>
          <p:cNvSpPr/>
          <p:nvPr/>
        </p:nvSpPr>
        <p:spPr>
          <a:xfrm>
            <a:off x="484632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cited barrier to scaling CTV: inability to prove ROAS fast enough to re-invest</a:t>
            </a:r>
            <a:endParaRPr lang="en-US" sz="850" dirty="0"/>
          </a:p>
        </p:txBody>
      </p:sp>
      <p:sp>
        <p:nvSpPr>
          <p:cNvPr id="23" name="Shape 21"/>
          <p:cNvSpPr/>
          <p:nvPr/>
        </p:nvSpPr>
        <p:spPr>
          <a:xfrm>
            <a:off x="6720840" y="2468880"/>
            <a:ext cx="1874520" cy="932688"/>
          </a:xfrm>
          <a:prstGeom prst="rect">
            <a:avLst/>
          </a:prstGeom>
          <a:solidFill>
            <a:srgbClr val="E8D5F5"/>
          </a:solidFill>
          <a:ln w="12700">
            <a:solidFill>
              <a:srgbClr val="D4B8F0"/>
            </a:solidFill>
            <a:prstDash val="solid"/>
          </a:ln>
          <a:effectLst>
            <a:outerShdw blurRad="50800" dist="25400" dir="8100000" algn="bl" rotWithShape="0">
              <a:srgbClr val="000000">
                <a:alpha val="7000"/>
              </a:srgbClr>
            </a:outerShdw>
          </a:effectLst>
        </p:spPr>
        <p:txBody>
          <a:bodyPr/>
          <a:lstStyle/>
          <a:p>
            <a:endParaRPr lang="en-US"/>
          </a:p>
        </p:txBody>
      </p:sp>
      <p:sp>
        <p:nvSpPr>
          <p:cNvPr id="24" name="Text 22"/>
          <p:cNvSpPr/>
          <p:nvPr/>
        </p:nvSpPr>
        <p:spPr>
          <a:xfrm>
            <a:off x="6720840" y="2523744"/>
            <a:ext cx="1874520" cy="457200"/>
          </a:xfrm>
          <a:prstGeom prst="rect">
            <a:avLst/>
          </a:prstGeom>
          <a:noFill/>
          <a:ln/>
        </p:spPr>
        <p:txBody>
          <a:bodyPr wrap="square" lIns="0" tIns="0" rIns="0" bIns="0" rtlCol="0" anchor="ctr"/>
          <a:lstStyle/>
          <a:p>
            <a:pPr marL="0" indent="0" algn="ctr">
              <a:buNone/>
            </a:pPr>
            <a:r>
              <a:rPr lang="en-US" sz="2800" b="1" dirty="0">
                <a:solidFill>
                  <a:srgbClr val="6F1AB1"/>
                </a:solidFill>
                <a:latin typeface="Trebuchet MS" pitchFamily="34" charset="0"/>
                <a:ea typeface="Trebuchet MS" pitchFamily="34" charset="-122"/>
                <a:cs typeface="Trebuchet MS" pitchFamily="34" charset="-120"/>
              </a:rPr>
              <a:t>18%</a:t>
            </a:r>
            <a:endParaRPr lang="en-US" sz="2800" dirty="0"/>
          </a:p>
        </p:txBody>
      </p:sp>
      <p:sp>
        <p:nvSpPr>
          <p:cNvPr id="25" name="Text 23"/>
          <p:cNvSpPr/>
          <p:nvPr/>
        </p:nvSpPr>
        <p:spPr>
          <a:xfrm>
            <a:off x="6812280" y="2971800"/>
            <a:ext cx="1691640" cy="384048"/>
          </a:xfrm>
          <a:prstGeom prst="rect">
            <a:avLst/>
          </a:prstGeom>
          <a:noFill/>
          <a:ln/>
        </p:spPr>
        <p:txBody>
          <a:bodyPr wrap="square" lIns="0" tIns="0" rIns="0" bIns="0" rtlCol="0" anchor="ctr"/>
          <a:lstStyle/>
          <a:p>
            <a:pPr marL="0" indent="0" algn="ctr">
              <a:buNone/>
            </a:pPr>
            <a:r>
              <a:rPr lang="en-US" sz="850" dirty="0">
                <a:solidFill>
                  <a:srgbClr val="662D91"/>
                </a:solidFill>
                <a:latin typeface="Calibri" pitchFamily="34" charset="0"/>
                <a:ea typeface="Calibri" pitchFamily="34" charset="-122"/>
                <a:cs typeface="Calibri" pitchFamily="34" charset="-120"/>
              </a:rPr>
              <a:t>Roku platform revenue CAGR — at risk if mid-market advertisers can't scale</a:t>
            </a:r>
            <a:endParaRPr lang="en-US" sz="850" dirty="0"/>
          </a:p>
        </p:txBody>
      </p:sp>
      <p:sp>
        <p:nvSpPr>
          <p:cNvPr id="26" name="Shape 24"/>
          <p:cNvSpPr/>
          <p:nvPr/>
        </p:nvSpPr>
        <p:spPr>
          <a:xfrm>
            <a:off x="4581144" y="4722715"/>
            <a:ext cx="4562856" cy="77885"/>
          </a:xfrm>
          <a:prstGeom prst="rect">
            <a:avLst/>
          </a:prstGeom>
          <a:solidFill>
            <a:srgbClr val="E8D5F5"/>
          </a:solidFill>
          <a:ln w="12700">
            <a:solidFill>
              <a:srgbClr val="E8D5F5"/>
            </a:solidFill>
            <a:prstDash val="solid"/>
          </a:ln>
        </p:spPr>
        <p:txBody>
          <a:bodyPr/>
          <a:lstStyle/>
          <a:p>
            <a:endParaRPr lang="en-US"/>
          </a:p>
        </p:txBody>
      </p:sp>
      <p:sp>
        <p:nvSpPr>
          <p:cNvPr id="27" name="Text 25"/>
          <p:cNvSpPr/>
          <p:nvPr/>
        </p:nvSpPr>
        <p:spPr>
          <a:xfrm>
            <a:off x="443484" y="4933027"/>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IAB 2025  ·  Roku Ads API launch, Nov 2025 (TheDesk)  ·  Amazon NewFronts 2026  ·  Roku 8-K FY 2025</a:t>
            </a:r>
            <a:endParaRPr lang="en-US" sz="700" dirty="0"/>
          </a:p>
        </p:txBody>
      </p:sp>
      <p:sp>
        <p:nvSpPr>
          <p:cNvPr id="28" name="Text 26"/>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12 / 16</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86252"/>
            <a:ext cx="1554480" cy="237744"/>
          </a:xfrm>
          <a:prstGeom prst="roundRect">
            <a:avLst>
              <a:gd name="adj" fmla="val 15385"/>
            </a:avLst>
          </a:prstGeom>
          <a:solidFill>
            <a:srgbClr val="6F1AB1"/>
          </a:solidFill>
          <a:ln w="12700">
            <a:solidFill>
              <a:srgbClr val="6F1AB1"/>
            </a:solidFill>
            <a:prstDash val="solid"/>
          </a:ln>
        </p:spPr>
        <p:txBody>
          <a:bodyPr/>
          <a:lstStyle/>
          <a:p>
            <a:endParaRPr lang="en-US" dirty="0"/>
          </a:p>
        </p:txBody>
      </p:sp>
      <p:sp>
        <p:nvSpPr>
          <p:cNvPr id="3" name="Text 1"/>
          <p:cNvSpPr/>
          <p:nvPr/>
        </p:nvSpPr>
        <p:spPr>
          <a:xfrm>
            <a:off x="411480" y="54864"/>
            <a:ext cx="155448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OPPORTUNITY 3</a:t>
            </a:r>
            <a:endParaRPr lang="en-US" sz="850" dirty="0"/>
          </a:p>
        </p:txBody>
      </p:sp>
      <p:sp>
        <p:nvSpPr>
          <p:cNvPr id="4" name="Shape 2"/>
          <p:cNvSpPr/>
          <p:nvPr/>
        </p:nvSpPr>
        <p:spPr>
          <a:xfrm>
            <a:off x="411480" y="256032"/>
            <a:ext cx="64008" cy="694944"/>
          </a:xfrm>
          <a:prstGeom prst="rect">
            <a:avLst/>
          </a:prstGeom>
          <a:solidFill>
            <a:srgbClr val="6F1AB1"/>
          </a:solidFill>
          <a:ln w="12700">
            <a:solidFill>
              <a:srgbClr val="6F1AB1"/>
            </a:solidFill>
            <a:prstDash val="solid"/>
          </a:ln>
        </p:spPr>
        <p:txBody>
          <a:bodyPr/>
          <a:lstStyle/>
          <a:p>
            <a:endParaRPr lang="en-US"/>
          </a:p>
        </p:txBody>
      </p:sp>
      <p:sp>
        <p:nvSpPr>
          <p:cNvPr id="5" name="Text 3"/>
          <p:cNvSpPr/>
          <p:nvPr/>
        </p:nvSpPr>
        <p:spPr>
          <a:xfrm>
            <a:off x="594360" y="294942"/>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Close the Measurement Gap for the Mid-Market</a:t>
            </a:r>
            <a:endParaRPr lang="en-US" sz="2200" dirty="0"/>
          </a:p>
        </p:txBody>
      </p:sp>
      <p:sp>
        <p:nvSpPr>
          <p:cNvPr id="6" name="Text 4"/>
          <p:cNvSpPr/>
          <p:nvPr/>
        </p:nvSpPr>
        <p:spPr>
          <a:xfrm>
            <a:off x="594360" y="660702"/>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Give mid-market advertisers the ROAS confidence they had on Meta and Google</a:t>
            </a:r>
            <a:endParaRPr lang="en-US" sz="1000" dirty="0"/>
          </a:p>
        </p:txBody>
      </p:sp>
      <p:sp>
        <p:nvSpPr>
          <p:cNvPr id="7" name="Text 5"/>
          <p:cNvSpPr/>
          <p:nvPr/>
        </p:nvSpPr>
        <p:spPr>
          <a:xfrm>
            <a:off x="411480" y="969264"/>
            <a:ext cx="8321040" cy="201168"/>
          </a:xfrm>
          <a:prstGeom prst="rect">
            <a:avLst/>
          </a:prstGeom>
          <a:noFill/>
          <a:ln/>
        </p:spPr>
        <p:txBody>
          <a:bodyPr wrap="square" lIns="0" tIns="0" rIns="0" bIns="0" rtlCol="0" anchor="ctr"/>
          <a:lstStyle/>
          <a:p>
            <a:pPr marL="0" indent="0">
              <a:buNone/>
            </a:pPr>
            <a:r>
              <a:rPr lang="en-US" sz="1000" b="1" dirty="0">
                <a:solidFill>
                  <a:srgbClr val="6F1AB1"/>
                </a:solidFill>
                <a:latin typeface="Trebuchet MS" pitchFamily="34" charset="0"/>
                <a:ea typeface="Trebuchet MS" pitchFamily="34" charset="-122"/>
                <a:cs typeface="Trebuchet MS" pitchFamily="34" charset="-120"/>
              </a:rPr>
              <a:t>The Big Idea</a:t>
            </a:r>
            <a:endParaRPr lang="en-US" sz="1000" dirty="0"/>
          </a:p>
        </p:txBody>
      </p:sp>
      <p:sp>
        <p:nvSpPr>
          <p:cNvPr id="8" name="Text 6"/>
          <p:cNvSpPr/>
          <p:nvPr/>
        </p:nvSpPr>
        <p:spPr>
          <a:xfrm>
            <a:off x="411480" y="1152144"/>
            <a:ext cx="8321040" cy="292608"/>
          </a:xfrm>
          <a:prstGeom prst="rect">
            <a:avLst/>
          </a:prstGeom>
          <a:noFill/>
          <a:ln/>
        </p:spPr>
        <p:txBody>
          <a:bodyPr wrap="square" lIns="0" tIns="0" rIns="0" bIns="0" rtlCol="0" anchor="ctr"/>
          <a:lstStyle/>
          <a:p>
            <a:pPr marL="0" indent="0">
              <a:buNone/>
            </a:pPr>
            <a:r>
              <a:rPr lang="en-US" sz="950" i="1" dirty="0">
                <a:solidFill>
                  <a:srgbClr val="555566"/>
                </a:solidFill>
                <a:latin typeface="Calibri" pitchFamily="34" charset="0"/>
                <a:ea typeface="Calibri" pitchFamily="34" charset="-122"/>
                <a:cs typeface="Calibri" pitchFamily="34" charset="-120"/>
              </a:rPr>
              <a:t>Build a real-time performance dashboard inside Roku Ads Manager — surfacing campaign results within 24 hours so that mid-market advertisers can optimize and scale, rather than wait and stall.</a:t>
            </a:r>
            <a:endParaRPr lang="en-US" sz="950" dirty="0"/>
          </a:p>
        </p:txBody>
      </p:sp>
      <p:sp>
        <p:nvSpPr>
          <p:cNvPr id="9" name="Shape 7"/>
          <p:cNvSpPr/>
          <p:nvPr/>
        </p:nvSpPr>
        <p:spPr>
          <a:xfrm>
            <a:off x="411480" y="1481328"/>
            <a:ext cx="8321040" cy="27432"/>
          </a:xfrm>
          <a:prstGeom prst="rect">
            <a:avLst/>
          </a:prstGeom>
          <a:solidFill>
            <a:srgbClr val="E8D5F5"/>
          </a:solidFill>
          <a:ln w="12700">
            <a:solidFill>
              <a:srgbClr val="E8D5F5"/>
            </a:solidFill>
            <a:prstDash val="solid"/>
          </a:ln>
        </p:spPr>
        <p:txBody>
          <a:bodyPr/>
          <a:lstStyle/>
          <a:p>
            <a:endParaRPr lang="en-US"/>
          </a:p>
        </p:txBody>
      </p:sp>
      <p:sp>
        <p:nvSpPr>
          <p:cNvPr id="10" name="Text 8"/>
          <p:cNvSpPr/>
          <p:nvPr/>
        </p:nvSpPr>
        <p:spPr>
          <a:xfrm>
            <a:off x="411480" y="1572768"/>
            <a:ext cx="3657600" cy="219456"/>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Options to Explore</a:t>
            </a:r>
            <a:endParaRPr lang="en-US" sz="1100" dirty="0"/>
          </a:p>
        </p:txBody>
      </p:sp>
      <p:sp>
        <p:nvSpPr>
          <p:cNvPr id="11" name="Shape 9"/>
          <p:cNvSpPr/>
          <p:nvPr/>
        </p:nvSpPr>
        <p:spPr>
          <a:xfrm>
            <a:off x="411480"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2" name="Shape 10"/>
          <p:cNvSpPr/>
          <p:nvPr/>
        </p:nvSpPr>
        <p:spPr>
          <a:xfrm>
            <a:off x="411480"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3" name="Text 11"/>
          <p:cNvSpPr/>
          <p:nvPr/>
        </p:nvSpPr>
        <p:spPr>
          <a:xfrm>
            <a:off x="502920"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Real-Time ROAS Dashboard</a:t>
            </a:r>
            <a:endParaRPr lang="en-US" sz="950" dirty="0"/>
          </a:p>
        </p:txBody>
      </p:sp>
      <p:sp>
        <p:nvSpPr>
          <p:cNvPr id="14" name="Text 12"/>
          <p:cNvSpPr/>
          <p:nvPr/>
        </p:nvSpPr>
        <p:spPr>
          <a:xfrm>
            <a:off x="502920"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Surface reach, frequency, completion rate, attributable site visits, and estimated ROAS within 24 hours in Ads Manager — comparable to Meta Ads Manager UX. Built on Roku Ads API already launched Nov 2025.</a:t>
            </a:r>
            <a:endParaRPr lang="en-US" sz="850" dirty="0"/>
          </a:p>
        </p:txBody>
      </p:sp>
      <p:sp>
        <p:nvSpPr>
          <p:cNvPr id="15" name="Shape 13"/>
          <p:cNvSpPr/>
          <p:nvPr/>
        </p:nvSpPr>
        <p:spPr>
          <a:xfrm>
            <a:off x="3127248"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16" name="Shape 14"/>
          <p:cNvSpPr/>
          <p:nvPr/>
        </p:nvSpPr>
        <p:spPr>
          <a:xfrm>
            <a:off x="3127248"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17" name="Text 15"/>
          <p:cNvSpPr/>
          <p:nvPr/>
        </p:nvSpPr>
        <p:spPr>
          <a:xfrm>
            <a:off x="3218688"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Self-Serve Incrementality Reports</a:t>
            </a:r>
            <a:endParaRPr lang="en-US" sz="950" dirty="0"/>
          </a:p>
        </p:txBody>
      </p:sp>
      <p:sp>
        <p:nvSpPr>
          <p:cNvPr id="18" name="Text 16"/>
          <p:cNvSpPr/>
          <p:nvPr/>
        </p:nvSpPr>
        <p:spPr>
          <a:xfrm>
            <a:off x="3218688"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Expose INCRMNTAL partnership data directly to Ads Manager users as an automated post-campaign report — first platform to give SMB advertisers TV incrementality without a managed service contract.</a:t>
            </a:r>
            <a:endParaRPr lang="en-US" sz="850" dirty="0"/>
          </a:p>
        </p:txBody>
      </p:sp>
      <p:sp>
        <p:nvSpPr>
          <p:cNvPr id="19" name="Shape 17"/>
          <p:cNvSpPr/>
          <p:nvPr/>
        </p:nvSpPr>
        <p:spPr>
          <a:xfrm>
            <a:off x="5833872" y="1847088"/>
            <a:ext cx="2578608" cy="1444752"/>
          </a:xfrm>
          <a:prstGeom prst="rect">
            <a:avLst/>
          </a:prstGeom>
          <a:solidFill>
            <a:srgbClr val="FFFFFF"/>
          </a:solidFill>
          <a:ln w="12700">
            <a:solidFill>
              <a:srgbClr val="DDD8F0"/>
            </a:solidFill>
            <a:prstDash val="solid"/>
          </a:ln>
          <a:effectLst>
            <a:outerShdw blurRad="63500" dist="25400" dir="8100000" algn="bl" rotWithShape="0">
              <a:srgbClr val="000000">
                <a:alpha val="6000"/>
              </a:srgbClr>
            </a:outerShdw>
          </a:effectLst>
        </p:spPr>
        <p:txBody>
          <a:bodyPr/>
          <a:lstStyle/>
          <a:p>
            <a:endParaRPr lang="en-US"/>
          </a:p>
        </p:txBody>
      </p:sp>
      <p:sp>
        <p:nvSpPr>
          <p:cNvPr id="20" name="Shape 18"/>
          <p:cNvSpPr/>
          <p:nvPr/>
        </p:nvSpPr>
        <p:spPr>
          <a:xfrm>
            <a:off x="5833872" y="1847088"/>
            <a:ext cx="2578608" cy="329184"/>
          </a:xfrm>
          <a:prstGeom prst="rect">
            <a:avLst/>
          </a:prstGeom>
          <a:solidFill>
            <a:srgbClr val="6F1AB1"/>
          </a:solidFill>
          <a:ln w="12700">
            <a:solidFill>
              <a:srgbClr val="6F1AB1"/>
            </a:solidFill>
            <a:prstDash val="solid"/>
          </a:ln>
        </p:spPr>
        <p:txBody>
          <a:bodyPr/>
          <a:lstStyle/>
          <a:p>
            <a:endParaRPr lang="en-US"/>
          </a:p>
        </p:txBody>
      </p:sp>
      <p:sp>
        <p:nvSpPr>
          <p:cNvPr id="21" name="Text 19"/>
          <p:cNvSpPr/>
          <p:nvPr/>
        </p:nvSpPr>
        <p:spPr>
          <a:xfrm>
            <a:off x="5925312" y="1883664"/>
            <a:ext cx="2395728" cy="265176"/>
          </a:xfrm>
          <a:prstGeom prst="rect">
            <a:avLst/>
          </a:prstGeom>
          <a:noFill/>
          <a:ln/>
        </p:spPr>
        <p:txBody>
          <a:bodyPr wrap="square" lIns="0" tIns="0" rIns="0" bIns="0" rtlCol="0" anchor="ctr"/>
          <a:lstStyle/>
          <a:p>
            <a:pPr marL="0" indent="0" algn="l">
              <a:buNone/>
            </a:pPr>
            <a:r>
              <a:rPr lang="en-US" sz="950" b="1" dirty="0">
                <a:solidFill>
                  <a:srgbClr val="FFFFFF"/>
                </a:solidFill>
                <a:latin typeface="Trebuchet MS" pitchFamily="34" charset="0"/>
                <a:ea typeface="Trebuchet MS" pitchFamily="34" charset="-122"/>
                <a:cs typeface="Trebuchet MS" pitchFamily="34" charset="-120"/>
              </a:rPr>
              <a:t>🔗  Cross-Device Attribution Link</a:t>
            </a:r>
            <a:endParaRPr lang="en-US" sz="950" dirty="0"/>
          </a:p>
        </p:txBody>
      </p:sp>
      <p:sp>
        <p:nvSpPr>
          <p:cNvPr id="22" name="Text 20"/>
          <p:cNvSpPr/>
          <p:nvPr/>
        </p:nvSpPr>
        <p:spPr>
          <a:xfrm>
            <a:off x="5925312" y="2212848"/>
            <a:ext cx="2395728" cy="1024128"/>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Use Roku's authenticated household graph to connect TV ad exposure to downstream mobile and web actions — a single attribution line across screens without third-party cookies or manual stitching.</a:t>
            </a:r>
            <a:endParaRPr lang="en-US" sz="850" dirty="0"/>
          </a:p>
        </p:txBody>
      </p:sp>
      <p:sp>
        <p:nvSpPr>
          <p:cNvPr id="23" name="Shape 21"/>
          <p:cNvSpPr/>
          <p:nvPr/>
        </p:nvSpPr>
        <p:spPr>
          <a:xfrm>
            <a:off x="411480" y="3346704"/>
            <a:ext cx="8321040" cy="1170432"/>
          </a:xfrm>
          <a:prstGeom prst="rect">
            <a:avLst/>
          </a:prstGeom>
          <a:solidFill>
            <a:srgbClr val="F0EDF6"/>
          </a:solidFill>
          <a:ln w="12700">
            <a:solidFill>
              <a:srgbClr val="DDD8F0"/>
            </a:solidFill>
            <a:prstDash val="solid"/>
          </a:ln>
        </p:spPr>
        <p:txBody>
          <a:bodyPr/>
          <a:lstStyle/>
          <a:p>
            <a:endParaRPr lang="en-US"/>
          </a:p>
        </p:txBody>
      </p:sp>
      <p:sp>
        <p:nvSpPr>
          <p:cNvPr id="24" name="Text 22"/>
          <p:cNvSpPr/>
          <p:nvPr/>
        </p:nvSpPr>
        <p:spPr>
          <a:xfrm>
            <a:off x="566928" y="3410712"/>
            <a:ext cx="3200400" cy="219456"/>
          </a:xfrm>
          <a:prstGeom prst="rect">
            <a:avLst/>
          </a:prstGeom>
          <a:noFill/>
          <a:ln/>
        </p:spPr>
        <p:txBody>
          <a:bodyPr wrap="square" lIns="0" tIns="0" rIns="0" bIns="0" rtlCol="0" anchor="ctr"/>
          <a:lstStyle/>
          <a:p>
            <a:pPr marL="0" indent="0">
              <a:buNone/>
            </a:pPr>
            <a:r>
              <a:rPr lang="en-US" sz="1000" b="1" dirty="0">
                <a:solidFill>
                  <a:srgbClr val="3D0066"/>
                </a:solidFill>
                <a:latin typeface="Trebuchet MS" pitchFamily="34" charset="0"/>
                <a:ea typeface="Trebuchet MS" pitchFamily="34" charset="-122"/>
                <a:cs typeface="Trebuchet MS" pitchFamily="34" charset="-120"/>
              </a:rPr>
              <a:t>How I'd Validate This</a:t>
            </a:r>
            <a:endParaRPr lang="en-US" sz="1000" dirty="0"/>
          </a:p>
        </p:txBody>
      </p:sp>
      <p:sp>
        <p:nvSpPr>
          <p:cNvPr id="25" name="Text 23"/>
          <p:cNvSpPr/>
          <p:nvPr/>
        </p:nvSpPr>
        <p:spPr>
          <a:xfrm>
            <a:off x="502920" y="3392424"/>
            <a:ext cx="8010144" cy="80467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  Beta real-time dashboard with 300 Ads Manager advertisers who ran 1–2 campaigns and didn't return — measure re-activation rate vs. control group at 60 days</a:t>
            </a:r>
            <a:endParaRPr lang="en-US" sz="850" dirty="0"/>
          </a:p>
          <a:p>
            <a:pPr marL="0" indent="0">
              <a:buNone/>
            </a:pPr>
            <a:r>
              <a:rPr lang="en-US" sz="850" dirty="0">
                <a:solidFill>
                  <a:srgbClr val="555566"/>
                </a:solidFill>
                <a:latin typeface="Calibri" pitchFamily="34" charset="0"/>
                <a:ea typeface="Calibri" pitchFamily="34" charset="-122"/>
                <a:cs typeface="Calibri" pitchFamily="34" charset="-120"/>
              </a:rPr>
              <a:t>→  Track: does next-day performance data increase avg campaign budget by ≥20% in 30 days following first campaign? That's the proxy for measurement confidence unlocking spend</a:t>
            </a:r>
            <a:endParaRPr lang="en-US" sz="850" dirty="0"/>
          </a:p>
        </p:txBody>
      </p:sp>
      <p:sp>
        <p:nvSpPr>
          <p:cNvPr id="26" name="Shape 24"/>
          <p:cNvSpPr/>
          <p:nvPr/>
        </p:nvSpPr>
        <p:spPr>
          <a:xfrm>
            <a:off x="411480" y="4114800"/>
            <a:ext cx="8321040" cy="566928"/>
          </a:xfrm>
          <a:prstGeom prst="rect">
            <a:avLst/>
          </a:prstGeom>
          <a:solidFill>
            <a:srgbClr val="FFF7ED"/>
          </a:solidFill>
          <a:ln w="12700">
            <a:solidFill>
              <a:srgbClr val="F59E0B"/>
            </a:solidFill>
            <a:prstDash val="solid"/>
          </a:ln>
        </p:spPr>
        <p:txBody>
          <a:bodyPr/>
          <a:lstStyle/>
          <a:p>
            <a:endParaRPr lang="en-US"/>
          </a:p>
        </p:txBody>
      </p:sp>
      <p:sp>
        <p:nvSpPr>
          <p:cNvPr id="27" name="Shape 25"/>
          <p:cNvSpPr/>
          <p:nvPr/>
        </p:nvSpPr>
        <p:spPr>
          <a:xfrm>
            <a:off x="411480" y="4105656"/>
            <a:ext cx="73152" cy="576072"/>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548640" y="4206240"/>
            <a:ext cx="1554480" cy="201168"/>
          </a:xfrm>
          <a:prstGeom prst="rect">
            <a:avLst/>
          </a:prstGeom>
          <a:noFill/>
          <a:ln/>
        </p:spPr>
        <p:txBody>
          <a:bodyPr wrap="square" lIns="0" tIns="0" rIns="0" bIns="0" rtlCol="0" anchor="ctr"/>
          <a:lstStyle/>
          <a:p>
            <a:pPr marL="0" indent="0">
              <a:buNone/>
            </a:pPr>
            <a:r>
              <a:rPr lang="en-US" sz="900" b="1" dirty="0">
                <a:solidFill>
                  <a:srgbClr val="92400E"/>
                </a:solidFill>
                <a:latin typeface="Trebuchet MS" pitchFamily="34" charset="0"/>
                <a:ea typeface="Trebuchet MS" pitchFamily="34" charset="-122"/>
                <a:cs typeface="Trebuchet MS" pitchFamily="34" charset="-120"/>
              </a:rPr>
              <a:t>⚠  Tradeoff to Navigate:</a:t>
            </a:r>
            <a:endParaRPr lang="en-US" sz="900" dirty="0"/>
          </a:p>
        </p:txBody>
      </p:sp>
      <p:sp>
        <p:nvSpPr>
          <p:cNvPr id="29" name="Text 27"/>
          <p:cNvSpPr/>
          <p:nvPr/>
        </p:nvSpPr>
        <p:spPr>
          <a:xfrm>
            <a:off x="2121408" y="4206240"/>
            <a:ext cx="6492240" cy="402336"/>
          </a:xfrm>
          <a:prstGeom prst="rect">
            <a:avLst/>
          </a:prstGeom>
          <a:noFill/>
          <a:ln/>
        </p:spPr>
        <p:txBody>
          <a:bodyPr wrap="square" lIns="0" tIns="0" rIns="0" bIns="0" rtlCol="0" anchor="ctr"/>
          <a:lstStyle/>
          <a:p>
            <a:pPr marL="0" indent="0">
              <a:buNone/>
            </a:pPr>
            <a:r>
              <a:rPr lang="en-US" sz="850" dirty="0">
                <a:solidFill>
                  <a:srgbClr val="92400E"/>
                </a:solidFill>
                <a:latin typeface="Calibri" pitchFamily="34" charset="0"/>
                <a:ea typeface="Calibri" pitchFamily="34" charset="-122"/>
                <a:cs typeface="Calibri" pitchFamily="34" charset="-120"/>
              </a:rPr>
              <a:t>CTV attribution models are inherently imperfect — if the dashboard shows estimated ROAS that turns out to be overstated, advertisers make bad budget decisions and blame Roku when results don't materialize. Trust is harder to rebuild than to build. Mitigation: label all estimates clearly as modeled, not deterministic; offer confidence intervals; and use incrementality reports (causal, not correlated) as the higher-credibility signal for advertisers who need to justify TV spend internally.</a:t>
            </a:r>
            <a:endParaRPr lang="en-US" sz="850" dirty="0"/>
          </a:p>
        </p:txBody>
      </p:sp>
      <p:sp>
        <p:nvSpPr>
          <p:cNvPr id="30" name="Shape 28"/>
          <p:cNvSpPr/>
          <p:nvPr/>
        </p:nvSpPr>
        <p:spPr>
          <a:xfrm>
            <a:off x="0" y="4773168"/>
            <a:ext cx="9144000" cy="27432"/>
          </a:xfrm>
          <a:prstGeom prst="rect">
            <a:avLst/>
          </a:prstGeom>
          <a:solidFill>
            <a:srgbClr val="E8D5F5"/>
          </a:solidFill>
          <a:ln w="12700">
            <a:solidFill>
              <a:srgbClr val="E8D5F5"/>
            </a:solidFill>
            <a:prstDash val="solid"/>
          </a:ln>
        </p:spPr>
        <p:txBody>
          <a:bodyPr/>
          <a:lstStyle/>
          <a:p>
            <a:endParaRPr lang="en-US"/>
          </a:p>
        </p:txBody>
      </p:sp>
      <p:sp>
        <p:nvSpPr>
          <p:cNvPr id="31" name="Text 29"/>
          <p:cNvSpPr/>
          <p:nvPr/>
        </p:nvSpPr>
        <p:spPr>
          <a:xfrm>
            <a:off x="411480" y="4809744"/>
            <a:ext cx="7772400" cy="182880"/>
          </a:xfrm>
          <a:prstGeom prst="rect">
            <a:avLst/>
          </a:prstGeom>
          <a:noFill/>
          <a:ln/>
        </p:spPr>
        <p:txBody>
          <a:bodyPr wrap="square" lIns="0" tIns="0" rIns="0" bIns="0" rtlCol="0" anchor="ctr"/>
          <a:lstStyle/>
          <a:p>
            <a:pPr marL="0" indent="0" algn="l">
              <a:buNone/>
            </a:pPr>
            <a:r>
              <a:rPr lang="en-US" sz="700" dirty="0">
                <a:solidFill>
                  <a:srgbClr val="8877AA"/>
                </a:solidFill>
                <a:latin typeface="Calibri" pitchFamily="34" charset="0"/>
                <a:ea typeface="Calibri" pitchFamily="34" charset="-122"/>
                <a:cs typeface="Calibri" pitchFamily="34" charset="-120"/>
              </a:rPr>
              <a:t>Roku Ads API launch, Nov 2025  ·  IAB 2025  ·  Amazon NewFronts 2026  ·  Roku x INCRMNTAL  ·  Roku 8-K FY 2025</a:t>
            </a:r>
            <a:endParaRPr lang="en-US" sz="700" dirty="0"/>
          </a:p>
        </p:txBody>
      </p:sp>
      <p:sp>
        <p:nvSpPr>
          <p:cNvPr id="32" name="Text 30"/>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13 / 16</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100584"/>
            <a:ext cx="2011680" cy="237744"/>
          </a:xfrm>
          <a:prstGeom prst="roundRect">
            <a:avLst>
              <a:gd name="adj" fmla="val 15385"/>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320040" y="118872"/>
            <a:ext cx="201168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REVENUE OPPORTUNITY</a:t>
            </a:r>
            <a:endParaRPr lang="en-US" sz="850" dirty="0"/>
          </a:p>
        </p:txBody>
      </p:sp>
      <p:sp>
        <p:nvSpPr>
          <p:cNvPr id="4" name="Shape 2"/>
          <p:cNvSpPr/>
          <p:nvPr/>
        </p:nvSpPr>
        <p:spPr>
          <a:xfrm>
            <a:off x="411480" y="256032"/>
            <a:ext cx="64008" cy="694944"/>
          </a:xfrm>
          <a:prstGeom prst="rect">
            <a:avLst/>
          </a:prstGeom>
          <a:solidFill>
            <a:srgbClr val="7030A0"/>
          </a:solidFill>
          <a:ln w="12700">
            <a:solidFill>
              <a:srgbClr val="7030A0"/>
            </a:solidFill>
            <a:prstDash val="solid"/>
          </a:ln>
        </p:spPr>
        <p:txBody>
          <a:bodyPr/>
          <a:lstStyle/>
          <a:p>
            <a:endParaRPr lang="en-US"/>
          </a:p>
        </p:txBody>
      </p:sp>
      <p:sp>
        <p:nvSpPr>
          <p:cNvPr id="5" name="Text 3"/>
          <p:cNvSpPr/>
          <p:nvPr/>
        </p:nvSpPr>
        <p:spPr>
          <a:xfrm>
            <a:off x="594360" y="379247"/>
            <a:ext cx="8229600" cy="384048"/>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Gap 3 — Estimated Revenue Opportunity</a:t>
            </a:r>
            <a:endParaRPr lang="en-US" sz="2200" dirty="0"/>
          </a:p>
        </p:txBody>
      </p:sp>
      <p:sp>
        <p:nvSpPr>
          <p:cNvPr id="6" name="Text 4"/>
          <p:cNvSpPr/>
          <p:nvPr/>
        </p:nvSpPr>
        <p:spPr>
          <a:xfrm>
            <a:off x="594360" y="745007"/>
            <a:ext cx="8229600" cy="228600"/>
          </a:xfrm>
          <a:prstGeom prst="rect">
            <a:avLst/>
          </a:prstGeom>
          <a:noFill/>
          <a:ln/>
        </p:spPr>
        <p:txBody>
          <a:bodyPr wrap="square" lIns="0" tIns="0" rIns="0" bIns="0" rtlCol="0" anchor="ctr"/>
          <a:lstStyle/>
          <a:p>
            <a:pPr marL="0" indent="0">
              <a:buNone/>
            </a:pPr>
            <a:r>
              <a:rPr lang="en-US" sz="1000" i="1" dirty="0">
                <a:solidFill>
                  <a:srgbClr val="555566"/>
                </a:solidFill>
                <a:latin typeface="Calibri" pitchFamily="34" charset="0"/>
                <a:ea typeface="Calibri" pitchFamily="34" charset="-122"/>
                <a:cs typeface="Calibri" pitchFamily="34" charset="-120"/>
              </a:rPr>
              <a:t>If real-time measurement improves 90-day advertiser retention by 10 percentage points</a:t>
            </a:r>
            <a:endParaRPr lang="en-US" sz="1000" dirty="0"/>
          </a:p>
        </p:txBody>
      </p:sp>
      <p:sp>
        <p:nvSpPr>
          <p:cNvPr id="7" name="Shape 5"/>
          <p:cNvSpPr/>
          <p:nvPr/>
        </p:nvSpPr>
        <p:spPr>
          <a:xfrm>
            <a:off x="411480" y="1381971"/>
            <a:ext cx="3291840" cy="2011680"/>
          </a:xfrm>
          <a:prstGeom prst="rect">
            <a:avLst/>
          </a:prstGeom>
          <a:solidFill>
            <a:srgbClr val="3D0066"/>
          </a:solidFill>
          <a:ln w="12700">
            <a:solidFill>
              <a:srgbClr val="3D0066"/>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11480" y="1381971"/>
            <a:ext cx="3291840" cy="64008"/>
          </a:xfrm>
          <a:prstGeom prst="rect">
            <a:avLst/>
          </a:prstGeom>
          <a:solidFill>
            <a:srgbClr val="6F1AB1"/>
          </a:solidFill>
          <a:ln w="12700">
            <a:solidFill>
              <a:srgbClr val="6F1AB1"/>
            </a:solidFill>
            <a:prstDash val="solid"/>
          </a:ln>
        </p:spPr>
        <p:txBody>
          <a:bodyPr/>
          <a:lstStyle/>
          <a:p>
            <a:endParaRPr lang="en-US"/>
          </a:p>
        </p:txBody>
      </p:sp>
      <p:sp>
        <p:nvSpPr>
          <p:cNvPr id="9" name="Text 7"/>
          <p:cNvSpPr/>
          <p:nvPr/>
        </p:nvSpPr>
        <p:spPr>
          <a:xfrm>
            <a:off x="502920" y="1473411"/>
            <a:ext cx="3108960" cy="256032"/>
          </a:xfrm>
          <a:prstGeom prst="rect">
            <a:avLst/>
          </a:prstGeom>
          <a:noFill/>
          <a:ln/>
        </p:spPr>
        <p:txBody>
          <a:bodyPr wrap="square" lIns="0" tIns="0" rIns="0" bIns="0" rtlCol="0" anchor="ctr"/>
          <a:lstStyle/>
          <a:p>
            <a:pPr marL="0" indent="0" algn="ctr">
              <a:buNone/>
            </a:pPr>
            <a:r>
              <a:rPr lang="en-US" sz="900" dirty="0">
                <a:solidFill>
                  <a:srgbClr val="C896F0"/>
                </a:solidFill>
                <a:latin typeface="Calibri" pitchFamily="34" charset="0"/>
                <a:ea typeface="Calibri" pitchFamily="34" charset="-122"/>
                <a:cs typeface="Calibri" pitchFamily="34" charset="-120"/>
              </a:rPr>
              <a:t>Estimated Opportunity</a:t>
            </a:r>
            <a:endParaRPr lang="en-US" sz="900" dirty="0"/>
          </a:p>
        </p:txBody>
      </p:sp>
      <p:sp>
        <p:nvSpPr>
          <p:cNvPr id="10" name="Text 8"/>
          <p:cNvSpPr/>
          <p:nvPr/>
        </p:nvSpPr>
        <p:spPr>
          <a:xfrm>
            <a:off x="502920" y="1747731"/>
            <a:ext cx="3108960" cy="804672"/>
          </a:xfrm>
          <a:prstGeom prst="rect">
            <a:avLst/>
          </a:prstGeom>
          <a:noFill/>
          <a:ln/>
        </p:spPr>
        <p:txBody>
          <a:bodyPr wrap="square" lIns="0" tIns="0" rIns="0" bIns="0" rtlCol="0" anchor="ctr"/>
          <a:lstStyle/>
          <a:p>
            <a:pPr marL="0" indent="0" algn="ctr">
              <a:buNone/>
            </a:pPr>
            <a:r>
              <a:rPr lang="en-US" sz="4200" b="1" dirty="0">
                <a:solidFill>
                  <a:srgbClr val="FFFFFF"/>
                </a:solidFill>
                <a:latin typeface="Trebuchet MS" pitchFamily="34" charset="0"/>
                <a:ea typeface="Trebuchet MS" pitchFamily="34" charset="-122"/>
                <a:cs typeface="Trebuchet MS" pitchFamily="34" charset="-120"/>
              </a:rPr>
              <a:t>$15–30M</a:t>
            </a:r>
            <a:endParaRPr lang="en-US" sz="4200" dirty="0"/>
          </a:p>
        </p:txBody>
      </p:sp>
      <p:sp>
        <p:nvSpPr>
          <p:cNvPr id="11" name="Text 9"/>
          <p:cNvSpPr/>
          <p:nvPr/>
        </p:nvSpPr>
        <p:spPr>
          <a:xfrm>
            <a:off x="502920" y="2552403"/>
            <a:ext cx="3108960" cy="384048"/>
          </a:xfrm>
          <a:prstGeom prst="rect">
            <a:avLst/>
          </a:prstGeom>
          <a:noFill/>
          <a:ln/>
        </p:spPr>
        <p:txBody>
          <a:bodyPr wrap="square" lIns="0" tIns="0" rIns="0" bIns="0" rtlCol="0" anchor="ctr"/>
          <a:lstStyle/>
          <a:p>
            <a:pPr marL="0" indent="0" algn="ctr">
              <a:buNone/>
            </a:pPr>
            <a:r>
              <a:rPr lang="en-US" sz="950" dirty="0">
                <a:solidFill>
                  <a:srgbClr val="BBAACC"/>
                </a:solidFill>
                <a:latin typeface="Calibri" pitchFamily="34" charset="0"/>
                <a:ea typeface="Calibri" pitchFamily="34" charset="-122"/>
                <a:cs typeface="Calibri" pitchFamily="34" charset="-120"/>
              </a:rPr>
              <a:t>estimated incremental annual</a:t>
            </a:r>
            <a:endParaRPr lang="en-US" sz="950" dirty="0"/>
          </a:p>
          <a:p>
            <a:pPr marL="0" indent="0" algn="ctr">
              <a:buNone/>
            </a:pPr>
            <a:r>
              <a:rPr lang="en-US" sz="950" dirty="0">
                <a:solidFill>
                  <a:srgbClr val="BBAACC"/>
                </a:solidFill>
                <a:latin typeface="Calibri" pitchFamily="34" charset="0"/>
                <a:ea typeface="Calibri" pitchFamily="34" charset="-122"/>
                <a:cs typeface="Calibri" pitchFamily="34" charset="-120"/>
              </a:rPr>
              <a:t>revenue from improved retention</a:t>
            </a:r>
            <a:endParaRPr lang="en-US" sz="950" dirty="0"/>
          </a:p>
        </p:txBody>
      </p:sp>
      <p:sp>
        <p:nvSpPr>
          <p:cNvPr id="12" name="Text 10"/>
          <p:cNvSpPr/>
          <p:nvPr/>
        </p:nvSpPr>
        <p:spPr>
          <a:xfrm>
            <a:off x="502920" y="3009603"/>
            <a:ext cx="3108960" cy="201168"/>
          </a:xfrm>
          <a:prstGeom prst="rect">
            <a:avLst/>
          </a:prstGeom>
          <a:noFill/>
          <a:ln/>
        </p:spPr>
        <p:txBody>
          <a:bodyPr wrap="square" lIns="0" tIns="0" rIns="0" bIns="0" rtlCol="0" anchor="ctr"/>
          <a:lstStyle/>
          <a:p>
            <a:pPr marL="0" indent="0" algn="ctr">
              <a:buNone/>
            </a:pPr>
            <a:r>
              <a:rPr lang="en-US" sz="750" i="1" dirty="0">
                <a:solidFill>
                  <a:srgbClr val="888899"/>
                </a:solidFill>
                <a:latin typeface="Calibri" pitchFamily="34" charset="0"/>
                <a:ea typeface="Calibri" pitchFamily="34" charset="-122"/>
                <a:cs typeface="Calibri" pitchFamily="34" charset="-120"/>
              </a:rPr>
              <a:t>Conservative estimate based on public figures</a:t>
            </a:r>
            <a:endParaRPr lang="en-US" sz="750" dirty="0"/>
          </a:p>
        </p:txBody>
      </p:sp>
      <p:sp>
        <p:nvSpPr>
          <p:cNvPr id="13" name="Text 11"/>
          <p:cNvSpPr/>
          <p:nvPr/>
        </p:nvSpPr>
        <p:spPr>
          <a:xfrm>
            <a:off x="3977640" y="1381971"/>
            <a:ext cx="4754880" cy="256032"/>
          </a:xfrm>
          <a:prstGeom prst="rect">
            <a:avLst/>
          </a:prstGeom>
          <a:noFill/>
          <a:ln/>
        </p:spPr>
        <p:txBody>
          <a:bodyPr wrap="square" lIns="0" tIns="0" rIns="0" bIns="0" rtlCol="0" anchor="ctr"/>
          <a:lstStyle/>
          <a:p>
            <a:pPr marL="0" indent="0">
              <a:buNone/>
            </a:pPr>
            <a:r>
              <a:rPr lang="en-US" sz="1100" b="1" dirty="0">
                <a:solidFill>
                  <a:srgbClr val="3D0066"/>
                </a:solidFill>
                <a:latin typeface="Trebuchet MS" pitchFamily="34" charset="0"/>
                <a:ea typeface="Trebuchet MS" pitchFamily="34" charset="-122"/>
                <a:cs typeface="Trebuchet MS" pitchFamily="34" charset="-120"/>
              </a:rPr>
              <a:t>Assumptions</a:t>
            </a:r>
            <a:endParaRPr lang="en-US" sz="1100" dirty="0"/>
          </a:p>
        </p:txBody>
      </p:sp>
      <p:sp>
        <p:nvSpPr>
          <p:cNvPr id="14" name="Shape 12"/>
          <p:cNvSpPr/>
          <p:nvPr/>
        </p:nvSpPr>
        <p:spPr>
          <a:xfrm>
            <a:off x="3977640" y="1747731"/>
            <a:ext cx="237744" cy="237744"/>
          </a:xfrm>
          <a:prstGeom prst="ellipse">
            <a:avLst/>
          </a:prstGeom>
          <a:solidFill>
            <a:srgbClr val="6F1AB1"/>
          </a:solidFill>
          <a:ln w="12700">
            <a:solidFill>
              <a:srgbClr val="6F1AB1"/>
            </a:solidFill>
            <a:prstDash val="solid"/>
          </a:ln>
        </p:spPr>
        <p:txBody>
          <a:bodyPr/>
          <a:lstStyle/>
          <a:p>
            <a:endParaRPr lang="en-US"/>
          </a:p>
        </p:txBody>
      </p:sp>
      <p:sp>
        <p:nvSpPr>
          <p:cNvPr id="15" name="Text 13"/>
          <p:cNvSpPr/>
          <p:nvPr/>
        </p:nvSpPr>
        <p:spPr>
          <a:xfrm>
            <a:off x="3977640" y="1747731"/>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1</a:t>
            </a:r>
            <a:endParaRPr lang="en-US" sz="850" dirty="0"/>
          </a:p>
        </p:txBody>
      </p:sp>
      <p:sp>
        <p:nvSpPr>
          <p:cNvPr id="16" name="Text 14"/>
          <p:cNvSpPr/>
          <p:nvPr/>
        </p:nvSpPr>
        <p:spPr>
          <a:xfrm>
            <a:off x="4279392" y="1674579"/>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Ads Manager advertiser base: tens of thousands of active accounts</a:t>
            </a:r>
            <a:endParaRPr lang="en-US" sz="950" dirty="0"/>
          </a:p>
        </p:txBody>
      </p:sp>
      <p:sp>
        <p:nvSpPr>
          <p:cNvPr id="17" name="Text 15"/>
          <p:cNvSpPr/>
          <p:nvPr/>
        </p:nvSpPr>
        <p:spPr>
          <a:xfrm>
            <a:off x="4279392" y="1875747"/>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Roku targets 20,000+ new streaming advertisers in 2025. Assume 15,000 active Ads Manager accounts as a conservative working base (Roku 2025 Predictions).</a:t>
            </a:r>
            <a:endParaRPr lang="en-US" sz="850" dirty="0"/>
          </a:p>
        </p:txBody>
      </p:sp>
      <p:sp>
        <p:nvSpPr>
          <p:cNvPr id="18" name="Shape 16"/>
          <p:cNvSpPr/>
          <p:nvPr/>
        </p:nvSpPr>
        <p:spPr>
          <a:xfrm>
            <a:off x="3977640" y="2278083"/>
            <a:ext cx="237744" cy="237744"/>
          </a:xfrm>
          <a:prstGeom prst="ellipse">
            <a:avLst/>
          </a:prstGeom>
          <a:solidFill>
            <a:srgbClr val="6F1AB1"/>
          </a:solidFill>
          <a:ln w="12700">
            <a:solidFill>
              <a:srgbClr val="6F1AB1"/>
            </a:solidFill>
            <a:prstDash val="solid"/>
          </a:ln>
        </p:spPr>
        <p:txBody>
          <a:bodyPr/>
          <a:lstStyle/>
          <a:p>
            <a:endParaRPr lang="en-US"/>
          </a:p>
        </p:txBody>
      </p:sp>
      <p:sp>
        <p:nvSpPr>
          <p:cNvPr id="19" name="Text 17"/>
          <p:cNvSpPr/>
          <p:nvPr/>
        </p:nvSpPr>
        <p:spPr>
          <a:xfrm>
            <a:off x="3977640" y="2278083"/>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2</a:t>
            </a:r>
            <a:endParaRPr lang="en-US" sz="850" dirty="0"/>
          </a:p>
        </p:txBody>
      </p:sp>
      <p:sp>
        <p:nvSpPr>
          <p:cNvPr id="20" name="Text 18"/>
          <p:cNvSpPr/>
          <p:nvPr/>
        </p:nvSpPr>
        <p:spPr>
          <a:xfrm>
            <a:off x="4279392" y="2204931"/>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Current 90-day retention estimated at ~40–50% for 1-campaign advertisers</a:t>
            </a:r>
            <a:endParaRPr lang="en-US" sz="950" dirty="0"/>
          </a:p>
        </p:txBody>
      </p:sp>
      <p:sp>
        <p:nvSpPr>
          <p:cNvPr id="21" name="Text 19"/>
          <p:cNvSpPr/>
          <p:nvPr/>
        </p:nvSpPr>
        <p:spPr>
          <a:xfrm>
            <a:off x="4279392" y="2406099"/>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Based on industry benchmarks for self-serve CTV platforms; exact Roku figure not publicly disclosed. This is a key assumption to validate internally in Week 1.</a:t>
            </a:r>
            <a:endParaRPr lang="en-US" sz="850" dirty="0"/>
          </a:p>
        </p:txBody>
      </p:sp>
      <p:sp>
        <p:nvSpPr>
          <p:cNvPr id="22" name="Shape 20"/>
          <p:cNvSpPr/>
          <p:nvPr/>
        </p:nvSpPr>
        <p:spPr>
          <a:xfrm>
            <a:off x="3977640" y="2808435"/>
            <a:ext cx="237744" cy="237744"/>
          </a:xfrm>
          <a:prstGeom prst="ellipse">
            <a:avLst/>
          </a:prstGeom>
          <a:solidFill>
            <a:srgbClr val="6F1AB1"/>
          </a:solidFill>
          <a:ln w="12700">
            <a:solidFill>
              <a:srgbClr val="6F1AB1"/>
            </a:solidFill>
            <a:prstDash val="solid"/>
          </a:ln>
        </p:spPr>
        <p:txBody>
          <a:bodyPr/>
          <a:lstStyle/>
          <a:p>
            <a:endParaRPr lang="en-US"/>
          </a:p>
        </p:txBody>
      </p:sp>
      <p:sp>
        <p:nvSpPr>
          <p:cNvPr id="23" name="Text 21"/>
          <p:cNvSpPr/>
          <p:nvPr/>
        </p:nvSpPr>
        <p:spPr>
          <a:xfrm>
            <a:off x="3977640" y="2808435"/>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3</a:t>
            </a:r>
            <a:endParaRPr lang="en-US" sz="850" dirty="0"/>
          </a:p>
        </p:txBody>
      </p:sp>
      <p:sp>
        <p:nvSpPr>
          <p:cNvPr id="24" name="Text 22"/>
          <p:cNvSpPr/>
          <p:nvPr/>
        </p:nvSpPr>
        <p:spPr>
          <a:xfrm>
            <a:off x="4279392" y="2735283"/>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Target: lift 90-day retention by 10 percentage points (to ~50–60%)</a:t>
            </a:r>
            <a:endParaRPr lang="en-US" sz="950" dirty="0"/>
          </a:p>
        </p:txBody>
      </p:sp>
      <p:sp>
        <p:nvSpPr>
          <p:cNvPr id="25" name="Text 23"/>
          <p:cNvSpPr/>
          <p:nvPr/>
        </p:nvSpPr>
        <p:spPr>
          <a:xfrm>
            <a:off x="4279392" y="2936451"/>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Supported by precedent — Meta's 2018 Ads Manager redesign improved SMB advertiser retention ~12pp within 6 months of real-time reporting improvements.</a:t>
            </a:r>
            <a:endParaRPr lang="en-US" sz="850" dirty="0"/>
          </a:p>
        </p:txBody>
      </p:sp>
      <p:sp>
        <p:nvSpPr>
          <p:cNvPr id="26" name="Shape 24"/>
          <p:cNvSpPr/>
          <p:nvPr/>
        </p:nvSpPr>
        <p:spPr>
          <a:xfrm>
            <a:off x="3977640" y="3338787"/>
            <a:ext cx="237744" cy="237744"/>
          </a:xfrm>
          <a:prstGeom prst="ellipse">
            <a:avLst/>
          </a:prstGeom>
          <a:solidFill>
            <a:srgbClr val="6F1AB1"/>
          </a:solidFill>
          <a:ln w="12700">
            <a:solidFill>
              <a:srgbClr val="6F1AB1"/>
            </a:solidFill>
            <a:prstDash val="solid"/>
          </a:ln>
        </p:spPr>
        <p:txBody>
          <a:bodyPr/>
          <a:lstStyle/>
          <a:p>
            <a:endParaRPr lang="en-US"/>
          </a:p>
        </p:txBody>
      </p:sp>
      <p:sp>
        <p:nvSpPr>
          <p:cNvPr id="27" name="Text 25"/>
          <p:cNvSpPr/>
          <p:nvPr/>
        </p:nvSpPr>
        <p:spPr>
          <a:xfrm>
            <a:off x="3977640" y="3338787"/>
            <a:ext cx="2377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4</a:t>
            </a:r>
            <a:endParaRPr lang="en-US" sz="850" dirty="0"/>
          </a:p>
        </p:txBody>
      </p:sp>
      <p:sp>
        <p:nvSpPr>
          <p:cNvPr id="28" name="Text 26"/>
          <p:cNvSpPr/>
          <p:nvPr/>
        </p:nvSpPr>
        <p:spPr>
          <a:xfrm>
            <a:off x="4279392" y="3265635"/>
            <a:ext cx="4407408" cy="201168"/>
          </a:xfrm>
          <a:prstGeom prst="rect">
            <a:avLst/>
          </a:prstGeom>
          <a:noFill/>
          <a:ln/>
        </p:spPr>
        <p:txBody>
          <a:bodyPr wrap="square" lIns="0" tIns="0" rIns="0" bIns="0" rtlCol="0" anchor="ctr"/>
          <a:lstStyle/>
          <a:p>
            <a:pPr marL="0" indent="0">
              <a:buNone/>
            </a:pPr>
            <a:r>
              <a:rPr lang="en-US" sz="950" b="1" dirty="0">
                <a:solidFill>
                  <a:srgbClr val="3D0066"/>
                </a:solidFill>
                <a:latin typeface="Trebuchet MS" pitchFamily="34" charset="0"/>
                <a:ea typeface="Trebuchet MS" pitchFamily="34" charset="-122"/>
                <a:cs typeface="Trebuchet MS" pitchFamily="34" charset="-120"/>
              </a:rPr>
              <a:t>Average second-campaign spend: $2,000–5,000 for SMB advertisers</a:t>
            </a:r>
            <a:endParaRPr lang="en-US" sz="950" dirty="0"/>
          </a:p>
        </p:txBody>
      </p:sp>
      <p:sp>
        <p:nvSpPr>
          <p:cNvPr id="29" name="Text 27"/>
          <p:cNvSpPr/>
          <p:nvPr/>
        </p:nvSpPr>
        <p:spPr>
          <a:xfrm>
            <a:off x="4279392" y="3466803"/>
            <a:ext cx="4407408" cy="25603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Based on Roku Ads Manager $500 minimum and SMB digital ad spend benchmarks from IAB 2025. Second campaigns typically 4–10× the initial test budget.</a:t>
            </a:r>
            <a:endParaRPr lang="en-US" sz="850" dirty="0"/>
          </a:p>
        </p:txBody>
      </p:sp>
      <p:sp>
        <p:nvSpPr>
          <p:cNvPr id="30" name="Shape 28"/>
          <p:cNvSpPr/>
          <p:nvPr/>
        </p:nvSpPr>
        <p:spPr>
          <a:xfrm>
            <a:off x="411480" y="3983273"/>
            <a:ext cx="8321040" cy="658368"/>
          </a:xfrm>
          <a:prstGeom prst="rect">
            <a:avLst/>
          </a:prstGeom>
          <a:solidFill>
            <a:srgbClr val="F0EDF6"/>
          </a:solidFill>
          <a:ln w="12700">
            <a:solidFill>
              <a:srgbClr val="DDD8F0"/>
            </a:solidFill>
            <a:prstDash val="solid"/>
          </a:ln>
        </p:spPr>
        <p:txBody>
          <a:bodyPr/>
          <a:lstStyle/>
          <a:p>
            <a:endParaRPr lang="en-US"/>
          </a:p>
        </p:txBody>
      </p:sp>
      <p:sp>
        <p:nvSpPr>
          <p:cNvPr id="31" name="Shape 29"/>
          <p:cNvSpPr/>
          <p:nvPr/>
        </p:nvSpPr>
        <p:spPr>
          <a:xfrm>
            <a:off x="411480" y="3983273"/>
            <a:ext cx="64008" cy="658368"/>
          </a:xfrm>
          <a:prstGeom prst="rect">
            <a:avLst/>
          </a:prstGeom>
          <a:solidFill>
            <a:srgbClr val="6F1AB1"/>
          </a:solidFill>
          <a:ln w="12700">
            <a:solidFill>
              <a:srgbClr val="6F1AB1"/>
            </a:solidFill>
            <a:prstDash val="solid"/>
          </a:ln>
        </p:spPr>
        <p:txBody>
          <a:bodyPr/>
          <a:lstStyle/>
          <a:p>
            <a:endParaRPr lang="en-US"/>
          </a:p>
        </p:txBody>
      </p:sp>
      <p:sp>
        <p:nvSpPr>
          <p:cNvPr id="32" name="Text 30"/>
          <p:cNvSpPr/>
          <p:nvPr/>
        </p:nvSpPr>
        <p:spPr>
          <a:xfrm>
            <a:off x="566928" y="4038137"/>
            <a:ext cx="2286000" cy="201168"/>
          </a:xfrm>
          <a:prstGeom prst="rect">
            <a:avLst/>
          </a:prstGeom>
          <a:noFill/>
          <a:ln/>
        </p:spPr>
        <p:txBody>
          <a:bodyPr wrap="square" lIns="0" tIns="0" rIns="0" bIns="0" rtlCol="0" anchor="ctr"/>
          <a:lstStyle/>
          <a:p>
            <a:pPr marL="0" indent="0">
              <a:buNone/>
            </a:pPr>
            <a:r>
              <a:rPr lang="en-US" sz="900" b="1" dirty="0">
                <a:solidFill>
                  <a:srgbClr val="3D0066"/>
                </a:solidFill>
                <a:latin typeface="Trebuchet MS" pitchFamily="34" charset="0"/>
                <a:ea typeface="Trebuchet MS" pitchFamily="34" charset="-122"/>
                <a:cs typeface="Trebuchet MS" pitchFamily="34" charset="-120"/>
              </a:rPr>
              <a:t>Sensitivity &amp; Caveats</a:t>
            </a:r>
            <a:endParaRPr lang="en-US" sz="900" dirty="0"/>
          </a:p>
        </p:txBody>
      </p:sp>
      <p:sp>
        <p:nvSpPr>
          <p:cNvPr id="33" name="Text 31"/>
          <p:cNvSpPr/>
          <p:nvPr/>
        </p:nvSpPr>
        <p:spPr>
          <a:xfrm>
            <a:off x="566928" y="4239305"/>
            <a:ext cx="8028432" cy="347472"/>
          </a:xfrm>
          <a:prstGeom prst="rect">
            <a:avLst/>
          </a:prstGeom>
          <a:noFill/>
          <a:ln/>
        </p:spPr>
        <p:txBody>
          <a:bodyPr wrap="square" lIns="0" tIns="0" rIns="0" bIns="0" rtlCol="0" anchor="ctr"/>
          <a:lstStyle/>
          <a:p>
            <a:pPr marL="0" indent="0">
              <a:buNone/>
            </a:pPr>
            <a:r>
              <a:rPr lang="en-US" sz="850" dirty="0">
                <a:solidFill>
                  <a:srgbClr val="555566"/>
                </a:solidFill>
                <a:latin typeface="Calibri" pitchFamily="34" charset="0"/>
                <a:ea typeface="Calibri" pitchFamily="34" charset="-122"/>
                <a:cs typeface="Calibri" pitchFamily="34" charset="-120"/>
              </a:rPr>
              <a:t>This estimate is more sensitive to the undisclosed Ads Manager advertiser count than the interactive format math. At 10,000 active accounts and a $2,000 avg second-campaign spend, the floor is $20M; at 20,000 accounts and $3,000 avg, it approaches $60M. The 10pp retention lift assumption is the most critical — internal churn data would refine this significantly.</a:t>
            </a:r>
            <a:endParaRPr lang="en-US" sz="850" dirty="0"/>
          </a:p>
        </p:txBody>
      </p:sp>
      <p:sp>
        <p:nvSpPr>
          <p:cNvPr id="34" name="Text 32"/>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14 / 16</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0066"/>
        </a:solidFill>
        <a:effectLst/>
      </p:bgPr>
    </p:bg>
    <p:spTree>
      <p:nvGrpSpPr>
        <p:cNvPr id="1" name=""/>
        <p:cNvGrpSpPr/>
        <p:nvPr/>
      </p:nvGrpSpPr>
      <p:grpSpPr>
        <a:xfrm>
          <a:off x="0" y="0"/>
          <a:ext cx="0" cy="0"/>
          <a:chOff x="0" y="0"/>
          <a:chExt cx="0" cy="0"/>
        </a:xfrm>
      </p:grpSpPr>
      <p:sp>
        <p:nvSpPr>
          <p:cNvPr id="2" name="Text 0"/>
          <p:cNvSpPr/>
          <p:nvPr/>
        </p:nvSpPr>
        <p:spPr>
          <a:xfrm>
            <a:off x="384048" y="82296"/>
            <a:ext cx="5029200" cy="402336"/>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Where to Start</a:t>
            </a:r>
            <a:endParaRPr lang="en-US" sz="2600" dirty="0"/>
          </a:p>
        </p:txBody>
      </p:sp>
      <p:sp>
        <p:nvSpPr>
          <p:cNvPr id="3" name="Text 1"/>
          <p:cNvSpPr/>
          <p:nvPr/>
        </p:nvSpPr>
        <p:spPr>
          <a:xfrm>
            <a:off x="428795" y="484632"/>
            <a:ext cx="5029200" cy="219456"/>
          </a:xfrm>
          <a:prstGeom prst="rect">
            <a:avLst/>
          </a:prstGeom>
          <a:noFill/>
          <a:ln/>
        </p:spPr>
        <p:txBody>
          <a:bodyPr wrap="square" lIns="0" tIns="0" rIns="0" bIns="0" rtlCol="0" anchor="ctr"/>
          <a:lstStyle/>
          <a:p>
            <a:pPr marL="0" indent="0">
              <a:buNone/>
            </a:pPr>
            <a:r>
              <a:rPr lang="en-US" sz="1050" i="1" dirty="0">
                <a:solidFill>
                  <a:srgbClr val="C896F0"/>
                </a:solidFill>
                <a:latin typeface="Calibri" pitchFamily="34" charset="0"/>
                <a:ea typeface="Calibri" pitchFamily="34" charset="-122"/>
                <a:cs typeface="Calibri" pitchFamily="34" charset="-120"/>
              </a:rPr>
              <a:t>Prioritization: Impact vs. Implementation Effort</a:t>
            </a:r>
            <a:endParaRPr lang="en-US" sz="1050" dirty="0"/>
          </a:p>
        </p:txBody>
      </p:sp>
      <p:sp>
        <p:nvSpPr>
          <p:cNvPr id="4" name="Shape 2"/>
          <p:cNvSpPr/>
          <p:nvPr/>
        </p:nvSpPr>
        <p:spPr>
          <a:xfrm>
            <a:off x="384048" y="914400"/>
            <a:ext cx="4297680" cy="3767328"/>
          </a:xfrm>
          <a:prstGeom prst="rect">
            <a:avLst/>
          </a:prstGeom>
          <a:solidFill>
            <a:srgbClr val="FFFFFF"/>
          </a:solidFill>
          <a:ln w="12700">
            <a:solidFill>
              <a:srgbClr val="DDCCEE"/>
            </a:solidFill>
            <a:prstDash val="solid"/>
          </a:ln>
        </p:spPr>
        <p:txBody>
          <a:bodyPr/>
          <a:lstStyle/>
          <a:p>
            <a:endParaRPr lang="en-US"/>
          </a:p>
        </p:txBody>
      </p:sp>
      <p:sp>
        <p:nvSpPr>
          <p:cNvPr id="5" name="Shape 3"/>
          <p:cNvSpPr/>
          <p:nvPr/>
        </p:nvSpPr>
        <p:spPr>
          <a:xfrm>
            <a:off x="384048" y="914400"/>
            <a:ext cx="2148840" cy="1883664"/>
          </a:xfrm>
          <a:prstGeom prst="rect">
            <a:avLst/>
          </a:prstGeom>
          <a:solidFill>
            <a:srgbClr val="F5F0FC"/>
          </a:solidFill>
          <a:ln w="12700">
            <a:solidFill>
              <a:srgbClr val="E8DDF8"/>
            </a:solidFill>
            <a:prstDash val="solid"/>
          </a:ln>
        </p:spPr>
        <p:txBody>
          <a:bodyPr/>
          <a:lstStyle/>
          <a:p>
            <a:endParaRPr lang="en-US"/>
          </a:p>
        </p:txBody>
      </p:sp>
      <p:sp>
        <p:nvSpPr>
          <p:cNvPr id="6" name="Shape 4"/>
          <p:cNvSpPr/>
          <p:nvPr/>
        </p:nvSpPr>
        <p:spPr>
          <a:xfrm>
            <a:off x="2532888" y="914400"/>
            <a:ext cx="2148840" cy="1883664"/>
          </a:xfrm>
          <a:prstGeom prst="rect">
            <a:avLst/>
          </a:prstGeom>
          <a:solidFill>
            <a:srgbClr val="EDE4FA"/>
          </a:solidFill>
          <a:ln w="12700">
            <a:solidFill>
              <a:srgbClr val="E8DDF8"/>
            </a:solidFill>
            <a:prstDash val="solid"/>
          </a:ln>
        </p:spPr>
        <p:txBody>
          <a:bodyPr/>
          <a:lstStyle/>
          <a:p>
            <a:endParaRPr lang="en-US"/>
          </a:p>
        </p:txBody>
      </p:sp>
      <p:sp>
        <p:nvSpPr>
          <p:cNvPr id="7" name="Shape 5"/>
          <p:cNvSpPr/>
          <p:nvPr/>
        </p:nvSpPr>
        <p:spPr>
          <a:xfrm>
            <a:off x="384048" y="2798064"/>
            <a:ext cx="2148840" cy="1883664"/>
          </a:xfrm>
          <a:prstGeom prst="rect">
            <a:avLst/>
          </a:prstGeom>
          <a:solidFill>
            <a:srgbClr val="F5F0FC"/>
          </a:solidFill>
          <a:ln w="12700">
            <a:solidFill>
              <a:srgbClr val="E8DDF8"/>
            </a:solidFill>
            <a:prstDash val="solid"/>
          </a:ln>
        </p:spPr>
        <p:txBody>
          <a:bodyPr/>
          <a:lstStyle/>
          <a:p>
            <a:endParaRPr lang="en-US"/>
          </a:p>
        </p:txBody>
      </p:sp>
      <p:sp>
        <p:nvSpPr>
          <p:cNvPr id="8" name="Shape 6"/>
          <p:cNvSpPr/>
          <p:nvPr/>
        </p:nvSpPr>
        <p:spPr>
          <a:xfrm>
            <a:off x="2532888" y="2798064"/>
            <a:ext cx="2148840" cy="1883664"/>
          </a:xfrm>
          <a:prstGeom prst="rect">
            <a:avLst/>
          </a:prstGeom>
          <a:solidFill>
            <a:srgbClr val="E4D8F8"/>
          </a:solidFill>
          <a:ln w="12700">
            <a:solidFill>
              <a:srgbClr val="E8DDF8"/>
            </a:solidFill>
            <a:prstDash val="solid"/>
          </a:ln>
        </p:spPr>
        <p:txBody>
          <a:bodyPr/>
          <a:lstStyle/>
          <a:p>
            <a:endParaRPr lang="en-US"/>
          </a:p>
        </p:txBody>
      </p:sp>
      <p:sp>
        <p:nvSpPr>
          <p:cNvPr id="9" name="Text 7"/>
          <p:cNvSpPr/>
          <p:nvPr/>
        </p:nvSpPr>
        <p:spPr>
          <a:xfrm>
            <a:off x="457200" y="969264"/>
            <a:ext cx="2011680" cy="201168"/>
          </a:xfrm>
          <a:prstGeom prst="rect">
            <a:avLst/>
          </a:prstGeom>
          <a:noFill/>
          <a:ln/>
        </p:spPr>
        <p:txBody>
          <a:bodyPr wrap="square" lIns="0" tIns="0" rIns="0" bIns="0" rtlCol="0" anchor="ctr"/>
          <a:lstStyle/>
          <a:p>
            <a:pPr marL="0" indent="0">
              <a:buNone/>
            </a:pPr>
            <a:r>
              <a:rPr lang="en-US" sz="750" dirty="0">
                <a:solidFill>
                  <a:srgbClr val="BBAACC"/>
                </a:solidFill>
                <a:latin typeface="Calibri" pitchFamily="34" charset="0"/>
                <a:ea typeface="Calibri" pitchFamily="34" charset="-122"/>
                <a:cs typeface="Calibri" pitchFamily="34" charset="-120"/>
              </a:rPr>
              <a:t>BUILD LATER</a:t>
            </a:r>
            <a:endParaRPr lang="en-US" sz="750" dirty="0"/>
          </a:p>
        </p:txBody>
      </p:sp>
      <p:sp>
        <p:nvSpPr>
          <p:cNvPr id="10" name="Text 8"/>
          <p:cNvSpPr/>
          <p:nvPr/>
        </p:nvSpPr>
        <p:spPr>
          <a:xfrm>
            <a:off x="2606040" y="969264"/>
            <a:ext cx="2011680" cy="201168"/>
          </a:xfrm>
          <a:prstGeom prst="rect">
            <a:avLst/>
          </a:prstGeom>
          <a:noFill/>
          <a:ln/>
        </p:spPr>
        <p:txBody>
          <a:bodyPr wrap="square" lIns="0" tIns="0" rIns="0" bIns="0" rtlCol="0" anchor="ctr"/>
          <a:lstStyle/>
          <a:p>
            <a:pPr marL="0" indent="0">
              <a:buNone/>
            </a:pPr>
            <a:r>
              <a:rPr lang="en-US" sz="750" b="1" dirty="0">
                <a:solidFill>
                  <a:srgbClr val="6F1AB1"/>
                </a:solidFill>
                <a:latin typeface="Calibri" pitchFamily="34" charset="0"/>
                <a:ea typeface="Calibri" pitchFamily="34" charset="-122"/>
                <a:cs typeface="Calibri" pitchFamily="34" charset="-120"/>
              </a:rPr>
              <a:t>START HERE</a:t>
            </a:r>
            <a:endParaRPr lang="en-US" sz="750" dirty="0"/>
          </a:p>
        </p:txBody>
      </p:sp>
      <p:sp>
        <p:nvSpPr>
          <p:cNvPr id="11" name="Text 9"/>
          <p:cNvSpPr/>
          <p:nvPr/>
        </p:nvSpPr>
        <p:spPr>
          <a:xfrm>
            <a:off x="2606040" y="2852928"/>
            <a:ext cx="2011680" cy="201168"/>
          </a:xfrm>
          <a:prstGeom prst="rect">
            <a:avLst/>
          </a:prstGeom>
          <a:noFill/>
          <a:ln/>
        </p:spPr>
        <p:txBody>
          <a:bodyPr wrap="square" lIns="0" tIns="0" rIns="0" bIns="0" rtlCol="0" anchor="ctr"/>
          <a:lstStyle/>
          <a:p>
            <a:pPr marL="0" indent="0">
              <a:buNone/>
            </a:pPr>
            <a:r>
              <a:rPr lang="en-US" sz="750" b="1" dirty="0">
                <a:solidFill>
                  <a:srgbClr val="662D91"/>
                </a:solidFill>
                <a:latin typeface="Calibri" pitchFamily="34" charset="0"/>
                <a:ea typeface="Calibri" pitchFamily="34" charset="-122"/>
                <a:cs typeface="Calibri" pitchFamily="34" charset="-120"/>
              </a:rPr>
              <a:t>QUICK WIN</a:t>
            </a:r>
            <a:endParaRPr lang="en-US" sz="750" dirty="0"/>
          </a:p>
        </p:txBody>
      </p:sp>
      <p:sp>
        <p:nvSpPr>
          <p:cNvPr id="12" name="Text 10"/>
          <p:cNvSpPr/>
          <p:nvPr/>
        </p:nvSpPr>
        <p:spPr>
          <a:xfrm>
            <a:off x="457200" y="2852928"/>
            <a:ext cx="2011680" cy="201168"/>
          </a:xfrm>
          <a:prstGeom prst="rect">
            <a:avLst/>
          </a:prstGeom>
          <a:noFill/>
          <a:ln/>
        </p:spPr>
        <p:txBody>
          <a:bodyPr wrap="square" lIns="0" tIns="0" rIns="0" bIns="0" rtlCol="0" anchor="ctr"/>
          <a:lstStyle/>
          <a:p>
            <a:pPr marL="0" indent="0">
              <a:buNone/>
            </a:pPr>
            <a:r>
              <a:rPr lang="en-US" sz="750" dirty="0">
                <a:solidFill>
                  <a:srgbClr val="BBAACC"/>
                </a:solidFill>
                <a:latin typeface="Calibri" pitchFamily="34" charset="0"/>
                <a:ea typeface="Calibri" pitchFamily="34" charset="-122"/>
                <a:cs typeface="Calibri" pitchFamily="34" charset="-120"/>
              </a:rPr>
              <a:t>EXPLORE</a:t>
            </a:r>
            <a:endParaRPr lang="en-US" sz="750" dirty="0"/>
          </a:p>
        </p:txBody>
      </p:sp>
      <p:sp>
        <p:nvSpPr>
          <p:cNvPr id="13" name="Shape 11"/>
          <p:cNvSpPr/>
          <p:nvPr/>
        </p:nvSpPr>
        <p:spPr>
          <a:xfrm>
            <a:off x="384048" y="2798064"/>
            <a:ext cx="4297680" cy="0"/>
          </a:xfrm>
          <a:prstGeom prst="line">
            <a:avLst/>
          </a:prstGeom>
          <a:noFill/>
          <a:ln w="12700">
            <a:solidFill>
              <a:srgbClr val="C4A8E8"/>
            </a:solidFill>
            <a:prstDash val="sysDash"/>
          </a:ln>
        </p:spPr>
        <p:txBody>
          <a:bodyPr/>
          <a:lstStyle/>
          <a:p>
            <a:endParaRPr lang="en-US"/>
          </a:p>
        </p:txBody>
      </p:sp>
      <p:sp>
        <p:nvSpPr>
          <p:cNvPr id="14" name="Shape 12"/>
          <p:cNvSpPr/>
          <p:nvPr/>
        </p:nvSpPr>
        <p:spPr>
          <a:xfrm>
            <a:off x="2532888" y="914400"/>
            <a:ext cx="0" cy="3767328"/>
          </a:xfrm>
          <a:prstGeom prst="line">
            <a:avLst/>
          </a:prstGeom>
          <a:noFill/>
          <a:ln w="12700">
            <a:solidFill>
              <a:srgbClr val="C4A8E8"/>
            </a:solidFill>
            <a:prstDash val="sysDash"/>
          </a:ln>
        </p:spPr>
        <p:txBody>
          <a:bodyPr/>
          <a:lstStyle/>
          <a:p>
            <a:endParaRPr lang="en-US"/>
          </a:p>
        </p:txBody>
      </p:sp>
      <p:sp>
        <p:nvSpPr>
          <p:cNvPr id="15" name="Text 13"/>
          <p:cNvSpPr/>
          <p:nvPr/>
        </p:nvSpPr>
        <p:spPr>
          <a:xfrm>
            <a:off x="320040" y="676656"/>
            <a:ext cx="2148840" cy="219456"/>
          </a:xfrm>
          <a:prstGeom prst="rect">
            <a:avLst/>
          </a:prstGeom>
          <a:noFill/>
          <a:ln/>
        </p:spPr>
        <p:txBody>
          <a:bodyPr wrap="square" lIns="0" tIns="0" rIns="0" bIns="0" rtlCol="0" anchor="ctr"/>
          <a:lstStyle/>
          <a:p>
            <a:pPr marL="0" indent="0" algn="ctr">
              <a:buNone/>
            </a:pPr>
            <a:r>
              <a:rPr lang="en-US" sz="800" dirty="0">
                <a:solidFill>
                  <a:schemeClr val="bg1"/>
                </a:solidFill>
                <a:latin typeface="Calibri" pitchFamily="34" charset="0"/>
                <a:ea typeface="Calibri" pitchFamily="34" charset="-122"/>
                <a:cs typeface="Calibri" pitchFamily="34" charset="-120"/>
              </a:rPr>
              <a:t>← Lower Impact</a:t>
            </a:r>
            <a:endParaRPr lang="en-US" sz="800" dirty="0">
              <a:solidFill>
                <a:schemeClr val="bg1"/>
              </a:solidFill>
            </a:endParaRPr>
          </a:p>
        </p:txBody>
      </p:sp>
      <p:sp>
        <p:nvSpPr>
          <p:cNvPr id="16" name="Text 14"/>
          <p:cNvSpPr/>
          <p:nvPr/>
        </p:nvSpPr>
        <p:spPr>
          <a:xfrm>
            <a:off x="2532888" y="699516"/>
            <a:ext cx="2148840" cy="219456"/>
          </a:xfrm>
          <a:prstGeom prst="rect">
            <a:avLst/>
          </a:prstGeom>
          <a:noFill/>
          <a:ln/>
        </p:spPr>
        <p:txBody>
          <a:bodyPr wrap="square" lIns="0" tIns="0" rIns="0" bIns="0" rtlCol="0" anchor="ctr"/>
          <a:lstStyle/>
          <a:p>
            <a:pPr marL="0" indent="0" algn="ctr">
              <a:buNone/>
            </a:pPr>
            <a:r>
              <a:rPr lang="en-US" sz="800" b="1" dirty="0">
                <a:solidFill>
                  <a:schemeClr val="bg1"/>
                </a:solidFill>
                <a:latin typeface="Calibri" pitchFamily="34" charset="0"/>
                <a:ea typeface="Calibri" pitchFamily="34" charset="-122"/>
                <a:cs typeface="Calibri" pitchFamily="34" charset="-120"/>
              </a:rPr>
              <a:t>Higher Impact →</a:t>
            </a:r>
            <a:endParaRPr lang="en-US" sz="800" dirty="0">
              <a:solidFill>
                <a:schemeClr val="bg1"/>
              </a:solidFill>
            </a:endParaRPr>
          </a:p>
        </p:txBody>
      </p:sp>
      <p:sp>
        <p:nvSpPr>
          <p:cNvPr id="17" name="Text 15"/>
          <p:cNvSpPr/>
          <p:nvPr/>
        </p:nvSpPr>
        <p:spPr>
          <a:xfrm>
            <a:off x="0" y="1280160"/>
            <a:ext cx="347472" cy="1517904"/>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Higher Effort ↑</a:t>
            </a:r>
            <a:endParaRPr lang="en-US" sz="700" dirty="0">
              <a:solidFill>
                <a:schemeClr val="bg1"/>
              </a:solidFill>
            </a:endParaRPr>
          </a:p>
        </p:txBody>
      </p:sp>
      <p:sp>
        <p:nvSpPr>
          <p:cNvPr id="18" name="Text 16"/>
          <p:cNvSpPr/>
          <p:nvPr/>
        </p:nvSpPr>
        <p:spPr>
          <a:xfrm>
            <a:off x="0" y="2889504"/>
            <a:ext cx="347472" cy="1792224"/>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Lower Effort ↓</a:t>
            </a:r>
            <a:endParaRPr lang="en-US" sz="700" dirty="0">
              <a:solidFill>
                <a:schemeClr val="bg1"/>
              </a:solidFill>
            </a:endParaRPr>
          </a:p>
        </p:txBody>
      </p:sp>
      <p:sp>
        <p:nvSpPr>
          <p:cNvPr id="19" name="Shape 17"/>
          <p:cNvSpPr/>
          <p:nvPr/>
        </p:nvSpPr>
        <p:spPr>
          <a:xfrm>
            <a:off x="2734056" y="1234440"/>
            <a:ext cx="1792224" cy="457200"/>
          </a:xfrm>
          <a:prstGeom prst="ellipse">
            <a:avLst/>
          </a:prstGeom>
          <a:solidFill>
            <a:srgbClr val="6F1AB1"/>
          </a:solidFill>
          <a:ln w="12700">
            <a:solidFill>
              <a:srgbClr val="E0C8F8"/>
            </a:solidFill>
            <a:prstDash val="solid"/>
          </a:ln>
          <a:effectLst>
            <a:outerShdw blurRad="63500" dist="25400" dir="8100000" algn="bl" rotWithShape="0">
              <a:srgbClr val="000000">
                <a:alpha val="14000"/>
              </a:srgbClr>
            </a:outerShdw>
          </a:effectLst>
        </p:spPr>
        <p:txBody>
          <a:bodyPr/>
          <a:lstStyle/>
          <a:p>
            <a:endParaRPr lang="en-US"/>
          </a:p>
        </p:txBody>
      </p:sp>
      <p:sp>
        <p:nvSpPr>
          <p:cNvPr id="20" name="Text 18"/>
          <p:cNvSpPr/>
          <p:nvPr/>
        </p:nvSpPr>
        <p:spPr>
          <a:xfrm>
            <a:off x="2734056" y="1234440"/>
            <a:ext cx="1792224" cy="4572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① OS Frequency Cap</a:t>
            </a:r>
            <a:endParaRPr lang="en-US" sz="850" dirty="0"/>
          </a:p>
        </p:txBody>
      </p:sp>
      <p:sp>
        <p:nvSpPr>
          <p:cNvPr id="21" name="Shape 19"/>
          <p:cNvSpPr/>
          <p:nvPr/>
        </p:nvSpPr>
        <p:spPr>
          <a:xfrm>
            <a:off x="2670048" y="1920240"/>
            <a:ext cx="1792224" cy="457200"/>
          </a:xfrm>
          <a:prstGeom prst="ellipse">
            <a:avLst/>
          </a:prstGeom>
          <a:solidFill>
            <a:srgbClr val="6F1AB1"/>
          </a:solidFill>
          <a:ln w="12700">
            <a:solidFill>
              <a:srgbClr val="E0C8F8"/>
            </a:solidFill>
            <a:prstDash val="solid"/>
          </a:ln>
          <a:effectLst>
            <a:outerShdw blurRad="63500" dist="25400" dir="8100000" algn="bl" rotWithShape="0">
              <a:srgbClr val="000000">
                <a:alpha val="14000"/>
              </a:srgbClr>
            </a:outerShdw>
          </a:effectLst>
        </p:spPr>
        <p:txBody>
          <a:bodyPr/>
          <a:lstStyle/>
          <a:p>
            <a:endParaRPr lang="en-US"/>
          </a:p>
        </p:txBody>
      </p:sp>
      <p:sp>
        <p:nvSpPr>
          <p:cNvPr id="22" name="Text 20"/>
          <p:cNvSpPr/>
          <p:nvPr/>
        </p:nvSpPr>
        <p:spPr>
          <a:xfrm>
            <a:off x="2670048" y="1920240"/>
            <a:ext cx="1792224" cy="4572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② Interactive Templates</a:t>
            </a:r>
            <a:endParaRPr lang="en-US" sz="850" dirty="0"/>
          </a:p>
        </p:txBody>
      </p:sp>
      <p:sp>
        <p:nvSpPr>
          <p:cNvPr id="23" name="Shape 21"/>
          <p:cNvSpPr/>
          <p:nvPr/>
        </p:nvSpPr>
        <p:spPr>
          <a:xfrm>
            <a:off x="2670048" y="3182112"/>
            <a:ext cx="1792224" cy="457200"/>
          </a:xfrm>
          <a:prstGeom prst="ellipse">
            <a:avLst/>
          </a:prstGeom>
          <a:solidFill>
            <a:srgbClr val="6F1AB1"/>
          </a:solidFill>
          <a:ln w="12700">
            <a:solidFill>
              <a:srgbClr val="E0C8F8"/>
            </a:solidFill>
            <a:prstDash val="solid"/>
          </a:ln>
          <a:effectLst>
            <a:outerShdw blurRad="63500" dist="25400" dir="8100000" algn="bl" rotWithShape="0">
              <a:srgbClr val="000000">
                <a:alpha val="14000"/>
              </a:srgbClr>
            </a:outerShdw>
          </a:effectLst>
        </p:spPr>
        <p:txBody>
          <a:bodyPr/>
          <a:lstStyle/>
          <a:p>
            <a:endParaRPr lang="en-US"/>
          </a:p>
        </p:txBody>
      </p:sp>
      <p:sp>
        <p:nvSpPr>
          <p:cNvPr id="24" name="Text 22"/>
          <p:cNvSpPr/>
          <p:nvPr/>
        </p:nvSpPr>
        <p:spPr>
          <a:xfrm>
            <a:off x="2670048" y="3182112"/>
            <a:ext cx="1792224" cy="4572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③ Real-Time Dashboard</a:t>
            </a:r>
            <a:endParaRPr lang="en-US" sz="850" dirty="0"/>
          </a:p>
        </p:txBody>
      </p:sp>
      <p:sp>
        <p:nvSpPr>
          <p:cNvPr id="25" name="Shape 23"/>
          <p:cNvSpPr/>
          <p:nvPr/>
        </p:nvSpPr>
        <p:spPr>
          <a:xfrm>
            <a:off x="493776" y="1298448"/>
            <a:ext cx="1792224" cy="457200"/>
          </a:xfrm>
          <a:prstGeom prst="ellipse">
            <a:avLst/>
          </a:prstGeom>
          <a:solidFill>
            <a:srgbClr val="662D91"/>
          </a:solidFill>
          <a:ln w="12700">
            <a:solidFill>
              <a:srgbClr val="E0C8F8"/>
            </a:solidFill>
            <a:prstDash val="solid"/>
          </a:ln>
          <a:effectLst>
            <a:outerShdw blurRad="63500" dist="25400" dir="8100000" algn="bl" rotWithShape="0">
              <a:srgbClr val="000000">
                <a:alpha val="14000"/>
              </a:srgbClr>
            </a:outerShdw>
          </a:effectLst>
        </p:spPr>
        <p:txBody>
          <a:bodyPr/>
          <a:lstStyle/>
          <a:p>
            <a:endParaRPr lang="en-US"/>
          </a:p>
        </p:txBody>
      </p:sp>
      <p:sp>
        <p:nvSpPr>
          <p:cNvPr id="26" name="Text 24"/>
          <p:cNvSpPr/>
          <p:nvPr/>
        </p:nvSpPr>
        <p:spPr>
          <a:xfrm>
            <a:off x="493776" y="1298448"/>
            <a:ext cx="1792224" cy="4572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② AI Creative Studio</a:t>
            </a:r>
            <a:endParaRPr lang="en-US" sz="850" dirty="0"/>
          </a:p>
        </p:txBody>
      </p:sp>
      <p:sp>
        <p:nvSpPr>
          <p:cNvPr id="27" name="Shape 25"/>
          <p:cNvSpPr/>
          <p:nvPr/>
        </p:nvSpPr>
        <p:spPr>
          <a:xfrm>
            <a:off x="493776" y="3273552"/>
            <a:ext cx="1792224" cy="457200"/>
          </a:xfrm>
          <a:prstGeom prst="ellipse">
            <a:avLst/>
          </a:prstGeom>
          <a:solidFill>
            <a:srgbClr val="662D91"/>
          </a:solidFill>
          <a:ln w="12700">
            <a:solidFill>
              <a:srgbClr val="E0C8F8"/>
            </a:solidFill>
            <a:prstDash val="solid"/>
          </a:ln>
          <a:effectLst>
            <a:outerShdw blurRad="63500" dist="25400" dir="8100000" algn="bl" rotWithShape="0">
              <a:srgbClr val="000000">
                <a:alpha val="14000"/>
              </a:srgbClr>
            </a:outerShdw>
          </a:effectLst>
        </p:spPr>
        <p:txBody>
          <a:bodyPr/>
          <a:lstStyle/>
          <a:p>
            <a:endParaRPr lang="en-US"/>
          </a:p>
        </p:txBody>
      </p:sp>
      <p:sp>
        <p:nvSpPr>
          <p:cNvPr id="28" name="Text 26"/>
          <p:cNvSpPr/>
          <p:nvPr/>
        </p:nvSpPr>
        <p:spPr>
          <a:xfrm>
            <a:off x="493776" y="3273552"/>
            <a:ext cx="1792224" cy="4572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③ Incrementality Reports</a:t>
            </a:r>
            <a:endParaRPr lang="en-US" sz="850" dirty="0"/>
          </a:p>
        </p:txBody>
      </p:sp>
      <p:sp>
        <p:nvSpPr>
          <p:cNvPr id="29" name="Shape 27"/>
          <p:cNvSpPr/>
          <p:nvPr/>
        </p:nvSpPr>
        <p:spPr>
          <a:xfrm>
            <a:off x="4919472" y="914400"/>
            <a:ext cx="3813048" cy="3767328"/>
          </a:xfrm>
          <a:prstGeom prst="rect">
            <a:avLst/>
          </a:prstGeom>
          <a:solidFill>
            <a:srgbClr val="2A0050"/>
          </a:solidFill>
          <a:ln w="12700">
            <a:solidFill>
              <a:srgbClr val="5A2090"/>
            </a:solidFill>
            <a:prstDash val="solid"/>
          </a:ln>
        </p:spPr>
        <p:txBody>
          <a:bodyPr/>
          <a:lstStyle/>
          <a:p>
            <a:endParaRPr lang="en-US"/>
          </a:p>
        </p:txBody>
      </p:sp>
      <p:sp>
        <p:nvSpPr>
          <p:cNvPr id="30" name="Shape 28"/>
          <p:cNvSpPr/>
          <p:nvPr/>
        </p:nvSpPr>
        <p:spPr>
          <a:xfrm>
            <a:off x="4919472" y="914400"/>
            <a:ext cx="3813048" cy="64008"/>
          </a:xfrm>
          <a:prstGeom prst="rect">
            <a:avLst/>
          </a:prstGeom>
          <a:solidFill>
            <a:srgbClr val="6F1AB1"/>
          </a:solidFill>
          <a:ln w="12700">
            <a:solidFill>
              <a:srgbClr val="6F1AB1"/>
            </a:solidFill>
            <a:prstDash val="solid"/>
          </a:ln>
        </p:spPr>
        <p:txBody>
          <a:bodyPr/>
          <a:lstStyle/>
          <a:p>
            <a:endParaRPr lang="en-US"/>
          </a:p>
        </p:txBody>
      </p:sp>
      <p:sp>
        <p:nvSpPr>
          <p:cNvPr id="31" name="Text 29"/>
          <p:cNvSpPr/>
          <p:nvPr/>
        </p:nvSpPr>
        <p:spPr>
          <a:xfrm>
            <a:off x="5047488" y="1024128"/>
            <a:ext cx="356616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What I'd Want to Learn in Week 1</a:t>
            </a:r>
            <a:endParaRPr lang="en-US" sz="1100" dirty="0"/>
          </a:p>
        </p:txBody>
      </p:sp>
      <p:sp>
        <p:nvSpPr>
          <p:cNvPr id="32" name="Shape 30"/>
          <p:cNvSpPr/>
          <p:nvPr/>
        </p:nvSpPr>
        <p:spPr>
          <a:xfrm>
            <a:off x="5047488" y="1408176"/>
            <a:ext cx="237744" cy="237744"/>
          </a:xfrm>
          <a:prstGeom prst="ellipse">
            <a:avLst/>
          </a:prstGeom>
          <a:solidFill>
            <a:srgbClr val="6F1AB1"/>
          </a:solidFill>
          <a:ln w="12700">
            <a:solidFill>
              <a:srgbClr val="6F1AB1"/>
            </a:solidFill>
            <a:prstDash val="solid"/>
          </a:ln>
        </p:spPr>
        <p:txBody>
          <a:bodyPr/>
          <a:lstStyle/>
          <a:p>
            <a:endParaRPr lang="en-US"/>
          </a:p>
        </p:txBody>
      </p:sp>
      <p:sp>
        <p:nvSpPr>
          <p:cNvPr id="33" name="Text 31"/>
          <p:cNvSpPr/>
          <p:nvPr/>
        </p:nvSpPr>
        <p:spPr>
          <a:xfrm>
            <a:off x="5047488" y="140817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1</a:t>
            </a:r>
            <a:endParaRPr lang="en-US" sz="900" dirty="0"/>
          </a:p>
        </p:txBody>
      </p:sp>
      <p:sp>
        <p:nvSpPr>
          <p:cNvPr id="34" name="Text 32"/>
          <p:cNvSpPr/>
          <p:nvPr/>
        </p:nvSpPr>
        <p:spPr>
          <a:xfrm>
            <a:off x="5340096" y="1399032"/>
            <a:ext cx="3255264" cy="566928"/>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What does Roku's internal data say about cross-app ad repetition rates? Is the frequency problem as severe as external signals suggest?</a:t>
            </a:r>
            <a:endParaRPr lang="en-US" sz="850" dirty="0"/>
          </a:p>
        </p:txBody>
      </p:sp>
      <p:sp>
        <p:nvSpPr>
          <p:cNvPr id="35" name="Shape 33"/>
          <p:cNvSpPr/>
          <p:nvPr/>
        </p:nvSpPr>
        <p:spPr>
          <a:xfrm>
            <a:off x="5047488" y="2029968"/>
            <a:ext cx="237744" cy="237744"/>
          </a:xfrm>
          <a:prstGeom prst="ellipse">
            <a:avLst/>
          </a:prstGeom>
          <a:solidFill>
            <a:srgbClr val="6F1AB1"/>
          </a:solidFill>
          <a:ln w="12700">
            <a:solidFill>
              <a:srgbClr val="6F1AB1"/>
            </a:solidFill>
            <a:prstDash val="solid"/>
          </a:ln>
        </p:spPr>
        <p:txBody>
          <a:bodyPr/>
          <a:lstStyle/>
          <a:p>
            <a:endParaRPr lang="en-US"/>
          </a:p>
        </p:txBody>
      </p:sp>
      <p:sp>
        <p:nvSpPr>
          <p:cNvPr id="36" name="Text 34"/>
          <p:cNvSpPr/>
          <p:nvPr/>
        </p:nvSpPr>
        <p:spPr>
          <a:xfrm>
            <a:off x="5047488" y="20299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a:t>
            </a:r>
            <a:endParaRPr lang="en-US" sz="900" dirty="0"/>
          </a:p>
        </p:txBody>
      </p:sp>
      <p:sp>
        <p:nvSpPr>
          <p:cNvPr id="37" name="Text 35"/>
          <p:cNvSpPr/>
          <p:nvPr/>
        </p:nvSpPr>
        <p:spPr>
          <a:xfrm>
            <a:off x="5340096" y="2020824"/>
            <a:ext cx="3255264" cy="566928"/>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How many Ads Manager advertisers uploaded video creative but never activated an interactive format — and what reason did they give?</a:t>
            </a:r>
            <a:endParaRPr lang="en-US" sz="850" dirty="0"/>
          </a:p>
        </p:txBody>
      </p:sp>
      <p:sp>
        <p:nvSpPr>
          <p:cNvPr id="38" name="Shape 36"/>
          <p:cNvSpPr/>
          <p:nvPr/>
        </p:nvSpPr>
        <p:spPr>
          <a:xfrm>
            <a:off x="5047488" y="2651760"/>
            <a:ext cx="237744" cy="237744"/>
          </a:xfrm>
          <a:prstGeom prst="ellipse">
            <a:avLst/>
          </a:prstGeom>
          <a:solidFill>
            <a:srgbClr val="6F1AB1"/>
          </a:solidFill>
          <a:ln w="12700">
            <a:solidFill>
              <a:srgbClr val="6F1AB1"/>
            </a:solidFill>
            <a:prstDash val="solid"/>
          </a:ln>
        </p:spPr>
        <p:txBody>
          <a:bodyPr/>
          <a:lstStyle/>
          <a:p>
            <a:endParaRPr lang="en-US"/>
          </a:p>
        </p:txBody>
      </p:sp>
      <p:sp>
        <p:nvSpPr>
          <p:cNvPr id="39" name="Text 37"/>
          <p:cNvSpPr/>
          <p:nvPr/>
        </p:nvSpPr>
        <p:spPr>
          <a:xfrm>
            <a:off x="5047488" y="265176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3</a:t>
            </a:r>
            <a:endParaRPr lang="en-US" sz="900" dirty="0"/>
          </a:p>
        </p:txBody>
      </p:sp>
      <p:sp>
        <p:nvSpPr>
          <p:cNvPr id="40" name="Text 38"/>
          <p:cNvSpPr/>
          <p:nvPr/>
        </p:nvSpPr>
        <p:spPr>
          <a:xfrm>
            <a:off x="5340096" y="2642616"/>
            <a:ext cx="3255264" cy="566928"/>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What is the 90-day retention rate for Ads Manager advertisers who ran one campaign and did not return?</a:t>
            </a:r>
            <a:endParaRPr lang="en-US" sz="850" dirty="0"/>
          </a:p>
        </p:txBody>
      </p:sp>
      <p:sp>
        <p:nvSpPr>
          <p:cNvPr id="41" name="Shape 39"/>
          <p:cNvSpPr/>
          <p:nvPr/>
        </p:nvSpPr>
        <p:spPr>
          <a:xfrm>
            <a:off x="5047488" y="3273552"/>
            <a:ext cx="237744" cy="237744"/>
          </a:xfrm>
          <a:prstGeom prst="ellipse">
            <a:avLst/>
          </a:prstGeom>
          <a:solidFill>
            <a:srgbClr val="6F1AB1"/>
          </a:solidFill>
          <a:ln w="12700">
            <a:solidFill>
              <a:srgbClr val="6F1AB1"/>
            </a:solidFill>
            <a:prstDash val="solid"/>
          </a:ln>
        </p:spPr>
        <p:txBody>
          <a:bodyPr/>
          <a:lstStyle/>
          <a:p>
            <a:endParaRPr lang="en-US"/>
          </a:p>
        </p:txBody>
      </p:sp>
      <p:sp>
        <p:nvSpPr>
          <p:cNvPr id="42" name="Text 40"/>
          <p:cNvSpPr/>
          <p:nvPr/>
        </p:nvSpPr>
        <p:spPr>
          <a:xfrm>
            <a:off x="5047488" y="327355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4</a:t>
            </a:r>
            <a:endParaRPr lang="en-US" sz="900" dirty="0"/>
          </a:p>
        </p:txBody>
      </p:sp>
      <p:sp>
        <p:nvSpPr>
          <p:cNvPr id="43" name="Text 41"/>
          <p:cNvSpPr/>
          <p:nvPr/>
        </p:nvSpPr>
        <p:spPr>
          <a:xfrm>
            <a:off x="5340096" y="3264408"/>
            <a:ext cx="3255264" cy="566928"/>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Which existing measurement partnerships (iSpot, INCRMNTAL) are already surfacing data that could power a real-time dashboard vs. requiring a net-new build?</a:t>
            </a:r>
            <a:endParaRPr lang="en-US" sz="850" dirty="0"/>
          </a:p>
        </p:txBody>
      </p:sp>
      <p:sp>
        <p:nvSpPr>
          <p:cNvPr id="44" name="Shape 42"/>
          <p:cNvSpPr/>
          <p:nvPr/>
        </p:nvSpPr>
        <p:spPr>
          <a:xfrm>
            <a:off x="5047488" y="3895344"/>
            <a:ext cx="237744" cy="237744"/>
          </a:xfrm>
          <a:prstGeom prst="ellipse">
            <a:avLst/>
          </a:prstGeom>
          <a:solidFill>
            <a:srgbClr val="6F1AB1"/>
          </a:solidFill>
          <a:ln w="12700">
            <a:solidFill>
              <a:srgbClr val="6F1AB1"/>
            </a:solidFill>
            <a:prstDash val="solid"/>
          </a:ln>
        </p:spPr>
        <p:txBody>
          <a:bodyPr/>
          <a:lstStyle/>
          <a:p>
            <a:endParaRPr lang="en-US"/>
          </a:p>
        </p:txBody>
      </p:sp>
      <p:sp>
        <p:nvSpPr>
          <p:cNvPr id="45" name="Text 43"/>
          <p:cNvSpPr/>
          <p:nvPr/>
        </p:nvSpPr>
        <p:spPr>
          <a:xfrm>
            <a:off x="5047488" y="389534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5</a:t>
            </a:r>
            <a:endParaRPr lang="en-US" sz="900" dirty="0"/>
          </a:p>
        </p:txBody>
      </p:sp>
      <p:sp>
        <p:nvSpPr>
          <p:cNvPr id="46" name="Text 44"/>
          <p:cNvSpPr/>
          <p:nvPr/>
        </p:nvSpPr>
        <p:spPr>
          <a:xfrm>
            <a:off x="5340096" y="3886200"/>
            <a:ext cx="3255264" cy="566928"/>
          </a:xfrm>
          <a:prstGeom prst="rect">
            <a:avLst/>
          </a:prstGeom>
          <a:noFill/>
          <a:ln/>
        </p:spPr>
        <p:txBody>
          <a:bodyPr wrap="square" lIns="0" tIns="0" rIns="0" bIns="0" rtlCol="0" anchor="ctr"/>
          <a:lstStyle/>
          <a:p>
            <a:pPr marL="0" indent="0">
              <a:buNone/>
            </a:pPr>
            <a:r>
              <a:rPr lang="en-US" sz="850" dirty="0">
                <a:solidFill>
                  <a:srgbClr val="CCCCCC"/>
                </a:solidFill>
                <a:latin typeface="Calibri" pitchFamily="34" charset="0"/>
                <a:ea typeface="Calibri" pitchFamily="34" charset="-122"/>
                <a:cs typeface="Calibri" pitchFamily="34" charset="-120"/>
              </a:rPr>
              <a:t>What is the internal appetite for OS-level frequency capping given publisher contracts and ad fill obligations?</a:t>
            </a:r>
            <a:endParaRPr lang="en-US" sz="850" dirty="0"/>
          </a:p>
        </p:txBody>
      </p:sp>
      <p:sp>
        <p:nvSpPr>
          <p:cNvPr id="47" name="Shape 45"/>
          <p:cNvSpPr/>
          <p:nvPr/>
        </p:nvSpPr>
        <p:spPr>
          <a:xfrm>
            <a:off x="0" y="4681728"/>
            <a:ext cx="9144000" cy="228600"/>
          </a:xfrm>
          <a:prstGeom prst="rect">
            <a:avLst/>
          </a:prstGeom>
          <a:solidFill>
            <a:srgbClr val="6F1AB1"/>
          </a:solidFill>
          <a:ln w="12700">
            <a:solidFill>
              <a:srgbClr val="6F1AB1"/>
            </a:solidFill>
            <a:prstDash val="solid"/>
          </a:ln>
        </p:spPr>
        <p:txBody>
          <a:bodyPr/>
          <a:lstStyle/>
          <a:p>
            <a:endParaRPr lang="en-US"/>
          </a:p>
        </p:txBody>
      </p:sp>
      <p:sp>
        <p:nvSpPr>
          <p:cNvPr id="48" name="Text 46"/>
          <p:cNvSpPr/>
          <p:nvPr/>
        </p:nvSpPr>
        <p:spPr>
          <a:xfrm>
            <a:off x="384048" y="4740872"/>
            <a:ext cx="8412480" cy="1097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Roku has the data, the platform, and the reach. The opportunity is to make the experience layer as powerful as the inventory layer — before competitors close the gap.</a:t>
            </a:r>
            <a:endParaRPr lang="en-US" sz="900" dirty="0"/>
          </a:p>
        </p:txBody>
      </p:sp>
      <p:sp>
        <p:nvSpPr>
          <p:cNvPr id="49" name="Text 47"/>
          <p:cNvSpPr/>
          <p:nvPr/>
        </p:nvSpPr>
        <p:spPr>
          <a:xfrm>
            <a:off x="8118056" y="4910814"/>
            <a:ext cx="822960" cy="182880"/>
          </a:xfrm>
          <a:prstGeom prst="rect">
            <a:avLst/>
          </a:prstGeom>
          <a:noFill/>
          <a:ln/>
        </p:spPr>
        <p:txBody>
          <a:bodyPr wrap="square" lIns="0" tIns="0" rIns="0" bIns="0" rtlCol="0" anchor="ctr"/>
          <a:lstStyle/>
          <a:p>
            <a:pPr marL="0" indent="0" algn="r">
              <a:buNone/>
            </a:pPr>
            <a:r>
              <a:rPr lang="en-US" sz="750" dirty="0">
                <a:solidFill>
                  <a:srgbClr val="9966CC"/>
                </a:solidFill>
                <a:latin typeface="Calibri" pitchFamily="34" charset="0"/>
                <a:ea typeface="Calibri" pitchFamily="34" charset="-122"/>
                <a:cs typeface="Calibri" pitchFamily="34" charset="-120"/>
              </a:rPr>
              <a:t>15 / 16</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FB"/>
        </a:solidFill>
        <a:effectLst/>
      </p:bgPr>
    </p:bg>
    <p:spTree>
      <p:nvGrpSpPr>
        <p:cNvPr id="1" name=""/>
        <p:cNvGrpSpPr/>
        <p:nvPr/>
      </p:nvGrpSpPr>
      <p:grpSpPr>
        <a:xfrm>
          <a:off x="0" y="0"/>
          <a:ext cx="0" cy="0"/>
          <a:chOff x="0" y="0"/>
          <a:chExt cx="0" cy="0"/>
        </a:xfrm>
      </p:grpSpPr>
      <p:sp>
        <p:nvSpPr>
          <p:cNvPr id="2" name="Shape 0"/>
          <p:cNvSpPr/>
          <p:nvPr/>
        </p:nvSpPr>
        <p:spPr>
          <a:xfrm>
            <a:off x="411480" y="237744"/>
            <a:ext cx="64008" cy="438912"/>
          </a:xfrm>
          <a:prstGeom prst="rect">
            <a:avLst/>
          </a:prstGeom>
          <a:solidFill>
            <a:srgbClr val="6F1AB1"/>
          </a:solidFill>
          <a:ln w="12700">
            <a:solidFill>
              <a:srgbClr val="6F1AB1"/>
            </a:solidFill>
            <a:prstDash val="solid"/>
          </a:ln>
        </p:spPr>
        <p:txBody>
          <a:bodyPr/>
          <a:lstStyle/>
          <a:p>
            <a:endParaRPr lang="en-US"/>
          </a:p>
        </p:txBody>
      </p:sp>
      <p:sp>
        <p:nvSpPr>
          <p:cNvPr id="3" name="Text 1"/>
          <p:cNvSpPr/>
          <p:nvPr/>
        </p:nvSpPr>
        <p:spPr>
          <a:xfrm>
            <a:off x="594360" y="237744"/>
            <a:ext cx="8229600" cy="438912"/>
          </a:xfrm>
          <a:prstGeom prst="rect">
            <a:avLst/>
          </a:prstGeom>
          <a:noFill/>
          <a:ln/>
        </p:spPr>
        <p:txBody>
          <a:bodyPr wrap="square" lIns="0" tIns="0" rIns="0" bIns="0" rtlCol="0" anchor="ctr"/>
          <a:lstStyle/>
          <a:p>
            <a:pPr marL="0" indent="0">
              <a:buNone/>
            </a:pPr>
            <a:r>
              <a:rPr lang="en-US" sz="2200" b="1" dirty="0">
                <a:solidFill>
                  <a:srgbClr val="3D0066"/>
                </a:solidFill>
                <a:latin typeface="Trebuchet MS" pitchFamily="34" charset="0"/>
                <a:ea typeface="Trebuchet MS" pitchFamily="34" charset="-122"/>
                <a:cs typeface="Trebuchet MS" pitchFamily="34" charset="-120"/>
              </a:rPr>
              <a:t>References</a:t>
            </a:r>
            <a:endParaRPr lang="en-US" sz="2200" dirty="0"/>
          </a:p>
        </p:txBody>
      </p:sp>
      <p:sp>
        <p:nvSpPr>
          <p:cNvPr id="5" name="Shape 3"/>
          <p:cNvSpPr/>
          <p:nvPr/>
        </p:nvSpPr>
        <p:spPr>
          <a:xfrm>
            <a:off x="411480" y="877824"/>
            <a:ext cx="8321040" cy="27432"/>
          </a:xfrm>
          <a:prstGeom prst="rect">
            <a:avLst/>
          </a:prstGeom>
          <a:solidFill>
            <a:srgbClr val="E8D5F5"/>
          </a:solidFill>
          <a:ln w="12700">
            <a:solidFill>
              <a:srgbClr val="E8D5F5"/>
            </a:solidFill>
            <a:prstDash val="solid"/>
          </a:ln>
        </p:spPr>
        <p:txBody>
          <a:bodyPr/>
          <a:lstStyle/>
          <a:p>
            <a:endParaRPr lang="en-US"/>
          </a:p>
        </p:txBody>
      </p:sp>
      <p:sp>
        <p:nvSpPr>
          <p:cNvPr id="6" name="Text 4"/>
          <p:cNvSpPr/>
          <p:nvPr/>
        </p:nvSpPr>
        <p:spPr>
          <a:xfrm>
            <a:off x="411480" y="9692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  Bloomberg. (2026, April 16). Roku's platform crosses 100 million users, fueling ad business. https://www.bloomberg.com/news/articles/2026-04-16/roku</a:t>
            </a:r>
            <a:endParaRPr lang="en-US" sz="700" dirty="0"/>
          </a:p>
        </p:txBody>
      </p:sp>
      <p:sp>
        <p:nvSpPr>
          <p:cNvPr id="7" name="Text 5"/>
          <p:cNvSpPr/>
          <p:nvPr/>
        </p:nvSpPr>
        <p:spPr>
          <a:xfrm>
            <a:off x="411480" y="14264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[2]  Roku, Inc. (2026, April 13). Form 8-K: Q1 2026 segment restructure. U.S. Securities and Exchange Commission. https://www.businesswire.com/news/home/20260413584408</a:t>
            </a:r>
            <a:endParaRPr lang="en-US" sz="700" dirty="0"/>
          </a:p>
        </p:txBody>
      </p:sp>
      <p:sp>
        <p:nvSpPr>
          <p:cNvPr id="8" name="Text 6"/>
          <p:cNvSpPr/>
          <p:nvPr/>
        </p:nvSpPr>
        <p:spPr>
          <a:xfrm>
            <a:off x="411480" y="18836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[3]  Roku, Inc. (2025). Form 8-K: FY 2025 annual results. U.S. Securities and Exchange Commission. https://www.sec.gov/Archives/edgar/data/0001428439/000142843925000008</a:t>
            </a:r>
            <a:endParaRPr lang="en-US" sz="700" dirty="0"/>
          </a:p>
        </p:txBody>
      </p:sp>
      <p:sp>
        <p:nvSpPr>
          <p:cNvPr id="9" name="Text 7"/>
          <p:cNvSpPr/>
          <p:nvPr/>
        </p:nvSpPr>
        <p:spPr>
          <a:xfrm>
            <a:off x="411480" y="23408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[4]  Roku, Inc. (2025, December). Streaming in 2026: Roku's 5 predictions for the year ahead. Roku Advertising. https://advertising.roku.com/2026-predictions</a:t>
            </a:r>
            <a:endParaRPr lang="en-US" sz="700" dirty="0"/>
          </a:p>
        </p:txBody>
      </p:sp>
      <p:sp>
        <p:nvSpPr>
          <p:cNvPr id="10" name="Text 8"/>
          <p:cNvSpPr/>
          <p:nvPr/>
        </p:nvSpPr>
        <p:spPr>
          <a:xfrm>
            <a:off x="411480" y="27980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[5]  Roku, Inc. &amp; Dentsu. (2025, June 11). Roku and Dentsu reveal key insights for shoppable TV advertising success. Roku Newsroom. https://newsroom.roku.com/news/2025/06/roku-and-dentsu-reveal-key-insights</a:t>
            </a:r>
            <a:endParaRPr lang="en-US" sz="700" dirty="0"/>
          </a:p>
        </p:txBody>
      </p:sp>
      <p:sp>
        <p:nvSpPr>
          <p:cNvPr id="11" name="Text 9"/>
          <p:cNvSpPr/>
          <p:nvPr/>
        </p:nvSpPr>
        <p:spPr>
          <a:xfrm>
            <a:off x="411480" y="32552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[6]  Innovid. (2025). 2025 CTV advertising insights report. https://www.innovid.com/resources/reports/2025-ctv-advertising-insights-report</a:t>
            </a:r>
            <a:endParaRPr lang="en-US" sz="700" dirty="0"/>
          </a:p>
        </p:txBody>
      </p:sp>
      <p:sp>
        <p:nvSpPr>
          <p:cNvPr id="12" name="Text 10"/>
          <p:cNvSpPr/>
          <p:nvPr/>
        </p:nvSpPr>
        <p:spPr>
          <a:xfrm>
            <a:off x="411480" y="37124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[7]  Strategus. (2025, August 28). Roku ads guide 2025: How to advertise on Roku. https://www.strategus.com/blog/how-to-advertise-on-roku</a:t>
            </a:r>
            <a:endParaRPr lang="en-US" sz="700" dirty="0"/>
          </a:p>
        </p:txBody>
      </p:sp>
      <p:sp>
        <p:nvSpPr>
          <p:cNvPr id="13" name="Text 11"/>
          <p:cNvSpPr/>
          <p:nvPr/>
        </p:nvSpPr>
        <p:spPr>
          <a:xfrm>
            <a:off x="411480" y="4169664"/>
            <a:ext cx="411480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[8]  Amazon Ads. (2026, April). NewFronts 2026 advertising news. https://advertising.amazon.com/library/news/newfronts-2026-advertising-news</a:t>
            </a:r>
            <a:endParaRPr lang="en-US" sz="700" dirty="0"/>
          </a:p>
        </p:txBody>
      </p:sp>
      <p:sp>
        <p:nvSpPr>
          <p:cNvPr id="14" name="Text 12"/>
          <p:cNvSpPr/>
          <p:nvPr/>
        </p:nvSpPr>
        <p:spPr>
          <a:xfrm>
            <a:off x="4663440" y="9692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[9]  Samsung Electronics. (2026, March). Samsung launches Performance TV full-funnel performance platform. Samsung Newsroom. https://news.samsung.com/us/samsung-launches-performance-tv</a:t>
            </a:r>
            <a:endParaRPr lang="en-US" sz="700" dirty="0"/>
          </a:p>
        </p:txBody>
      </p:sp>
      <p:sp>
        <p:nvSpPr>
          <p:cNvPr id="15" name="Text 13"/>
          <p:cNvSpPr/>
          <p:nvPr/>
        </p:nvSpPr>
        <p:spPr>
          <a:xfrm>
            <a:off x="4663440" y="14264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[10]  Pixalate. (2026, April). Q1 2026 top 100 CTV apps by ad revenue. https://www.pixalate.com/blog/pixalates-q1-2026-top-100-ctv-apps-by-ad-revenue</a:t>
            </a:r>
            <a:endParaRPr lang="en-US" sz="700" dirty="0"/>
          </a:p>
        </p:txBody>
      </p:sp>
      <p:sp>
        <p:nvSpPr>
          <p:cNvPr id="16" name="Text 14"/>
          <p:cNvSpPr/>
          <p:nvPr/>
        </p:nvSpPr>
        <p:spPr>
          <a:xfrm>
            <a:off x="4663440" y="18836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[11]  IAB. (2025). 2025 video ad spend &amp; 2026 outlook report. Interactive Advertising Bureau. https://www.iab.com</a:t>
            </a:r>
            <a:endParaRPr lang="en-US" sz="700" dirty="0"/>
          </a:p>
        </p:txBody>
      </p:sp>
      <p:sp>
        <p:nvSpPr>
          <p:cNvPr id="17" name="Text 15"/>
          <p:cNvSpPr/>
          <p:nvPr/>
        </p:nvSpPr>
        <p:spPr>
          <a:xfrm>
            <a:off x="4663440" y="23408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[12]  Cord Cutters News. (2026, April 11). Roku quietly adds a new feature to its popular Roku City. https://cordcuttersnews.com/roku-quietly-adds-a-new-feature</a:t>
            </a:r>
            <a:endParaRPr lang="en-US" sz="700" dirty="0"/>
          </a:p>
        </p:txBody>
      </p:sp>
      <p:sp>
        <p:nvSpPr>
          <p:cNvPr id="18" name="Text 16"/>
          <p:cNvSpPr/>
          <p:nvPr/>
        </p:nvSpPr>
        <p:spPr>
          <a:xfrm>
            <a:off x="4663440" y="27980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[13]  Lore, T. (2026, April 22). Integrating ads into your Roku channel without destroying the user experience. CompanionLink. https://www.companionlink.com/blog/2026/04</a:t>
            </a:r>
            <a:endParaRPr lang="en-US" sz="700" dirty="0"/>
          </a:p>
        </p:txBody>
      </p:sp>
      <p:sp>
        <p:nvSpPr>
          <p:cNvPr id="19" name="Text 17"/>
          <p:cNvSpPr/>
          <p:nvPr/>
        </p:nvSpPr>
        <p:spPr>
          <a:xfrm>
            <a:off x="4663440" y="32552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[14]  MacroTrends. (2026). Roku revenue 2016–2025. https://www.macrotrends.net/stocks/charts/ROKU/roku/revenue</a:t>
            </a:r>
            <a:endParaRPr lang="en-US" sz="700" dirty="0"/>
          </a:p>
        </p:txBody>
      </p:sp>
      <p:sp>
        <p:nvSpPr>
          <p:cNvPr id="20" name="Text 18"/>
          <p:cNvSpPr/>
          <p:nvPr/>
        </p:nvSpPr>
        <p:spPr>
          <a:xfrm>
            <a:off x="4663440" y="3712464"/>
            <a:ext cx="4069080" cy="420624"/>
          </a:xfrm>
          <a:prstGeom prst="rect">
            <a:avLst/>
          </a:prstGeom>
          <a:noFill/>
          <a:ln/>
        </p:spPr>
        <p:txBody>
          <a:bodyPr wrap="square" lIns="0" tIns="0" rIns="0" bIns="0" rtlCol="0" anchor="ctr"/>
          <a:lstStyle/>
          <a:p>
            <a:pPr marL="0" indent="0">
              <a:buNone/>
            </a:pPr>
            <a:r>
              <a:rPr lang="en-US" sz="700" dirty="0">
                <a:solidFill>
                  <a:srgbClr val="555566"/>
                </a:solidFill>
                <a:latin typeface="Calibri" pitchFamily="34" charset="0"/>
                <a:ea typeface="Calibri" pitchFamily="34" charset="-122"/>
                <a:cs typeface="Calibri" pitchFamily="34" charset="-120"/>
              </a:rPr>
              <a:t>[15]  ppc.land. (2026, April 20). Roku hits 100M households and splits open its platform finances. https://ppc.land/roku-hits-100m-households</a:t>
            </a:r>
            <a:endParaRPr lang="en-US" sz="700" dirty="0"/>
          </a:p>
        </p:txBody>
      </p:sp>
      <p:sp>
        <p:nvSpPr>
          <p:cNvPr id="21" name="Text 19"/>
          <p:cNvSpPr/>
          <p:nvPr/>
        </p:nvSpPr>
        <p:spPr>
          <a:xfrm>
            <a:off x="8046720" y="4892040"/>
            <a:ext cx="822960" cy="182880"/>
          </a:xfrm>
          <a:prstGeom prst="rect">
            <a:avLst/>
          </a:prstGeom>
          <a:noFill/>
          <a:ln/>
        </p:spPr>
        <p:txBody>
          <a:bodyPr wrap="square" lIns="0" tIns="0" rIns="0" bIns="0" rtlCol="0" anchor="ctr"/>
          <a:lstStyle/>
          <a:p>
            <a:pPr marL="0" indent="0" algn="r">
              <a:buNone/>
            </a:pPr>
            <a:r>
              <a:rPr lang="en-US" sz="750" dirty="0">
                <a:solidFill>
                  <a:srgbClr val="AAAAAA"/>
                </a:solidFill>
                <a:latin typeface="Calibri" pitchFamily="34" charset="0"/>
                <a:ea typeface="Calibri" pitchFamily="34" charset="-122"/>
                <a:cs typeface="Calibri" pitchFamily="34" charset="-120"/>
              </a:rPr>
              <a:t>Ref / 16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3960</Words>
  <Application>Microsoft Office PowerPoint</Application>
  <PresentationFormat>On-screen Show (16:9)</PresentationFormat>
  <Paragraphs>357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Roku Ad Experiences — Gap Analysis &amp; Opportunity Study</dc:title>
  <dc:subject>PptxGenJS Presentation</dc:subject>
  <dc:creator>PptxGenJS</dc:creator>
  <cp:lastModifiedBy>Ramaka, Manasa</cp:lastModifiedBy>
  <cp:revision>3</cp:revision>
  <dcterms:created xsi:type="dcterms:W3CDTF">2026-04-24T06:49:16Z</dcterms:created>
  <dcterms:modified xsi:type="dcterms:W3CDTF">2026-04-24T07:14:11Z</dcterms:modified>
</cp:coreProperties>
</file>